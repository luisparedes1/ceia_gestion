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9" r:id="rId3"/>
    <p:sldId id="271" r:id="rId4"/>
    <p:sldId id="270" r:id="rId5"/>
    <p:sldId id="273" r:id="rId6"/>
    <p:sldId id="260" r:id="rId7"/>
    <p:sldId id="257" r:id="rId8"/>
    <p:sldId id="258" r:id="rId9"/>
    <p:sldId id="259" r:id="rId10"/>
    <p:sldId id="261" r:id="rId11"/>
    <p:sldId id="262" r:id="rId12"/>
    <p:sldId id="263" r:id="rId13"/>
    <p:sldId id="264" r:id="rId14"/>
    <p:sldId id="265" r:id="rId15"/>
    <p:sldId id="266"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rátula" id="{9EBE4813-50B6-0A71-384B-C168D1EDDF34}">
          <p14:sldIdLst>
            <p14:sldId id="256"/>
          </p14:sldIdLst>
        </p14:section>
        <p14:section name="Introducción" id="{E9C3EFE8-25F6-C188-BE3B-80438C0ADE72}">
          <p14:sldIdLst>
            <p14:sldId id="269"/>
            <p14:sldId id="271"/>
            <p14:sldId id="270"/>
            <p14:sldId id="273"/>
          </p14:sldIdLst>
        </p14:section>
        <p14:section name="Definición del proyecto" id="{47F44471-4848-87AC-7638-25942D2CC5EE}">
          <p14:sldIdLst>
            <p14:sldId id="260"/>
            <p14:sldId id="257"/>
            <p14:sldId id="258"/>
            <p14:sldId id="259"/>
            <p14:sldId id="261"/>
            <p14:sldId id="262"/>
          </p14:sldIdLst>
        </p14:section>
        <p14:section name="Planificación" id="{50991725-6B07-39C9-5F37-96AAD8D26064}">
          <p14:sldIdLst>
            <p14:sldId id="263"/>
            <p14:sldId id="264"/>
          </p14:sldIdLst>
        </p14:section>
        <p14:section name="Gestión" id="{450E9680-745D-2847-0551-9309028574E3}">
          <p14:sldIdLst>
            <p14:sldId id="265"/>
            <p14:sldId id="266"/>
          </p14:sldIdLst>
        </p14:section>
        <p14:section name="Cierre" id="{37FE5B9C-E2E2-4896-5369-97D55E4EA3A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491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plan de Trabajo Final de la Especialización en Inteligencia Artificial (FIUBA). El proyecto se desarrolla en Penguin Random House Grupo Editorial Argentina, con la dirección del Dr. Ing. Juan Manuel Rodríguez y la codirección de Sebastian Pellizzeri. La ilustración anticipa la idea central: en los motores de búsqueda generativa, el objetivo es que la ficha del libro aparezca entre las fuentes citadas.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SEO reúne las técnicas que mejoran la posición de un sitio en la página de resultados (SERP) de los buscadores tradicionales. El lector busca por género, autor o temática; el buscador rastrea e indexa las páginas y las ordena; luego el lector elige un resultado y visita el sitio. Durante años, el tráfico se concentró en los primeros lugares de la SERP, lo que otorgaba alta visibilidad a los sitios mejor posicionados. En la tienda en línea de la editorial, las sinopsis y las palabras clave son el principal contenido indexable de cada ficha, y la editorial ya consolidó su autoridad temática en SEO.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A3FB4-1EB0-8ECC-F2BB-A58856E95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52FB8-1FC9-08AD-4D7C-8CD557051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4D15A-B82D-B504-F4CC-8E8E2A42F45C}"/>
              </a:ext>
            </a:extLst>
          </p:cNvPr>
          <p:cNvSpPr>
            <a:spLocks noGrp="1"/>
          </p:cNvSpPr>
          <p:nvPr>
            <p:ph type="body" idx="1"/>
          </p:nvPr>
        </p:nvSpPr>
        <p:spPr/>
        <p:txBody>
          <a:bodyPr/>
          <a:lstStyle/>
          <a:p>
            <a:r>
              <a:rPr lang="en-US" dirty="0"/>
              <a:t>El SEO reúne las técnicas que mejoran la posición de un sitio en la página de resultados (SERP) de los buscadores tradicionales. El lector busca por género, autor o temática; el buscador rastrea e indexa las páginas y las ordena; luego el lector elige un resultado y visita el sitio. Durante años, el tráfico se concentró en los primeros lugares de la SERP, lo que otorgaba alta visibilidad a los sitios mejor posicionados. En la tienda en línea de la editorial, las sinopsis y las palabras clave son el principal contenido indexable de cada ficha, y la editorial ya consolidó su autoridad temática en SEO.</a:t>
            </a:r>
          </a:p>
        </p:txBody>
      </p:sp>
      <p:sp>
        <p:nvSpPr>
          <p:cNvPr id="4" name="Slide Number Placeholder 3">
            <a:extLst>
              <a:ext uri="{FF2B5EF4-FFF2-40B4-BE49-F238E27FC236}">
                <a16:creationId xmlns:a16="http://schemas.microsoft.com/office/drawing/2014/main" id="{A9137C44-E5BD-FD59-3B47-0AC2AD0C8D4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69503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motores de búsqueda generativa, como ChatGPT y AI Overviews de Google, responden con un texto redactado por inteligencia artificial. Para construir la respuesta, el motor puede realizar varias búsquedas web, recuperar un conjunto acotado de páginas y sintetizar su contenido en un texto que las cita como fuentes. Este mecanismo se conoce como generación aumentada por recuperación (RAG). En GEO, la unidad de éxito ya no es la posición sino la cita. En este proyecto, la cita se mide como la inclusión de la ficha del libro entre las fuentes de la respuesta. La cita solo ocurre cuando el motor busca en la web, no cuando responde a partir de lo aprendido en su entrenamiento.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03811-0732-BBB5-719D-A911EAA18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11E42-1B2B-D264-2C2E-5C4B2386E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36039-ED2A-C760-8AC0-6C6B812D93B5}"/>
              </a:ext>
            </a:extLst>
          </p:cNvPr>
          <p:cNvSpPr>
            <a:spLocks noGrp="1"/>
          </p:cNvSpPr>
          <p:nvPr>
            <p:ph type="body" idx="1"/>
          </p:nvPr>
        </p:nvSpPr>
        <p:spPr/>
        <p:txBody>
          <a:bodyPr/>
          <a:lstStyle/>
          <a:p>
            <a:r>
              <a:rPr lang="en-US" dirty="0"/>
              <a:t>Los motores de búsqueda generativa, como ChatGPT y AI Overviews de Google, responden con un texto redactado por inteligencia artificial. Para construir la respuesta, el motor puede realizar varias búsquedas web, recuperar un conjunto acotado de páginas y sintetizar su contenido en un texto que las cita como fuentes. Este mecanismo se conoce como generación aumentada por recuperación (RAG). En GEO, la unidad de éxito ya no es la posición sino la cita. En este proyecto, la cita se mide como la inclusión de la ficha del libro entre las fuentes de la respuesta. La cita solo ocurre cuando el motor busca en la web, no cuando responde a partir de lo aprendido en su entrenamiento.</a:t>
            </a:r>
          </a:p>
        </p:txBody>
      </p:sp>
      <p:sp>
        <p:nvSpPr>
          <p:cNvPr id="4" name="Slide Number Placeholder 3">
            <a:extLst>
              <a:ext uri="{FF2B5EF4-FFF2-40B4-BE49-F238E27FC236}">
                <a16:creationId xmlns:a16="http://schemas.microsoft.com/office/drawing/2014/main" id="{18A735DA-365A-0599-84F5-E71AB09D34F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1817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propósito es aumentar la visibilidad del catálogo en los motores de búsqueda generativa. La visibilidad se mide como la tasa de citación: la proporción de respuestas con búsqueda web que incluyen la ficha del libro entre sus fuentes. La condición es no resignar el posicionamiento orgánico que la editorial ya consolidó en SEO.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tienda en línea de la editorial, la sinopsis es el principal contenido indexable de cada ficha. El SEO mide el éxito por la posición en la SERP. Los motores de búsqueda generativa, como ChatGPT y AI Overviews de Google, buscan en la web, recuperan pocas páginas y sintetizan una respuesta que las cita (RAG). En GEO, la unidad de éxito es la cita. Una buena posición orgánica no garantiza la cita, y las herramientas comerciales de SEO no anticipan qué títulos del catálogo serán citados.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traslada el foco hacia la citación y consta de dos etapas. Primero, un modelo de aprendizaje automático estima la probabilidad de que la ficha de un libro sea citada ante un grupo de consultas de descubrimiento y ordena las características de contenido según su aporte. Luego, un generador basado en un modelo grande de lenguaje (LLM) reescribe la sinopsis e incorpora esas características, con restricciones de extensión, tono y fidelidad. Un módulo de verificación controla la similitud semántica, la extensión y la presencia de las características; solo las candidatas que superan esos controles pasan a revisión editorial. El piloto compara un grupo experimental con un grupo de control y sus mediciones realimentan el modelo. La innovación: el modelo se entrena con la señal de citación observada y esa señal condiciona la generación.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de Analítica Avanzada de la editorial desarrolla el proyecto en forma interna. El auspiciante aporta las horas de trabajo, el acceso a los datos internos y el crédito de la API de DataForSEO; cualquier consumo por encima de lo previsto requiere una autorización expresa. La cliente valida los entregables y define qué títulos integran el piloto; su disponibilidad es acotada, por eso las validaciones se planifican con anticipación. El director aporta el encuadre metodológico y la supervisión académica. El codirector suma el conocimiento del negocio editorial y fija prioridades dentro de la empresa.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cubre el ciclo completo sobre la sinopsis: el conjunto de datos de citación con mediciones repetidas, el análisis exploratorio, el modelo, el generador, la verificación automática y un piloto controlado. Quedan fuera los otros factores de GEO (estructura del sitio, datos estructurados, páginas de autor o de género), las respuestas sin búsqueda web, el entrenamiento o alojamiento de un modelo propio, la integración productiva y el despliegue sobre todo el catálogo, el impacto en ventas, la regionalización y la comparación con otras editoriales.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requerimientos se expresan como historias de usuario con el formato: como &lt;rol&gt;, quiero &lt;funcionalidad&gt; para &lt;motivo&gt;. Cada historia tiene prioridad y story points. Los story points suman la dificultad, la complejidad y la incertidumbre, y se redondean al número de Fibonacci igual o inmediatamente superior. Las historias de mayor peso son la medición de la citación (HU1) y el piloto frente al grupo de control (HU7), con 21 puntos cada una. Cada historia tiene criterios de aceptación medibles: por ejemplo, diez repeticiones por consulta con búsqueda web habilitada en HU1.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actividades en los nodos (AON) agrupa las tareas por historia de usuario. Las duraciones son las horas de la planificación de sprints. Como todas las tareas recaen en un único responsable, las actividades se encadenan en forma secuencial y todas conforman el camino crítico, con un total de 600 h. Cualquier demora, por ejemplo en la publicación de las sinopsis del piloto, desplaza la fecha de la defensa.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se organiza en un sprint 0 de planificación y once sprints de desarrollo, en general de dos semanas. La etapa técnica termina el 02/03/2027, dos meses antes de la defensa, como recomienda la asignatura. La publicación de las sinopsis del piloto está prevista para fines de enero, en pleno período de vacaciones, lo que motiva el riesgo 4. El sprint 8 dura cuatro semanas porque incluye la campaña de medición del piloto. La defensa pública se prevé para la última semana de abril de 2027.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riesgos se identifican a partir de los supuestos del plan. Cada uno se evalúa por su severidad (S) y su probabilidad de ocurrencia (O), en una escala de 1 a 10. El número de prioridad de riesgo es RPN = S × O y se mitigan los riesgos con RPN mayor que 25, valor que corresponde a severidad y ocurrencia intermedias. Cinco de los siete riesgos superan ese umbral. Con la mitigación, el RPN medio de esos cinco riesgos baja de 43 a 19. El riesgo principal es la escasez de citas: sin suficientes casos de citación, el modelo no puede aprender. Los riesgos 6 y 7 no requieren plan de mitigación, pero se controlan durante todo el proyecto.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calidad se controla en tres niveles. En el negocio, las métricas de éxito se consensúan con el cliente: aumento relativo de la citación de al menos 20 % con significación estadística, sin caída de la posición orgánica y al menos 70 % de sinopsis aprobadas en la revisión editorial. En el modelo, el error y la correlación se miden sobre títulos excluidos del entrenamiento, con validación cruzada agrupada por título, y el modelo debe superar a un modelo de referencia. En las sinopsis, la verificación automática y la revisión humana evitan la desinformación y la homogeneización de la voz editorial. En el proceso, cada sprint review verifica los criterios de aceptación de las historias de usuario.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proyecto propone pasar de optimizar la posición en la SERP a optimizar la cita en las respuestas de los motores de búsqueda generativa, con un procedimiento basado en datos y un piloto controlado que mide el efecto. Abrir a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100" dirty="0">
                <a:solidFill>
                  <a:schemeClr val="accent5"/>
                </a:solidFill>
              </a:rPr>
              <a:t>Plan de Trabajo Final · Especialización en Inteligencia Artificial · FIUBA</a:t>
            </a:r>
            <a:endParaRPr lang="en-US" sz="1100" dirty="0"/>
          </a:p>
        </p:txBody>
      </p:sp>
      <p:sp>
        <p:nvSpPr>
          <p:cNvPr id="3" name="Text 1"/>
          <p:cNvSpPr>
            <a:spLocks noGrp="1"/>
          </p:cNvSpPr>
          <p:nvPr>
            <p:ph type="title" idx="101" hasCustomPrompt="1"/>
          </p:nvPr>
        </p:nvSpPr>
        <p:spPr>
          <a:xfrm>
            <a:off x="548640" y="384048"/>
            <a:ext cx="11091672"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4" name="Text 1"/>
          <p:cNvSpPr>
            <a:spLocks noGrp="1"/>
          </p:cNvSpPr>
          <p:nvPr>
            <p:ph type="body" idx="102" hasCustomPrompt="1"/>
          </p:nvPr>
        </p:nvSpPr>
        <p:spPr>
          <a:xfrm>
            <a:off x="548640" y="1097280"/>
            <a:ext cx="11091672" cy="384048"/>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100" dirty="0">
                <a:solidFill>
                  <a:schemeClr val="bg2"/>
                </a:solidFill>
              </a:rPr>
              <a:t>Plan de Trabajo Final · Especialización en Inteligencia Artificial · FIUBA</a:t>
            </a:r>
            <a:endParaRPr lang="en-US" sz="1100" dirty="0"/>
          </a:p>
        </p:txBody>
      </p:sp>
      <p:sp>
        <p:nvSpPr>
          <p:cNvPr id="3" name="Text 1"/>
          <p:cNvSpPr>
            <a:spLocks noGrp="1"/>
          </p:cNvSpPr>
          <p:nvPr>
            <p:ph type="title" idx="101" hasCustomPrompt="1"/>
          </p:nvPr>
        </p:nvSpPr>
        <p:spPr>
          <a:xfrm>
            <a:off x="548640" y="384048"/>
            <a:ext cx="11091672"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chemeClr val="tx2"/>
          </a:solidFill>
          <a:ln w="12700">
            <a:solidFill>
              <a:schemeClr val="tx2"/>
            </a:solidFill>
            <a:prstDash val="solid"/>
          </a:ln>
        </p:spPr>
        <p:txBody>
          <a:bodyPr/>
          <a:lstStyle/>
          <a:p>
            <a:endParaRPr lang="es-AR"/>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FIUBA" descr="Logo de la Facultad de Ingeniería de la Universidad de Buenos Aires"/>
          <p:cNvPicPr>
            <a:picLocks noChangeAspect="1"/>
          </p:cNvPicPr>
          <p:nvPr/>
        </p:nvPicPr>
        <p:blipFill>
          <a:blip r:embed="rId3"/>
          <a:stretch>
            <a:fillRect/>
          </a:stretch>
        </p:blipFill>
        <p:spPr>
          <a:xfrm>
            <a:off x="238088" y="6126480"/>
            <a:ext cx="1811547" cy="541009"/>
          </a:xfrm>
          <a:prstGeom prst="rect">
            <a:avLst/>
          </a:prstGeom>
        </p:spPr>
      </p:pic>
      <p:sp>
        <p:nvSpPr>
          <p:cNvPr id="3" name="Tipo de presentación"/>
          <p:cNvSpPr txBox="1"/>
          <p:nvPr/>
        </p:nvSpPr>
        <p:spPr>
          <a:xfrm>
            <a:off x="548640" y="555384"/>
            <a:ext cx="3781820" cy="347472"/>
          </a:xfrm>
          <a:prstGeom prst="rect">
            <a:avLst/>
          </a:prstGeom>
          <a:noFill/>
          <a:ln/>
        </p:spPr>
        <p:txBody>
          <a:bodyPr wrap="square" lIns="0" tIns="0" rIns="0" bIns="0" rtlCol="0" anchor="t"/>
          <a:lstStyle/>
          <a:p>
            <a:pPr marL="0" indent="0">
              <a:buNone/>
            </a:pPr>
            <a:r>
              <a:rPr lang="en-US" sz="1800" b="1" dirty="0">
                <a:solidFill>
                  <a:schemeClr val="accent1"/>
                </a:solidFill>
              </a:rPr>
              <a:t>Presentación del plan de Trabajo Final</a:t>
            </a:r>
            <a:endParaRPr lang="en-US" sz="1800" dirty="0"/>
          </a:p>
        </p:txBody>
      </p:sp>
      <p:sp>
        <p:nvSpPr>
          <p:cNvPr id="4" name="Carrera"/>
          <p:cNvSpPr txBox="1"/>
          <p:nvPr/>
        </p:nvSpPr>
        <p:spPr>
          <a:xfrm>
            <a:off x="548640" y="902856"/>
            <a:ext cx="4782485" cy="347472"/>
          </a:xfrm>
          <a:prstGeom prst="rect">
            <a:avLst/>
          </a:prstGeom>
          <a:noFill/>
          <a:ln/>
        </p:spPr>
        <p:txBody>
          <a:bodyPr wrap="square" lIns="0" tIns="0" rIns="0" bIns="0" rtlCol="0" anchor="t"/>
          <a:lstStyle/>
          <a:p>
            <a:pPr marL="0" indent="0">
              <a:buNone/>
            </a:pPr>
            <a:r>
              <a:rPr lang="en-US" sz="1800" dirty="0">
                <a:solidFill>
                  <a:schemeClr val="tx1"/>
                </a:solidFill>
              </a:rPr>
              <a:t>Carrera de Especialización en Inteligencia Artificial</a:t>
            </a:r>
            <a:endParaRPr lang="en-US" sz="1800" dirty="0"/>
          </a:p>
        </p:txBody>
      </p:sp>
      <p:sp>
        <p:nvSpPr>
          <p:cNvPr id="5" name="Título del trabajo"/>
          <p:cNvSpPr txBox="1"/>
          <p:nvPr/>
        </p:nvSpPr>
        <p:spPr>
          <a:xfrm>
            <a:off x="533401" y="1957508"/>
            <a:ext cx="6858000" cy="1782907"/>
          </a:xfrm>
          <a:prstGeom prst="rect">
            <a:avLst/>
          </a:prstGeom>
          <a:noFill/>
          <a:ln/>
        </p:spPr>
        <p:txBody>
          <a:bodyPr wrap="square" lIns="0" tIns="0" rIns="0" bIns="0" rtlCol="0" anchor="t"/>
          <a:lstStyle/>
          <a:p>
            <a:pPr marL="0" indent="0">
              <a:lnSpc>
                <a:spcPct val="95000"/>
              </a:lnSpc>
              <a:buNone/>
            </a:pPr>
            <a:r>
              <a:rPr lang="en-US" sz="2800" b="1" dirty="0">
                <a:solidFill>
                  <a:schemeClr val="tx1"/>
                </a:solidFill>
                <a:latin typeface="+mj-lt" pitchFamily="34" charset="0"/>
                <a:ea typeface="+mj-lt" pitchFamily="34" charset="-122"/>
                <a:cs typeface="+mj-lt" pitchFamily="34" charset="-120"/>
              </a:rPr>
              <a:t>Optimización de sinopsis de libros para motores de búsqueda generativa (GEO) mediante la predicción de la probabilidad de citación con aprendizaje automático</a:t>
            </a:r>
            <a:endParaRPr lang="en-US" sz="2800" dirty="0"/>
          </a:p>
        </p:txBody>
      </p:sp>
      <p:sp>
        <p:nvSpPr>
          <p:cNvPr id="6" name="Integrante Autor"/>
          <p:cNvSpPr txBox="1"/>
          <p:nvPr/>
        </p:nvSpPr>
        <p:spPr>
          <a:xfrm>
            <a:off x="548640" y="4570284"/>
            <a:ext cx="2194560" cy="1051560"/>
          </a:xfrm>
          <a:prstGeom prst="rect">
            <a:avLst/>
          </a:prstGeom>
          <a:noFill/>
          <a:ln/>
        </p:spPr>
        <p:txBody>
          <a:bodyPr wrap="square" lIns="0" tIns="0" rIns="0" bIns="0" rtlCol="0" anchor="t"/>
          <a:lstStyle/>
          <a:p>
            <a:pPr marL="0" indent="0">
              <a:buNone/>
            </a:pPr>
            <a:r>
              <a:rPr lang="en-US" sz="1300" dirty="0">
                <a:solidFill>
                  <a:schemeClr val="accent5"/>
                </a:solidFill>
              </a:rPr>
              <a:t>Autor</a:t>
            </a:r>
            <a:endParaRPr lang="en-US" sz="1600" dirty="0"/>
          </a:p>
          <a:p>
            <a:pPr marL="0" indent="0">
              <a:buNone/>
            </a:pPr>
            <a:r>
              <a:rPr lang="en-US" sz="1600" b="1" dirty="0">
                <a:solidFill>
                  <a:schemeClr val="tx1"/>
                </a:solidFill>
              </a:rPr>
              <a:t>Ing. Luis José Paredes Ramirez</a:t>
            </a:r>
            <a:endParaRPr lang="en-US" sz="1600" dirty="0"/>
          </a:p>
        </p:txBody>
      </p:sp>
      <p:sp>
        <p:nvSpPr>
          <p:cNvPr id="7" name="Integrante Director"/>
          <p:cNvSpPr txBox="1"/>
          <p:nvPr/>
        </p:nvSpPr>
        <p:spPr>
          <a:xfrm>
            <a:off x="2880360" y="4570284"/>
            <a:ext cx="2194560" cy="1051560"/>
          </a:xfrm>
          <a:prstGeom prst="rect">
            <a:avLst/>
          </a:prstGeom>
          <a:noFill/>
          <a:ln/>
        </p:spPr>
        <p:txBody>
          <a:bodyPr wrap="square" lIns="0" tIns="0" rIns="0" bIns="0" rtlCol="0" anchor="t"/>
          <a:lstStyle/>
          <a:p>
            <a:pPr marL="0" indent="0">
              <a:buNone/>
            </a:pPr>
            <a:r>
              <a:rPr lang="en-US" sz="1300" dirty="0">
                <a:solidFill>
                  <a:schemeClr val="accent5"/>
                </a:solidFill>
              </a:rPr>
              <a:t>Director</a:t>
            </a:r>
            <a:endParaRPr lang="en-US" sz="1600" dirty="0"/>
          </a:p>
          <a:p>
            <a:pPr marL="0" indent="0">
              <a:buNone/>
            </a:pPr>
            <a:r>
              <a:rPr lang="en-US" sz="1600" b="1" dirty="0">
                <a:solidFill>
                  <a:schemeClr val="tx1"/>
                </a:solidFill>
              </a:rPr>
              <a:t>Dr. Ing. Juan Manuel Rodríguez</a:t>
            </a:r>
            <a:endParaRPr lang="en-US" sz="1600" dirty="0"/>
          </a:p>
          <a:p>
            <a:pPr marL="0" indent="0">
              <a:buNone/>
            </a:pPr>
            <a:r>
              <a:rPr lang="en-US" sz="1300" dirty="0">
                <a:solidFill>
                  <a:schemeClr val="accent5"/>
                </a:solidFill>
              </a:rPr>
              <a:t>Universidad de Buenos Aires</a:t>
            </a:r>
            <a:endParaRPr lang="en-US" sz="1600" dirty="0"/>
          </a:p>
        </p:txBody>
      </p:sp>
      <p:sp>
        <p:nvSpPr>
          <p:cNvPr id="8" name="Integrante Codirector"/>
          <p:cNvSpPr txBox="1"/>
          <p:nvPr/>
        </p:nvSpPr>
        <p:spPr>
          <a:xfrm>
            <a:off x="5212080" y="4570284"/>
            <a:ext cx="2194560" cy="1051560"/>
          </a:xfrm>
          <a:prstGeom prst="rect">
            <a:avLst/>
          </a:prstGeom>
          <a:noFill/>
          <a:ln/>
        </p:spPr>
        <p:txBody>
          <a:bodyPr wrap="square" lIns="0" tIns="0" rIns="0" bIns="0" rtlCol="0" anchor="t"/>
          <a:lstStyle/>
          <a:p>
            <a:pPr marL="0" indent="0">
              <a:buNone/>
            </a:pPr>
            <a:r>
              <a:rPr lang="en-US" sz="1300" dirty="0">
                <a:solidFill>
                  <a:schemeClr val="accent5"/>
                </a:solidFill>
              </a:rPr>
              <a:t>Codirector</a:t>
            </a:r>
            <a:endParaRPr lang="en-US" sz="1600" dirty="0"/>
          </a:p>
          <a:p>
            <a:pPr marL="0" indent="0">
              <a:buNone/>
            </a:pPr>
            <a:r>
              <a:rPr lang="en-US" sz="1600" b="1" dirty="0">
                <a:solidFill>
                  <a:schemeClr val="tx1"/>
                </a:solidFill>
              </a:rPr>
              <a:t>Sebastian Pellizzeri</a:t>
            </a:r>
            <a:endParaRPr lang="en-US" sz="1600" dirty="0"/>
          </a:p>
          <a:p>
            <a:pPr marL="0" indent="0">
              <a:buNone/>
            </a:pPr>
            <a:r>
              <a:rPr lang="en-US" sz="1300" dirty="0">
                <a:solidFill>
                  <a:schemeClr val="accent5"/>
                </a:solidFill>
              </a:rPr>
              <a:t>Penguin Random House Grupo Editorial</a:t>
            </a:r>
            <a:endParaRPr lang="en-US" sz="1600" dirty="0"/>
          </a:p>
        </p:txBody>
      </p:sp>
      <p:sp>
        <p:nvSpPr>
          <p:cNvPr id="10" name="Tarjeta de respuesta generativa"/>
          <p:cNvSpPr/>
          <p:nvPr/>
        </p:nvSpPr>
        <p:spPr>
          <a:xfrm>
            <a:off x="8229600" y="1188720"/>
            <a:ext cx="3566160" cy="4434840"/>
          </a:xfrm>
          <a:prstGeom prst="roundRect">
            <a:avLst>
              <a:gd name="adj" fmla="val 4615"/>
            </a:avLst>
          </a:prstGeom>
          <a:solidFill>
            <a:schemeClr val="bg1"/>
          </a:solidFill>
          <a:ln w="12700">
            <a:solidFill>
              <a:schemeClr val="bg1"/>
            </a:solidFill>
            <a:prstDash val="solid"/>
          </a:ln>
          <a:effectLst>
            <a:outerShdw blurRad="101600" dist="25400" dir="5400000" algn="bl" rotWithShape="0">
              <a:srgbClr val="1B2A41">
                <a:alpha val="12000"/>
              </a:srgbClr>
            </a:outerShdw>
          </a:effectLst>
        </p:spPr>
        <p:txBody>
          <a:bodyPr/>
          <a:lstStyle/>
          <a:p>
            <a:endParaRPr lang="es-AR"/>
          </a:p>
        </p:txBody>
      </p:sp>
      <p:sp>
        <p:nvSpPr>
          <p:cNvPr id="11" name="Consulta"/>
          <p:cNvSpPr/>
          <p:nvPr/>
        </p:nvSpPr>
        <p:spPr>
          <a:xfrm>
            <a:off x="8412480" y="1371600"/>
            <a:ext cx="3200400" cy="548640"/>
          </a:xfrm>
          <a:prstGeom prst="roundRect">
            <a:avLst>
              <a:gd name="adj" fmla="val 50000"/>
            </a:avLst>
          </a:prstGeom>
          <a:solidFill>
            <a:schemeClr val="bg2"/>
          </a:solidFill>
          <a:ln w="12700">
            <a:solidFill>
              <a:schemeClr val="bg2"/>
            </a:solidFill>
            <a:prstDash val="solid"/>
          </a:ln>
        </p:spPr>
        <p:txBody>
          <a:bodyPr/>
          <a:lstStyle/>
          <a:p>
            <a:endParaRPr lang="es-AR"/>
          </a:p>
        </p:txBody>
      </p:sp>
      <p:pic>
        <p:nvPicPr>
          <p:cNvPr id="12" name="Ícono búsqueda" descr="preencoded.png"/>
          <p:cNvPicPr>
            <a:picLocks noChangeAspect="1"/>
          </p:cNvPicPr>
          <p:nvPr/>
        </p:nvPicPr>
        <p:blipFill>
          <a:blip r:embed="rId4"/>
          <a:stretch>
            <a:fillRect/>
          </a:stretch>
        </p:blipFill>
        <p:spPr>
          <a:xfrm>
            <a:off x="8558784" y="1517904"/>
            <a:ext cx="256032" cy="256032"/>
          </a:xfrm>
          <a:prstGeom prst="rect">
            <a:avLst/>
          </a:prstGeom>
        </p:spPr>
      </p:pic>
      <p:sp>
        <p:nvSpPr>
          <p:cNvPr id="13" name="Texto consulta"/>
          <p:cNvSpPr txBox="1"/>
          <p:nvPr/>
        </p:nvSpPr>
        <p:spPr>
          <a:xfrm>
            <a:off x="8915400" y="1371600"/>
            <a:ext cx="2606040" cy="548640"/>
          </a:xfrm>
          <a:prstGeom prst="rect">
            <a:avLst/>
          </a:prstGeom>
          <a:noFill/>
          <a:ln/>
        </p:spPr>
        <p:txBody>
          <a:bodyPr wrap="square" lIns="0" tIns="0" rIns="0" bIns="0" rtlCol="0" anchor="ctr"/>
          <a:lstStyle/>
          <a:p>
            <a:pPr marL="0" indent="0">
              <a:buNone/>
            </a:pPr>
            <a:r>
              <a:rPr lang="en-US" sz="1100" i="1" dirty="0">
                <a:solidFill>
                  <a:schemeClr val="tx1"/>
                </a:solidFill>
              </a:rPr>
              <a:t>¿Qué novela romántica argentina me recomendás?</a:t>
            </a:r>
            <a:endParaRPr lang="en-US" sz="1100" dirty="0"/>
          </a:p>
        </p:txBody>
      </p:sp>
      <p:pic>
        <p:nvPicPr>
          <p:cNvPr id="14" name="Ícono respuesta" descr="preencoded.png"/>
          <p:cNvPicPr>
            <a:picLocks noChangeAspect="1"/>
          </p:cNvPicPr>
          <p:nvPr/>
        </p:nvPicPr>
        <p:blipFill>
          <a:blip r:embed="rId5"/>
          <a:stretch>
            <a:fillRect/>
          </a:stretch>
        </p:blipFill>
        <p:spPr>
          <a:xfrm>
            <a:off x="8412480" y="2121408"/>
            <a:ext cx="256032" cy="256032"/>
          </a:xfrm>
          <a:prstGeom prst="rect">
            <a:avLst/>
          </a:prstGeom>
        </p:spPr>
      </p:pic>
      <p:sp>
        <p:nvSpPr>
          <p:cNvPr id="15" name="Rótulo respuesta"/>
          <p:cNvSpPr txBox="1"/>
          <p:nvPr/>
        </p:nvSpPr>
        <p:spPr>
          <a:xfrm>
            <a:off x="8741664" y="2103120"/>
            <a:ext cx="2286000" cy="292608"/>
          </a:xfrm>
          <a:prstGeom prst="rect">
            <a:avLst/>
          </a:prstGeom>
          <a:noFill/>
          <a:ln/>
        </p:spPr>
        <p:txBody>
          <a:bodyPr wrap="square" lIns="0" tIns="0" rIns="0" bIns="0" rtlCol="0" anchor="ctr"/>
          <a:lstStyle/>
          <a:p>
            <a:pPr marL="0" indent="0">
              <a:buNone/>
            </a:pPr>
            <a:r>
              <a:rPr lang="en-US" sz="1100" b="1" dirty="0">
                <a:solidFill>
                  <a:schemeClr val="accent5"/>
                </a:solidFill>
              </a:rPr>
              <a:t>Respuesta generada</a:t>
            </a:r>
            <a:endParaRPr lang="en-US" sz="1100" dirty="0"/>
          </a:p>
        </p:txBody>
      </p:sp>
      <p:sp>
        <p:nvSpPr>
          <p:cNvPr id="16" name="Línea de respuesta"/>
          <p:cNvSpPr/>
          <p:nvPr/>
        </p:nvSpPr>
        <p:spPr>
          <a:xfrm>
            <a:off x="8412480" y="2606040"/>
            <a:ext cx="3108960" cy="128016"/>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17" name="Línea de respuesta"/>
          <p:cNvSpPr/>
          <p:nvPr/>
        </p:nvSpPr>
        <p:spPr>
          <a:xfrm>
            <a:off x="8412480" y="2898648"/>
            <a:ext cx="2514600" cy="128016"/>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18" name="Cita 1"/>
          <p:cNvSpPr/>
          <p:nvPr/>
        </p:nvSpPr>
        <p:spPr>
          <a:xfrm>
            <a:off x="11000232" y="2834640"/>
            <a:ext cx="256032" cy="256032"/>
          </a:xfrm>
          <a:prstGeom prst="ellipse">
            <a:avLst/>
          </a:prstGeom>
          <a:solidFill>
            <a:schemeClr val="accent1"/>
          </a:solidFill>
          <a:ln w="12700">
            <a:solidFill>
              <a:schemeClr val="accent1"/>
            </a:solidFill>
            <a:prstDash val="solid"/>
          </a:ln>
        </p:spPr>
        <p:txBody>
          <a:bodyPr/>
          <a:lstStyle/>
          <a:p>
            <a:endParaRPr lang="es-AR"/>
          </a:p>
        </p:txBody>
      </p:sp>
      <p:sp>
        <p:nvSpPr>
          <p:cNvPr id="19" name="Número de cita 1"/>
          <p:cNvSpPr txBox="1"/>
          <p:nvPr/>
        </p:nvSpPr>
        <p:spPr>
          <a:xfrm>
            <a:off x="11000232" y="2834640"/>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20" name="Línea de respuesta"/>
          <p:cNvSpPr/>
          <p:nvPr/>
        </p:nvSpPr>
        <p:spPr>
          <a:xfrm>
            <a:off x="8412480" y="3191256"/>
            <a:ext cx="2926080" cy="128016"/>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21" name="Línea de respuesta"/>
          <p:cNvSpPr/>
          <p:nvPr/>
        </p:nvSpPr>
        <p:spPr>
          <a:xfrm>
            <a:off x="8412480" y="3483864"/>
            <a:ext cx="2011680" cy="128016"/>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22" name="Cita 2"/>
          <p:cNvSpPr/>
          <p:nvPr/>
        </p:nvSpPr>
        <p:spPr>
          <a:xfrm>
            <a:off x="10497312" y="3419856"/>
            <a:ext cx="256032" cy="256032"/>
          </a:xfrm>
          <a:prstGeom prst="ellipse">
            <a:avLst/>
          </a:prstGeom>
          <a:solidFill>
            <a:schemeClr val="accent5"/>
          </a:solidFill>
          <a:ln w="12700">
            <a:solidFill>
              <a:schemeClr val="accent5"/>
            </a:solidFill>
            <a:prstDash val="solid"/>
          </a:ln>
        </p:spPr>
        <p:txBody>
          <a:bodyPr/>
          <a:lstStyle/>
          <a:p>
            <a:endParaRPr lang="es-AR"/>
          </a:p>
        </p:txBody>
      </p:sp>
      <p:sp>
        <p:nvSpPr>
          <p:cNvPr id="23" name="Número de cita 2"/>
          <p:cNvSpPr txBox="1"/>
          <p:nvPr/>
        </p:nvSpPr>
        <p:spPr>
          <a:xfrm>
            <a:off x="10497312" y="3419856"/>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2</a:t>
            </a:r>
            <a:endParaRPr lang="en-US" sz="1000" dirty="0"/>
          </a:p>
        </p:txBody>
      </p:sp>
      <p:sp>
        <p:nvSpPr>
          <p:cNvPr id="24" name="Rótulo fuentes"/>
          <p:cNvSpPr txBox="1"/>
          <p:nvPr/>
        </p:nvSpPr>
        <p:spPr>
          <a:xfrm>
            <a:off x="8412480" y="3794760"/>
            <a:ext cx="1828800" cy="274320"/>
          </a:xfrm>
          <a:prstGeom prst="rect">
            <a:avLst/>
          </a:prstGeom>
          <a:noFill/>
          <a:ln/>
        </p:spPr>
        <p:txBody>
          <a:bodyPr wrap="square" lIns="0" tIns="0" rIns="0" bIns="0" rtlCol="0" anchor="ctr"/>
          <a:lstStyle/>
          <a:p>
            <a:pPr marL="0" indent="0">
              <a:buNone/>
            </a:pPr>
            <a:r>
              <a:rPr lang="en-US" sz="1100" b="1" dirty="0">
                <a:solidFill>
                  <a:schemeClr val="accent5"/>
                </a:solidFill>
              </a:rPr>
              <a:t>Fuentes</a:t>
            </a:r>
            <a:endParaRPr lang="en-US" sz="1100" dirty="0"/>
          </a:p>
        </p:txBody>
      </p:sp>
      <p:sp>
        <p:nvSpPr>
          <p:cNvPr id="25" name="Fuente 1"/>
          <p:cNvSpPr/>
          <p:nvPr/>
        </p:nvSpPr>
        <p:spPr>
          <a:xfrm>
            <a:off x="8412480" y="4160520"/>
            <a:ext cx="3200400" cy="365760"/>
          </a:xfrm>
          <a:prstGeom prst="roundRect">
            <a:avLst>
              <a:gd name="adj" fmla="val 50000"/>
            </a:avLst>
          </a:prstGeom>
          <a:solidFill>
            <a:schemeClr val="accent1"/>
          </a:solidFill>
          <a:ln w="12700">
            <a:solidFill>
              <a:schemeClr val="accent1"/>
            </a:solidFill>
            <a:prstDash val="solid"/>
          </a:ln>
        </p:spPr>
        <p:txBody>
          <a:bodyPr/>
          <a:lstStyle/>
          <a:p>
            <a:endParaRPr lang="es-AR"/>
          </a:p>
        </p:txBody>
      </p:sp>
      <p:sp>
        <p:nvSpPr>
          <p:cNvPr id="26" name="Texto fuente 1"/>
          <p:cNvSpPr txBox="1"/>
          <p:nvPr/>
        </p:nvSpPr>
        <p:spPr>
          <a:xfrm>
            <a:off x="8577072" y="4160520"/>
            <a:ext cx="2926080" cy="365760"/>
          </a:xfrm>
          <a:prstGeom prst="rect">
            <a:avLst/>
          </a:prstGeom>
          <a:noFill/>
          <a:ln/>
        </p:spPr>
        <p:txBody>
          <a:bodyPr wrap="square" lIns="0" tIns="0" rIns="0" bIns="0" rtlCol="0" anchor="ctr"/>
          <a:lstStyle/>
          <a:p>
            <a:pPr marL="0" indent="0">
              <a:buNone/>
            </a:pPr>
            <a:r>
              <a:rPr lang="en-US" sz="1200" b="1" dirty="0">
                <a:solidFill>
                  <a:schemeClr val="bg1"/>
                </a:solidFill>
              </a:rPr>
              <a:t>1   penguinlibros.com</a:t>
            </a:r>
            <a:endParaRPr lang="en-US" sz="1200" dirty="0"/>
          </a:p>
        </p:txBody>
      </p:sp>
      <p:sp>
        <p:nvSpPr>
          <p:cNvPr id="27" name="Fuente 2"/>
          <p:cNvSpPr/>
          <p:nvPr/>
        </p:nvSpPr>
        <p:spPr>
          <a:xfrm>
            <a:off x="8412480" y="4617720"/>
            <a:ext cx="3200400" cy="365760"/>
          </a:xfrm>
          <a:prstGeom prst="roundRect">
            <a:avLst>
              <a:gd name="adj" fmla="val 50000"/>
            </a:avLst>
          </a:prstGeom>
          <a:solidFill>
            <a:schemeClr val="bg2"/>
          </a:solidFill>
          <a:ln w="12700">
            <a:solidFill>
              <a:schemeClr val="bg2"/>
            </a:solidFill>
            <a:prstDash val="solid"/>
          </a:ln>
        </p:spPr>
        <p:txBody>
          <a:bodyPr/>
          <a:lstStyle/>
          <a:p>
            <a:endParaRPr lang="es-AR"/>
          </a:p>
        </p:txBody>
      </p:sp>
      <p:sp>
        <p:nvSpPr>
          <p:cNvPr id="28" name="Texto fuente 2"/>
          <p:cNvSpPr txBox="1"/>
          <p:nvPr/>
        </p:nvSpPr>
        <p:spPr>
          <a:xfrm>
            <a:off x="8577072" y="4617720"/>
            <a:ext cx="2926080" cy="365760"/>
          </a:xfrm>
          <a:prstGeom prst="rect">
            <a:avLst/>
          </a:prstGeom>
          <a:noFill/>
          <a:ln/>
        </p:spPr>
        <p:txBody>
          <a:bodyPr wrap="square" lIns="0" tIns="0" rIns="0" bIns="0" rtlCol="0" anchor="ctr"/>
          <a:lstStyle/>
          <a:p>
            <a:pPr marL="0" indent="0">
              <a:buNone/>
            </a:pPr>
            <a:r>
              <a:rPr lang="en-US" sz="1200" dirty="0">
                <a:solidFill>
                  <a:schemeClr val="tx1"/>
                </a:solidFill>
              </a:rPr>
              <a:t>2   sitio de reseñas</a:t>
            </a:r>
            <a:endParaRPr lang="en-US" sz="1200" dirty="0"/>
          </a:p>
        </p:txBody>
      </p:sp>
      <p:sp>
        <p:nvSpPr>
          <p:cNvPr id="29" name="Fuente 3"/>
          <p:cNvSpPr/>
          <p:nvPr/>
        </p:nvSpPr>
        <p:spPr>
          <a:xfrm>
            <a:off x="8412480" y="5074920"/>
            <a:ext cx="3200400" cy="365760"/>
          </a:xfrm>
          <a:prstGeom prst="roundRect">
            <a:avLst>
              <a:gd name="adj" fmla="val 50000"/>
            </a:avLst>
          </a:prstGeom>
          <a:solidFill>
            <a:schemeClr val="bg2"/>
          </a:solidFill>
          <a:ln w="12700">
            <a:solidFill>
              <a:schemeClr val="bg2"/>
            </a:solidFill>
            <a:prstDash val="solid"/>
          </a:ln>
        </p:spPr>
        <p:txBody>
          <a:bodyPr/>
          <a:lstStyle/>
          <a:p>
            <a:endParaRPr lang="es-AR"/>
          </a:p>
        </p:txBody>
      </p:sp>
      <p:sp>
        <p:nvSpPr>
          <p:cNvPr id="30" name="Texto fuente 3"/>
          <p:cNvSpPr txBox="1"/>
          <p:nvPr/>
        </p:nvSpPr>
        <p:spPr>
          <a:xfrm>
            <a:off x="8577072" y="5074920"/>
            <a:ext cx="2926080" cy="365760"/>
          </a:xfrm>
          <a:prstGeom prst="rect">
            <a:avLst/>
          </a:prstGeom>
          <a:noFill/>
          <a:ln/>
        </p:spPr>
        <p:txBody>
          <a:bodyPr wrap="square" lIns="0" tIns="0" rIns="0" bIns="0" rtlCol="0" anchor="ctr"/>
          <a:lstStyle/>
          <a:p>
            <a:pPr marL="0" indent="0">
              <a:buNone/>
            </a:pPr>
            <a:r>
              <a:rPr lang="en-US" sz="1200" dirty="0">
                <a:solidFill>
                  <a:schemeClr val="tx1"/>
                </a:solidFill>
              </a:rPr>
              <a:t>3   medio digital</a:t>
            </a:r>
            <a:endParaRPr lang="en-US" sz="1200" dirty="0"/>
          </a:p>
        </p:txBody>
      </p:sp>
      <p:sp>
        <p:nvSpPr>
          <p:cNvPr id="31" name="Epígrafe ilustración"/>
          <p:cNvSpPr txBox="1"/>
          <p:nvPr/>
        </p:nvSpPr>
        <p:spPr>
          <a:xfrm>
            <a:off x="8229600" y="5806440"/>
            <a:ext cx="3566160" cy="320040"/>
          </a:xfrm>
          <a:prstGeom prst="rect">
            <a:avLst/>
          </a:prstGeom>
          <a:noFill/>
          <a:ln/>
        </p:spPr>
        <p:txBody>
          <a:bodyPr wrap="square" lIns="0" tIns="0" rIns="0" bIns="0" rtlCol="0" anchor="t"/>
          <a:lstStyle/>
          <a:p>
            <a:pPr marL="0" indent="0" algn="ctr">
              <a:buNone/>
            </a:pPr>
            <a:r>
              <a:rPr lang="en-US" sz="1300" i="1" dirty="0">
                <a:solidFill>
                  <a:schemeClr val="bg2"/>
                </a:solidFill>
              </a:rPr>
              <a:t>En GEO, el éxito es ser la fuente citada</a:t>
            </a:r>
            <a:endParaRPr lang="en-US" sz="1300" dirty="0"/>
          </a:p>
        </p:txBody>
      </p:sp>
      <p:sp>
        <p:nvSpPr>
          <p:cNvPr id="32"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bg2"/>
                </a:solidFill>
              </a:defRPr>
            </a:lvl1pPr>
          </a:lstStyle>
          <a:p>
            <a:pPr algn="r"/>
            <a:fld id="{F7021451-1387-4CA6-816F-3879F97B5CBC}" type="slidenum">
              <a:rPr lang="en-US" b="0"/>
              <a:t>1</a:t>
            </a:fld>
            <a:endParaRPr lang="en-US"/>
          </a:p>
        </p:txBody>
      </p:sp>
      <p:pic>
        <p:nvPicPr>
          <p:cNvPr id="33" name="Picture 32" descr="Argentina - Penguin Random House Grupo Editorial">
            <a:extLst>
              <a:ext uri="{FF2B5EF4-FFF2-40B4-BE49-F238E27FC236}">
                <a16:creationId xmlns:a16="http://schemas.microsoft.com/office/drawing/2014/main" id="{D1AFD36B-5790-6518-B410-F6E73B665403}"/>
              </a:ext>
            </a:extLst>
          </p:cNvPr>
          <p:cNvPicPr>
            <a:picLocks noChangeAspect="1"/>
          </p:cNvPicPr>
          <p:nvPr/>
        </p:nvPicPr>
        <p:blipFill>
          <a:blip r:embed="rId6"/>
          <a:stretch>
            <a:fillRect/>
          </a:stretch>
        </p:blipFill>
        <p:spPr>
          <a:xfrm>
            <a:off x="2242868" y="6123719"/>
            <a:ext cx="1906438" cy="5446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a:t>
            </a:r>
            <a:r>
              <a:rPr lang="en-US" sz="3400" b="1" dirty="0" err="1">
                <a:solidFill>
                  <a:schemeClr val="tx1"/>
                </a:solidFill>
              </a:rPr>
              <a:t>Qué</a:t>
            </a:r>
            <a:r>
              <a:rPr lang="en-US" sz="3400" b="1" dirty="0">
                <a:solidFill>
                  <a:schemeClr val="tx1"/>
                </a:solidFill>
              </a:rPr>
              <a:t> es SEO?</a:t>
            </a:r>
            <a:endParaRPr lang="en-US" sz="3400" dirty="0"/>
          </a:p>
        </p:txBody>
      </p:sp>
      <p:sp>
        <p:nvSpPr>
          <p:cNvPr id="3" name="Text 1"/>
          <p:cNvSpPr>
            <a:spLocks noGrp="1"/>
          </p:cNvSpPr>
          <p:nvPr>
            <p:ph type="body" idx="102" hasCustomPrompt="1"/>
          </p:nvPr>
        </p:nvSpPr>
        <p:spPr>
          <a:xfrm>
            <a:off x="548640" y="1097280"/>
            <a:ext cx="11286802" cy="320040"/>
          </a:xfrm>
          <a:prstGeom prst="rect">
            <a:avLst/>
          </a:prstGeom>
          <a:noFill/>
          <a:ln/>
        </p:spPr>
        <p:txBody>
          <a:bodyPr wrap="square" lIns="0" tIns="0" rIns="0" bIns="0" rtlCol="0" anchor="ctr"/>
          <a:lstStyle/>
          <a:p>
            <a:pPr marL="0" indent="0">
              <a:buNone/>
            </a:pPr>
            <a:r>
              <a:rPr lang="en-US" sz="1800" dirty="0">
                <a:solidFill>
                  <a:schemeClr val="accent5"/>
                </a:solidFill>
              </a:rPr>
              <a:t>Optimización para motores de búsqueda (SEO): se </a:t>
            </a:r>
            <a:r>
              <a:rPr lang="en-US" sz="1800" dirty="0" err="1">
                <a:solidFill>
                  <a:schemeClr val="accent5"/>
                </a:solidFill>
              </a:rPr>
              <a:t>busca</a:t>
            </a:r>
            <a:r>
              <a:rPr lang="en-US" sz="1800" dirty="0">
                <a:solidFill>
                  <a:schemeClr val="accent5"/>
                </a:solidFill>
              </a:rPr>
              <a:t> </a:t>
            </a:r>
            <a:r>
              <a:rPr lang="en-US" sz="1800" dirty="0" err="1">
                <a:solidFill>
                  <a:schemeClr val="accent5"/>
                </a:solidFill>
              </a:rPr>
              <a:t>mejorar</a:t>
            </a:r>
            <a:r>
              <a:rPr lang="en-US" sz="1800" dirty="0">
                <a:solidFill>
                  <a:schemeClr val="accent5"/>
                </a:solidFill>
              </a:rPr>
              <a:t> la posición de un sitio en la página de </a:t>
            </a:r>
            <a:r>
              <a:rPr lang="en-US" sz="1800" dirty="0" err="1">
                <a:solidFill>
                  <a:schemeClr val="accent5"/>
                </a:solidFill>
              </a:rPr>
              <a:t>resultados</a:t>
            </a:r>
            <a:r>
              <a:rPr lang="en-US" sz="1800" dirty="0">
                <a:solidFill>
                  <a:schemeClr val="accent5"/>
                </a:solidFill>
              </a:rPr>
              <a:t> (SERP)</a:t>
            </a:r>
            <a:endParaRPr lang="en-US" sz="1800" dirty="0"/>
          </a:p>
        </p:txBody>
      </p:sp>
      <p:sp>
        <p:nvSpPr>
          <p:cNvPr id="4" name="Paso 1 (círculo)"/>
          <p:cNvSpPr/>
          <p:nvPr/>
        </p:nvSpPr>
        <p:spPr>
          <a:xfrm>
            <a:off x="548640" y="1783080"/>
            <a:ext cx="685800" cy="685800"/>
          </a:xfrm>
          <a:prstGeom prst="ellipse">
            <a:avLst/>
          </a:prstGeom>
          <a:solidFill>
            <a:schemeClr val="tx1"/>
          </a:solidFill>
          <a:ln w="12700">
            <a:solidFill>
              <a:schemeClr val="tx1"/>
            </a:solidFill>
            <a:prstDash val="solid"/>
          </a:ln>
        </p:spPr>
        <p:txBody>
          <a:bodyPr/>
          <a:lstStyle/>
          <a:p>
            <a:endParaRPr lang="es-AR"/>
          </a:p>
        </p:txBody>
      </p:sp>
      <p:pic>
        <p:nvPicPr>
          <p:cNvPr id="5" name="Paso 1 (ícono)" descr="preencoded.png"/>
          <p:cNvPicPr>
            <a:picLocks noChangeAspect="1"/>
          </p:cNvPicPr>
          <p:nvPr/>
        </p:nvPicPr>
        <p:blipFill>
          <a:blip r:embed="rId3"/>
          <a:stretch>
            <a:fillRect/>
          </a:stretch>
        </p:blipFill>
        <p:spPr>
          <a:xfrm>
            <a:off x="713232" y="1947672"/>
            <a:ext cx="356616" cy="356616"/>
          </a:xfrm>
          <a:prstGeom prst="rect">
            <a:avLst/>
          </a:prstGeom>
        </p:spPr>
      </p:pic>
      <p:sp>
        <p:nvSpPr>
          <p:cNvPr id="6" name="Título paso 1"/>
          <p:cNvSpPr txBox="1"/>
          <p:nvPr/>
        </p:nvSpPr>
        <p:spPr>
          <a:xfrm>
            <a:off x="1463040" y="1764792"/>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Consulta</a:t>
            </a:r>
            <a:endParaRPr lang="en-US" sz="2100" dirty="0"/>
          </a:p>
        </p:txBody>
      </p:sp>
      <p:sp>
        <p:nvSpPr>
          <p:cNvPr id="7" name="Texto paso 1"/>
          <p:cNvSpPr txBox="1"/>
          <p:nvPr/>
        </p:nvSpPr>
        <p:spPr>
          <a:xfrm>
            <a:off x="1463040" y="2167128"/>
            <a:ext cx="3429000" cy="685800"/>
          </a:xfrm>
          <a:prstGeom prst="rect">
            <a:avLst/>
          </a:prstGeom>
          <a:noFill/>
          <a:ln/>
        </p:spPr>
        <p:txBody>
          <a:bodyPr wrap="square" lIns="0" tIns="0" rIns="0" bIns="0" rtlCol="0" anchor="t"/>
          <a:lstStyle/>
          <a:p>
            <a:pPr marL="0" indent="0">
              <a:buNone/>
            </a:pPr>
            <a:r>
              <a:rPr lang="en-US" sz="1700" dirty="0">
                <a:solidFill>
                  <a:schemeClr val="accent5"/>
                </a:solidFill>
              </a:rPr>
              <a:t>El </a:t>
            </a:r>
            <a:r>
              <a:rPr lang="en-US" sz="1700" dirty="0" err="1">
                <a:solidFill>
                  <a:schemeClr val="accent5"/>
                </a:solidFill>
              </a:rPr>
              <a:t>usuario</a:t>
            </a:r>
            <a:r>
              <a:rPr lang="en-US" sz="1700" dirty="0">
                <a:solidFill>
                  <a:schemeClr val="accent5"/>
                </a:solidFill>
              </a:rPr>
              <a:t> </a:t>
            </a:r>
            <a:r>
              <a:rPr lang="en-US" sz="1700" dirty="0" err="1">
                <a:solidFill>
                  <a:schemeClr val="accent5"/>
                </a:solidFill>
              </a:rPr>
              <a:t>realiza</a:t>
            </a:r>
            <a:r>
              <a:rPr lang="en-US" sz="1700" dirty="0">
                <a:solidFill>
                  <a:schemeClr val="accent5"/>
                </a:solidFill>
              </a:rPr>
              <a:t> </a:t>
            </a:r>
            <a:r>
              <a:rPr lang="en-US" sz="1700" dirty="0" err="1">
                <a:solidFill>
                  <a:schemeClr val="accent5"/>
                </a:solidFill>
              </a:rPr>
              <a:t>una</a:t>
            </a:r>
            <a:r>
              <a:rPr lang="en-US" sz="1700" dirty="0">
                <a:solidFill>
                  <a:schemeClr val="accent5"/>
                </a:solidFill>
              </a:rPr>
              <a:t> </a:t>
            </a:r>
            <a:r>
              <a:rPr lang="en-US" sz="1700" dirty="0" err="1">
                <a:solidFill>
                  <a:schemeClr val="accent5"/>
                </a:solidFill>
              </a:rPr>
              <a:t>búsqueda</a:t>
            </a:r>
            <a:r>
              <a:rPr lang="en-US" sz="1700" dirty="0">
                <a:solidFill>
                  <a:schemeClr val="accent5"/>
                </a:solidFill>
              </a:rPr>
              <a:t>.</a:t>
            </a:r>
            <a:endParaRPr lang="en-US" sz="1700" dirty="0"/>
          </a:p>
        </p:txBody>
      </p:sp>
      <p:sp>
        <p:nvSpPr>
          <p:cNvPr id="8" name="Flecha paso 1"/>
          <p:cNvSpPr/>
          <p:nvPr/>
        </p:nvSpPr>
        <p:spPr>
          <a:xfrm>
            <a:off x="891540" y="2532888"/>
            <a:ext cx="0" cy="457200"/>
          </a:xfrm>
          <a:prstGeom prst="line">
            <a:avLst/>
          </a:prstGeom>
          <a:noFill/>
          <a:ln w="25400">
            <a:solidFill>
              <a:schemeClr val="tx1"/>
            </a:solidFill>
            <a:prstDash val="solid"/>
            <a:tailEnd type="triangle"/>
          </a:ln>
        </p:spPr>
        <p:txBody>
          <a:bodyPr/>
          <a:lstStyle/>
          <a:p>
            <a:endParaRPr lang="es-AR"/>
          </a:p>
        </p:txBody>
      </p:sp>
      <p:sp>
        <p:nvSpPr>
          <p:cNvPr id="9" name="Paso 2 (círculo)"/>
          <p:cNvSpPr/>
          <p:nvPr/>
        </p:nvSpPr>
        <p:spPr>
          <a:xfrm>
            <a:off x="548640" y="3044952"/>
            <a:ext cx="685800" cy="685800"/>
          </a:xfrm>
          <a:prstGeom prst="ellipse">
            <a:avLst/>
          </a:prstGeom>
          <a:solidFill>
            <a:schemeClr val="tx1"/>
          </a:solidFill>
          <a:ln w="12700">
            <a:solidFill>
              <a:schemeClr val="tx1"/>
            </a:solidFill>
            <a:prstDash val="solid"/>
          </a:ln>
        </p:spPr>
        <p:txBody>
          <a:bodyPr/>
          <a:lstStyle/>
          <a:p>
            <a:endParaRPr lang="es-AR"/>
          </a:p>
        </p:txBody>
      </p:sp>
      <p:pic>
        <p:nvPicPr>
          <p:cNvPr id="10" name="Paso 2 (ícono)" descr="preencoded.png"/>
          <p:cNvPicPr>
            <a:picLocks noChangeAspect="1"/>
          </p:cNvPicPr>
          <p:nvPr/>
        </p:nvPicPr>
        <p:blipFill>
          <a:blip r:embed="rId4"/>
          <a:stretch>
            <a:fillRect/>
          </a:stretch>
        </p:blipFill>
        <p:spPr>
          <a:xfrm>
            <a:off x="713232" y="3209544"/>
            <a:ext cx="356616" cy="356616"/>
          </a:xfrm>
          <a:prstGeom prst="rect">
            <a:avLst/>
          </a:prstGeom>
        </p:spPr>
      </p:pic>
      <p:sp>
        <p:nvSpPr>
          <p:cNvPr id="11" name="Título paso 2"/>
          <p:cNvSpPr txBox="1"/>
          <p:nvPr/>
        </p:nvSpPr>
        <p:spPr>
          <a:xfrm>
            <a:off x="1463040" y="3026664"/>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Ranking</a:t>
            </a:r>
            <a:endParaRPr lang="en-US" sz="2100" dirty="0"/>
          </a:p>
        </p:txBody>
      </p:sp>
      <p:sp>
        <p:nvSpPr>
          <p:cNvPr id="12" name="Texto paso 2"/>
          <p:cNvSpPr txBox="1"/>
          <p:nvPr/>
        </p:nvSpPr>
        <p:spPr>
          <a:xfrm>
            <a:off x="1463040" y="3429000"/>
            <a:ext cx="3429000" cy="685800"/>
          </a:xfrm>
          <a:prstGeom prst="rect">
            <a:avLst/>
          </a:prstGeom>
          <a:noFill/>
          <a:ln/>
        </p:spPr>
        <p:txBody>
          <a:bodyPr wrap="square" lIns="0" tIns="0" rIns="0" bIns="0" rtlCol="0" anchor="t"/>
          <a:lstStyle/>
          <a:p>
            <a:pPr marL="0" indent="0">
              <a:buNone/>
            </a:pPr>
            <a:r>
              <a:rPr lang="en-US" sz="1700" dirty="0">
                <a:solidFill>
                  <a:schemeClr val="accent5"/>
                </a:solidFill>
              </a:rPr>
              <a:t>El buscador rastrea, indexa y ordena las páginas.</a:t>
            </a:r>
            <a:endParaRPr lang="en-US" sz="1700" dirty="0"/>
          </a:p>
        </p:txBody>
      </p:sp>
      <p:sp>
        <p:nvSpPr>
          <p:cNvPr id="13" name="Flecha paso 2"/>
          <p:cNvSpPr/>
          <p:nvPr/>
        </p:nvSpPr>
        <p:spPr>
          <a:xfrm>
            <a:off x="891540" y="3794760"/>
            <a:ext cx="0" cy="457200"/>
          </a:xfrm>
          <a:prstGeom prst="line">
            <a:avLst/>
          </a:prstGeom>
          <a:noFill/>
          <a:ln w="25400">
            <a:solidFill>
              <a:schemeClr val="tx1"/>
            </a:solidFill>
            <a:prstDash val="solid"/>
            <a:tailEnd type="triangle"/>
          </a:ln>
        </p:spPr>
        <p:txBody>
          <a:bodyPr/>
          <a:lstStyle/>
          <a:p>
            <a:endParaRPr lang="es-AR"/>
          </a:p>
        </p:txBody>
      </p:sp>
      <p:sp>
        <p:nvSpPr>
          <p:cNvPr id="14" name="Paso 3 (círculo)"/>
          <p:cNvSpPr/>
          <p:nvPr/>
        </p:nvSpPr>
        <p:spPr>
          <a:xfrm>
            <a:off x="548640" y="4306824"/>
            <a:ext cx="685800" cy="685800"/>
          </a:xfrm>
          <a:prstGeom prst="ellipse">
            <a:avLst/>
          </a:prstGeom>
          <a:solidFill>
            <a:schemeClr val="tx1"/>
          </a:solidFill>
          <a:ln w="12700">
            <a:solidFill>
              <a:schemeClr val="tx1"/>
            </a:solidFill>
            <a:prstDash val="solid"/>
          </a:ln>
        </p:spPr>
        <p:txBody>
          <a:bodyPr/>
          <a:lstStyle/>
          <a:p>
            <a:endParaRPr lang="es-AR"/>
          </a:p>
        </p:txBody>
      </p:sp>
      <p:pic>
        <p:nvPicPr>
          <p:cNvPr id="15" name="Paso 3 (ícono)" descr="preencoded.png"/>
          <p:cNvPicPr>
            <a:picLocks noChangeAspect="1"/>
          </p:cNvPicPr>
          <p:nvPr/>
        </p:nvPicPr>
        <p:blipFill>
          <a:blip r:embed="rId5"/>
          <a:stretch>
            <a:fillRect/>
          </a:stretch>
        </p:blipFill>
        <p:spPr>
          <a:xfrm>
            <a:off x="713232" y="4471416"/>
            <a:ext cx="356616" cy="356616"/>
          </a:xfrm>
          <a:prstGeom prst="rect">
            <a:avLst/>
          </a:prstGeom>
        </p:spPr>
      </p:pic>
      <p:sp>
        <p:nvSpPr>
          <p:cNvPr id="16" name="Título paso 3"/>
          <p:cNvSpPr txBox="1"/>
          <p:nvPr/>
        </p:nvSpPr>
        <p:spPr>
          <a:xfrm>
            <a:off x="1463040" y="4288536"/>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Click</a:t>
            </a:r>
            <a:endParaRPr lang="en-US" sz="2100" dirty="0"/>
          </a:p>
        </p:txBody>
      </p:sp>
      <p:sp>
        <p:nvSpPr>
          <p:cNvPr id="17" name="Texto paso 3"/>
          <p:cNvSpPr txBox="1"/>
          <p:nvPr/>
        </p:nvSpPr>
        <p:spPr>
          <a:xfrm>
            <a:off x="1463040" y="4690872"/>
            <a:ext cx="3429000" cy="685800"/>
          </a:xfrm>
          <a:prstGeom prst="rect">
            <a:avLst/>
          </a:prstGeom>
          <a:noFill/>
          <a:ln/>
        </p:spPr>
        <p:txBody>
          <a:bodyPr wrap="square" lIns="0" tIns="0" rIns="0" bIns="0" rtlCol="0" anchor="t"/>
          <a:lstStyle/>
          <a:p>
            <a:pPr marL="0" indent="0">
              <a:buNone/>
            </a:pPr>
            <a:r>
              <a:rPr lang="en-US" sz="1700" dirty="0">
                <a:solidFill>
                  <a:schemeClr val="accent5"/>
                </a:solidFill>
              </a:rPr>
              <a:t>El lector </a:t>
            </a:r>
            <a:r>
              <a:rPr lang="en-US" sz="1700" dirty="0" err="1">
                <a:solidFill>
                  <a:schemeClr val="accent5"/>
                </a:solidFill>
              </a:rPr>
              <a:t>elige</a:t>
            </a:r>
            <a:r>
              <a:rPr lang="en-US" sz="1700" dirty="0">
                <a:solidFill>
                  <a:schemeClr val="accent5"/>
                </a:solidFill>
              </a:rPr>
              <a:t> </a:t>
            </a:r>
            <a:r>
              <a:rPr lang="en-US" sz="1700" dirty="0" err="1">
                <a:solidFill>
                  <a:schemeClr val="accent5"/>
                </a:solidFill>
              </a:rPr>
              <a:t>una</a:t>
            </a:r>
            <a:r>
              <a:rPr lang="en-US" sz="1700" dirty="0">
                <a:solidFill>
                  <a:schemeClr val="accent5"/>
                </a:solidFill>
              </a:rPr>
              <a:t> </a:t>
            </a:r>
            <a:r>
              <a:rPr lang="en-US" sz="1700" dirty="0" err="1">
                <a:solidFill>
                  <a:schemeClr val="accent5"/>
                </a:solidFill>
              </a:rPr>
              <a:t>página</a:t>
            </a:r>
            <a:r>
              <a:rPr lang="en-US" sz="1700" dirty="0">
                <a:solidFill>
                  <a:schemeClr val="accent5"/>
                </a:solidFill>
              </a:rPr>
              <a:t> </a:t>
            </a:r>
            <a:r>
              <a:rPr lang="en-US" sz="1700" dirty="0" err="1">
                <a:solidFill>
                  <a:schemeClr val="accent5"/>
                </a:solidFill>
              </a:rPr>
              <a:t>dentro</a:t>
            </a:r>
            <a:r>
              <a:rPr lang="en-US" sz="1700" dirty="0">
                <a:solidFill>
                  <a:schemeClr val="accent5"/>
                </a:solidFill>
              </a:rPr>
              <a:t> del SERP y visita el sitio.</a:t>
            </a:r>
            <a:endParaRPr lang="en-US" sz="1700" dirty="0"/>
          </a:p>
        </p:txBody>
      </p:sp>
      <p:sp>
        <p:nvSpPr>
          <p:cNvPr id="18" name="Página de resultados (SERP)"/>
          <p:cNvSpPr/>
          <p:nvPr/>
        </p:nvSpPr>
        <p:spPr>
          <a:xfrm>
            <a:off x="5257800" y="1691640"/>
            <a:ext cx="6382512" cy="3749040"/>
          </a:xfrm>
          <a:prstGeom prst="roundRect">
            <a:avLst>
              <a:gd name="adj" fmla="val 3415"/>
            </a:avLst>
          </a:prstGeom>
          <a:solidFill>
            <a:schemeClr val="bg1"/>
          </a:solidFill>
          <a:ln w="12700">
            <a:solidFill>
              <a:schemeClr val="bg2"/>
            </a:solidFill>
            <a:prstDash val="solid"/>
          </a:ln>
          <a:effectLst>
            <a:outerShdw blurRad="101600" dist="25400" dir="5400000" algn="bl" rotWithShape="0">
              <a:srgbClr val="1B2A41">
                <a:alpha val="12000"/>
              </a:srgbClr>
            </a:outerShdw>
          </a:effectLst>
        </p:spPr>
        <p:txBody>
          <a:bodyPr/>
          <a:lstStyle/>
          <a:p>
            <a:endParaRPr lang="es-AR"/>
          </a:p>
        </p:txBody>
      </p:sp>
      <p:sp>
        <p:nvSpPr>
          <p:cNvPr id="19" name="Barra de búsqueda"/>
          <p:cNvSpPr/>
          <p:nvPr/>
        </p:nvSpPr>
        <p:spPr>
          <a:xfrm>
            <a:off x="5532120" y="1901952"/>
            <a:ext cx="5833872" cy="457200"/>
          </a:xfrm>
          <a:prstGeom prst="roundRect">
            <a:avLst>
              <a:gd name="adj" fmla="val 50000"/>
            </a:avLst>
          </a:prstGeom>
          <a:solidFill>
            <a:schemeClr val="bg2"/>
          </a:solidFill>
          <a:ln w="12700">
            <a:solidFill>
              <a:schemeClr val="bg2"/>
            </a:solidFill>
            <a:prstDash val="solid"/>
          </a:ln>
        </p:spPr>
        <p:txBody>
          <a:bodyPr/>
          <a:lstStyle/>
          <a:p>
            <a:endParaRPr lang="es-AR"/>
          </a:p>
        </p:txBody>
      </p:sp>
      <p:pic>
        <p:nvPicPr>
          <p:cNvPr id="20" name="Ícono barra de búsqueda" descr="preencoded.png"/>
          <p:cNvPicPr>
            <a:picLocks noChangeAspect="1"/>
          </p:cNvPicPr>
          <p:nvPr/>
        </p:nvPicPr>
        <p:blipFill>
          <a:blip r:embed="rId6"/>
          <a:stretch>
            <a:fillRect/>
          </a:stretch>
        </p:blipFill>
        <p:spPr>
          <a:xfrm>
            <a:off x="5687568" y="2011680"/>
            <a:ext cx="237744" cy="237744"/>
          </a:xfrm>
          <a:prstGeom prst="rect">
            <a:avLst/>
          </a:prstGeom>
        </p:spPr>
      </p:pic>
      <p:sp>
        <p:nvSpPr>
          <p:cNvPr id="21" name="Texto barra de búsqueda"/>
          <p:cNvSpPr txBox="1"/>
          <p:nvPr/>
        </p:nvSpPr>
        <p:spPr>
          <a:xfrm>
            <a:off x="6053328" y="1901952"/>
            <a:ext cx="4114800" cy="457200"/>
          </a:xfrm>
          <a:prstGeom prst="rect">
            <a:avLst/>
          </a:prstGeom>
          <a:noFill/>
          <a:ln/>
        </p:spPr>
        <p:txBody>
          <a:bodyPr wrap="square" lIns="0" tIns="0" rIns="0" bIns="0" rtlCol="0" anchor="ctr"/>
          <a:lstStyle/>
          <a:p>
            <a:pPr marL="0" indent="0">
              <a:buNone/>
            </a:pPr>
            <a:r>
              <a:rPr lang="en-US" sz="1500" dirty="0">
                <a:solidFill>
                  <a:schemeClr val="tx1"/>
                </a:solidFill>
              </a:rPr>
              <a:t>novela romántica argentina</a:t>
            </a:r>
            <a:endParaRPr lang="en-US" sz="1500" dirty="0"/>
          </a:p>
        </p:txBody>
      </p:sp>
      <p:sp>
        <p:nvSpPr>
          <p:cNvPr id="22" name="Rótulo resultados"/>
          <p:cNvSpPr txBox="1"/>
          <p:nvPr/>
        </p:nvSpPr>
        <p:spPr>
          <a:xfrm>
            <a:off x="5532120" y="2514600"/>
            <a:ext cx="2743200" cy="274320"/>
          </a:xfrm>
          <a:prstGeom prst="rect">
            <a:avLst/>
          </a:prstGeom>
          <a:noFill/>
          <a:ln/>
        </p:spPr>
        <p:txBody>
          <a:bodyPr wrap="square" lIns="0" tIns="0" rIns="0" bIns="0" rtlCol="0" anchor="ctr"/>
          <a:lstStyle/>
          <a:p>
            <a:pPr marL="0" indent="0">
              <a:buNone/>
            </a:pPr>
            <a:r>
              <a:rPr lang="en-US" sz="1300" b="1" dirty="0">
                <a:solidFill>
                  <a:schemeClr val="accent5"/>
                </a:solidFill>
              </a:rPr>
              <a:t>Resultados ordenados</a:t>
            </a:r>
            <a:endParaRPr lang="en-US" sz="1300" dirty="0"/>
          </a:p>
        </p:txBody>
      </p:sp>
      <p:sp>
        <p:nvSpPr>
          <p:cNvPr id="23" name="Rótulo clics"/>
          <p:cNvSpPr txBox="1"/>
          <p:nvPr/>
        </p:nvSpPr>
        <p:spPr>
          <a:xfrm>
            <a:off x="9509760" y="2514600"/>
            <a:ext cx="1737360" cy="274320"/>
          </a:xfrm>
          <a:prstGeom prst="rect">
            <a:avLst/>
          </a:prstGeom>
          <a:noFill/>
          <a:ln/>
        </p:spPr>
        <p:txBody>
          <a:bodyPr wrap="square" lIns="0" tIns="0" rIns="0" bIns="0" rtlCol="0" anchor="ctr"/>
          <a:lstStyle/>
          <a:p>
            <a:pPr marL="0" indent="0">
              <a:buNone/>
            </a:pPr>
            <a:r>
              <a:rPr lang="en-US" sz="1300" b="1" dirty="0">
                <a:solidFill>
                  <a:schemeClr val="accent5"/>
                </a:solidFill>
              </a:rPr>
              <a:t>Clics</a:t>
            </a:r>
            <a:endParaRPr lang="en-US" sz="1300" dirty="0"/>
          </a:p>
        </p:txBody>
      </p:sp>
      <p:sp>
        <p:nvSpPr>
          <p:cNvPr id="24" name="Resaltado primer resultado"/>
          <p:cNvSpPr/>
          <p:nvPr/>
        </p:nvSpPr>
        <p:spPr>
          <a:xfrm>
            <a:off x="5440680" y="2788920"/>
            <a:ext cx="6016752" cy="438912"/>
          </a:xfrm>
          <a:prstGeom prst="roundRect">
            <a:avLst>
              <a:gd name="adj" fmla="val 16667"/>
            </a:avLst>
          </a:prstGeom>
          <a:solidFill>
            <a:schemeClr val="accent1">
              <a:alpha val="12000"/>
            </a:schemeClr>
          </a:solidFill>
          <a:ln w="12700">
            <a:solidFill>
              <a:schemeClr val="accent1">
                <a:alpha val="12000"/>
              </a:schemeClr>
            </a:solidFill>
            <a:prstDash val="solid"/>
          </a:ln>
        </p:spPr>
        <p:txBody>
          <a:bodyPr/>
          <a:lstStyle/>
          <a:p>
            <a:endParaRPr lang="es-AR"/>
          </a:p>
        </p:txBody>
      </p:sp>
      <p:sp>
        <p:nvSpPr>
          <p:cNvPr id="25" name="Posición 1"/>
          <p:cNvSpPr/>
          <p:nvPr/>
        </p:nvSpPr>
        <p:spPr>
          <a:xfrm>
            <a:off x="5577840" y="2862072"/>
            <a:ext cx="292608" cy="292608"/>
          </a:xfrm>
          <a:prstGeom prst="ellipse">
            <a:avLst/>
          </a:prstGeom>
          <a:solidFill>
            <a:schemeClr val="accent1"/>
          </a:solidFill>
          <a:ln w="12700">
            <a:solidFill>
              <a:schemeClr val="accent1"/>
            </a:solidFill>
            <a:prstDash val="solid"/>
          </a:ln>
        </p:spPr>
        <p:txBody>
          <a:bodyPr/>
          <a:lstStyle/>
          <a:p>
            <a:endParaRPr lang="es-AR"/>
          </a:p>
        </p:txBody>
      </p:sp>
      <p:sp>
        <p:nvSpPr>
          <p:cNvPr id="26" name="Número posición 1"/>
          <p:cNvSpPr txBox="1"/>
          <p:nvPr/>
        </p:nvSpPr>
        <p:spPr>
          <a:xfrm>
            <a:off x="5577840" y="286207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27" name="Resultado 1"/>
          <p:cNvSpPr txBox="1"/>
          <p:nvPr/>
        </p:nvSpPr>
        <p:spPr>
          <a:xfrm>
            <a:off x="6035040" y="2834640"/>
            <a:ext cx="2194560" cy="347472"/>
          </a:xfrm>
          <a:prstGeom prst="rect">
            <a:avLst/>
          </a:prstGeom>
          <a:noFill/>
          <a:ln/>
        </p:spPr>
        <p:txBody>
          <a:bodyPr wrap="square" lIns="0" tIns="0" rIns="0" bIns="0" rtlCol="0" anchor="ctr"/>
          <a:lstStyle/>
          <a:p>
            <a:pPr marL="0" indent="0">
              <a:buNone/>
            </a:pPr>
            <a:r>
              <a:rPr lang="en-US" sz="1500" b="1" dirty="0">
                <a:solidFill>
                  <a:schemeClr val="accent1"/>
                </a:solidFill>
              </a:rPr>
              <a:t>penguinlibros.com</a:t>
            </a:r>
            <a:endParaRPr lang="en-US" sz="1500" dirty="0"/>
          </a:p>
        </p:txBody>
      </p:sp>
      <p:sp>
        <p:nvSpPr>
          <p:cNvPr id="28" name="Clics resultado 1"/>
          <p:cNvSpPr/>
          <p:nvPr/>
        </p:nvSpPr>
        <p:spPr>
          <a:xfrm>
            <a:off x="9509760" y="2907792"/>
            <a:ext cx="1691640" cy="201168"/>
          </a:xfrm>
          <a:prstGeom prst="roundRect">
            <a:avLst>
              <a:gd name="adj" fmla="val 18182"/>
            </a:avLst>
          </a:prstGeom>
          <a:solidFill>
            <a:schemeClr val="accent1"/>
          </a:solidFill>
          <a:ln w="12700">
            <a:solidFill>
              <a:schemeClr val="accent1"/>
            </a:solidFill>
            <a:prstDash val="solid"/>
          </a:ln>
        </p:spPr>
        <p:txBody>
          <a:bodyPr/>
          <a:lstStyle/>
          <a:p>
            <a:endParaRPr lang="es-AR"/>
          </a:p>
        </p:txBody>
      </p:sp>
      <p:sp>
        <p:nvSpPr>
          <p:cNvPr id="29" name="Posición 2"/>
          <p:cNvSpPr/>
          <p:nvPr/>
        </p:nvSpPr>
        <p:spPr>
          <a:xfrm>
            <a:off x="5577840" y="3282696"/>
            <a:ext cx="292608" cy="292608"/>
          </a:xfrm>
          <a:prstGeom prst="ellipse">
            <a:avLst/>
          </a:prstGeom>
          <a:solidFill>
            <a:schemeClr val="accent5"/>
          </a:solidFill>
          <a:ln w="12700">
            <a:solidFill>
              <a:schemeClr val="accent5"/>
            </a:solidFill>
            <a:prstDash val="solid"/>
          </a:ln>
        </p:spPr>
        <p:txBody>
          <a:bodyPr/>
          <a:lstStyle/>
          <a:p>
            <a:endParaRPr lang="es-AR"/>
          </a:p>
        </p:txBody>
      </p:sp>
      <p:sp>
        <p:nvSpPr>
          <p:cNvPr id="30" name="Número posición 2"/>
          <p:cNvSpPr txBox="1"/>
          <p:nvPr/>
        </p:nvSpPr>
        <p:spPr>
          <a:xfrm>
            <a:off x="5577840" y="3282696"/>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31" name="Resultado 2"/>
          <p:cNvSpPr txBox="1"/>
          <p:nvPr/>
        </p:nvSpPr>
        <p:spPr>
          <a:xfrm>
            <a:off x="6035040" y="3255264"/>
            <a:ext cx="2194560" cy="347472"/>
          </a:xfrm>
          <a:prstGeom prst="rect">
            <a:avLst/>
          </a:prstGeom>
          <a:noFill/>
          <a:ln/>
        </p:spPr>
        <p:txBody>
          <a:bodyPr wrap="square" lIns="0" tIns="0" rIns="0" bIns="0" rtlCol="0" anchor="ctr"/>
          <a:lstStyle/>
          <a:p>
            <a:pPr marL="0" indent="0">
              <a:buNone/>
            </a:pPr>
            <a:r>
              <a:rPr lang="en-US" sz="1500" dirty="0">
                <a:solidFill>
                  <a:schemeClr val="tx1"/>
                </a:solidFill>
              </a:rPr>
              <a:t>tienda de libros</a:t>
            </a:r>
            <a:endParaRPr lang="en-US" sz="1500" dirty="0"/>
          </a:p>
        </p:txBody>
      </p:sp>
      <p:sp>
        <p:nvSpPr>
          <p:cNvPr id="32" name="Clics resultado 2"/>
          <p:cNvSpPr/>
          <p:nvPr/>
        </p:nvSpPr>
        <p:spPr>
          <a:xfrm>
            <a:off x="9509760" y="3328416"/>
            <a:ext cx="914400" cy="201168"/>
          </a:xfrm>
          <a:prstGeom prst="roundRect">
            <a:avLst>
              <a:gd name="adj" fmla="val 18182"/>
            </a:avLst>
          </a:prstGeom>
          <a:solidFill>
            <a:schemeClr val="accent5">
              <a:alpha val="55000"/>
            </a:schemeClr>
          </a:solidFill>
          <a:ln w="12700">
            <a:solidFill>
              <a:schemeClr val="accent5">
                <a:alpha val="55000"/>
              </a:schemeClr>
            </a:solidFill>
            <a:prstDash val="solid"/>
          </a:ln>
        </p:spPr>
        <p:txBody>
          <a:bodyPr/>
          <a:lstStyle/>
          <a:p>
            <a:endParaRPr lang="es-AR"/>
          </a:p>
        </p:txBody>
      </p:sp>
      <p:sp>
        <p:nvSpPr>
          <p:cNvPr id="33" name="Posición 3"/>
          <p:cNvSpPr/>
          <p:nvPr/>
        </p:nvSpPr>
        <p:spPr>
          <a:xfrm>
            <a:off x="5577840" y="3703320"/>
            <a:ext cx="292608" cy="292608"/>
          </a:xfrm>
          <a:prstGeom prst="ellipse">
            <a:avLst/>
          </a:prstGeom>
          <a:solidFill>
            <a:schemeClr val="accent5"/>
          </a:solidFill>
          <a:ln w="12700">
            <a:solidFill>
              <a:schemeClr val="accent5"/>
            </a:solidFill>
            <a:prstDash val="solid"/>
          </a:ln>
        </p:spPr>
        <p:txBody>
          <a:bodyPr/>
          <a:lstStyle/>
          <a:p>
            <a:endParaRPr lang="es-AR"/>
          </a:p>
        </p:txBody>
      </p:sp>
      <p:sp>
        <p:nvSpPr>
          <p:cNvPr id="34" name="Número posición 3"/>
          <p:cNvSpPr txBox="1"/>
          <p:nvPr/>
        </p:nvSpPr>
        <p:spPr>
          <a:xfrm>
            <a:off x="5577840" y="3703320"/>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35" name="Resultado 3"/>
          <p:cNvSpPr txBox="1"/>
          <p:nvPr/>
        </p:nvSpPr>
        <p:spPr>
          <a:xfrm>
            <a:off x="6035040" y="3675888"/>
            <a:ext cx="2194560" cy="347472"/>
          </a:xfrm>
          <a:prstGeom prst="rect">
            <a:avLst/>
          </a:prstGeom>
          <a:noFill/>
          <a:ln/>
        </p:spPr>
        <p:txBody>
          <a:bodyPr wrap="square" lIns="0" tIns="0" rIns="0" bIns="0" rtlCol="0" anchor="ctr"/>
          <a:lstStyle/>
          <a:p>
            <a:pPr marL="0" indent="0">
              <a:buNone/>
            </a:pPr>
            <a:r>
              <a:rPr lang="en-US" sz="1500" dirty="0">
                <a:solidFill>
                  <a:schemeClr val="tx1"/>
                </a:solidFill>
              </a:rPr>
              <a:t>sitio de reseñas</a:t>
            </a:r>
            <a:endParaRPr lang="en-US" sz="1500" dirty="0"/>
          </a:p>
        </p:txBody>
      </p:sp>
      <p:sp>
        <p:nvSpPr>
          <p:cNvPr id="36" name="Clics resultado 3"/>
          <p:cNvSpPr/>
          <p:nvPr/>
        </p:nvSpPr>
        <p:spPr>
          <a:xfrm>
            <a:off x="9509760" y="3749040"/>
            <a:ext cx="566928" cy="201168"/>
          </a:xfrm>
          <a:prstGeom prst="roundRect">
            <a:avLst>
              <a:gd name="adj" fmla="val 18182"/>
            </a:avLst>
          </a:prstGeom>
          <a:solidFill>
            <a:schemeClr val="accent5">
              <a:alpha val="55000"/>
            </a:schemeClr>
          </a:solidFill>
          <a:ln w="12700">
            <a:solidFill>
              <a:schemeClr val="accent5">
                <a:alpha val="55000"/>
              </a:schemeClr>
            </a:solidFill>
            <a:prstDash val="solid"/>
          </a:ln>
        </p:spPr>
        <p:txBody>
          <a:bodyPr/>
          <a:lstStyle/>
          <a:p>
            <a:endParaRPr lang="es-AR"/>
          </a:p>
        </p:txBody>
      </p:sp>
      <p:sp>
        <p:nvSpPr>
          <p:cNvPr id="37" name="Posición 4"/>
          <p:cNvSpPr/>
          <p:nvPr/>
        </p:nvSpPr>
        <p:spPr>
          <a:xfrm>
            <a:off x="5577840" y="4123944"/>
            <a:ext cx="292608" cy="292608"/>
          </a:xfrm>
          <a:prstGeom prst="ellipse">
            <a:avLst/>
          </a:prstGeom>
          <a:solidFill>
            <a:schemeClr val="accent5"/>
          </a:solidFill>
          <a:ln w="12700">
            <a:solidFill>
              <a:schemeClr val="accent5"/>
            </a:solidFill>
            <a:prstDash val="solid"/>
          </a:ln>
        </p:spPr>
        <p:txBody>
          <a:bodyPr/>
          <a:lstStyle/>
          <a:p>
            <a:endParaRPr lang="es-AR"/>
          </a:p>
        </p:txBody>
      </p:sp>
      <p:sp>
        <p:nvSpPr>
          <p:cNvPr id="38" name="Número posición 4"/>
          <p:cNvSpPr txBox="1"/>
          <p:nvPr/>
        </p:nvSpPr>
        <p:spPr>
          <a:xfrm>
            <a:off x="5577840" y="412394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39" name="Resultado 4"/>
          <p:cNvSpPr txBox="1"/>
          <p:nvPr/>
        </p:nvSpPr>
        <p:spPr>
          <a:xfrm>
            <a:off x="6035040" y="4096512"/>
            <a:ext cx="2194560" cy="347472"/>
          </a:xfrm>
          <a:prstGeom prst="rect">
            <a:avLst/>
          </a:prstGeom>
          <a:noFill/>
          <a:ln/>
        </p:spPr>
        <p:txBody>
          <a:bodyPr wrap="square" lIns="0" tIns="0" rIns="0" bIns="0" rtlCol="0" anchor="ctr"/>
          <a:lstStyle/>
          <a:p>
            <a:pPr marL="0" indent="0">
              <a:buNone/>
            </a:pPr>
            <a:r>
              <a:rPr lang="en-US" sz="1500" dirty="0">
                <a:solidFill>
                  <a:schemeClr val="tx1"/>
                </a:solidFill>
              </a:rPr>
              <a:t>medio digital</a:t>
            </a:r>
            <a:endParaRPr lang="en-US" sz="1500" dirty="0"/>
          </a:p>
        </p:txBody>
      </p:sp>
      <p:sp>
        <p:nvSpPr>
          <p:cNvPr id="40" name="Clics resultado 4"/>
          <p:cNvSpPr/>
          <p:nvPr/>
        </p:nvSpPr>
        <p:spPr>
          <a:xfrm>
            <a:off x="9509760" y="4169664"/>
            <a:ext cx="365760" cy="201168"/>
          </a:xfrm>
          <a:prstGeom prst="roundRect">
            <a:avLst>
              <a:gd name="adj" fmla="val 18182"/>
            </a:avLst>
          </a:prstGeom>
          <a:solidFill>
            <a:schemeClr val="accent5">
              <a:alpha val="55000"/>
            </a:schemeClr>
          </a:solidFill>
          <a:ln w="12700">
            <a:solidFill>
              <a:schemeClr val="accent5">
                <a:alpha val="55000"/>
              </a:schemeClr>
            </a:solidFill>
            <a:prstDash val="solid"/>
          </a:ln>
        </p:spPr>
        <p:txBody>
          <a:bodyPr/>
          <a:lstStyle/>
          <a:p>
            <a:endParaRPr lang="es-AR"/>
          </a:p>
        </p:txBody>
      </p:sp>
      <p:sp>
        <p:nvSpPr>
          <p:cNvPr id="41" name="Posición 5"/>
          <p:cNvSpPr/>
          <p:nvPr/>
        </p:nvSpPr>
        <p:spPr>
          <a:xfrm>
            <a:off x="5577840" y="4544568"/>
            <a:ext cx="292608" cy="292608"/>
          </a:xfrm>
          <a:prstGeom prst="ellipse">
            <a:avLst/>
          </a:prstGeom>
          <a:solidFill>
            <a:schemeClr val="accent5"/>
          </a:solidFill>
          <a:ln w="12700">
            <a:solidFill>
              <a:schemeClr val="accent5"/>
            </a:solidFill>
            <a:prstDash val="solid"/>
          </a:ln>
        </p:spPr>
        <p:txBody>
          <a:bodyPr/>
          <a:lstStyle/>
          <a:p>
            <a:endParaRPr lang="es-AR"/>
          </a:p>
        </p:txBody>
      </p:sp>
      <p:sp>
        <p:nvSpPr>
          <p:cNvPr id="42" name="Número posición 5"/>
          <p:cNvSpPr txBox="1"/>
          <p:nvPr/>
        </p:nvSpPr>
        <p:spPr>
          <a:xfrm>
            <a:off x="5577840" y="4544568"/>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43" name="Resultado 5"/>
          <p:cNvSpPr txBox="1"/>
          <p:nvPr/>
        </p:nvSpPr>
        <p:spPr>
          <a:xfrm>
            <a:off x="6035040" y="4517136"/>
            <a:ext cx="2194560" cy="347472"/>
          </a:xfrm>
          <a:prstGeom prst="rect">
            <a:avLst/>
          </a:prstGeom>
          <a:noFill/>
          <a:ln/>
        </p:spPr>
        <p:txBody>
          <a:bodyPr wrap="square" lIns="0" tIns="0" rIns="0" bIns="0" rtlCol="0" anchor="ctr"/>
          <a:lstStyle/>
          <a:p>
            <a:pPr marL="0" indent="0">
              <a:buNone/>
            </a:pPr>
            <a:r>
              <a:rPr lang="en-US" sz="1500" dirty="0">
                <a:solidFill>
                  <a:schemeClr val="tx1"/>
                </a:solidFill>
              </a:rPr>
              <a:t>foro de lectores</a:t>
            </a:r>
            <a:endParaRPr lang="en-US" sz="1500" dirty="0"/>
          </a:p>
        </p:txBody>
      </p:sp>
      <p:sp>
        <p:nvSpPr>
          <p:cNvPr id="44" name="Clics resultado 5"/>
          <p:cNvSpPr/>
          <p:nvPr/>
        </p:nvSpPr>
        <p:spPr>
          <a:xfrm>
            <a:off x="9509760" y="4590288"/>
            <a:ext cx="237744" cy="201168"/>
          </a:xfrm>
          <a:prstGeom prst="roundRect">
            <a:avLst>
              <a:gd name="adj" fmla="val 18182"/>
            </a:avLst>
          </a:prstGeom>
          <a:solidFill>
            <a:schemeClr val="accent5">
              <a:alpha val="55000"/>
            </a:schemeClr>
          </a:solidFill>
          <a:ln w="12700">
            <a:solidFill>
              <a:schemeClr val="accent5">
                <a:alpha val="55000"/>
              </a:schemeClr>
            </a:solidFill>
            <a:prstDash val="solid"/>
          </a:ln>
        </p:spPr>
        <p:txBody>
          <a:bodyPr/>
          <a:lstStyle/>
          <a:p>
            <a:endParaRPr lang="es-AR"/>
          </a:p>
        </p:txBody>
      </p:sp>
      <p:sp>
        <p:nvSpPr>
          <p:cNvPr id="45" name="Epígrafe SERP"/>
          <p:cNvSpPr txBox="1"/>
          <p:nvPr/>
        </p:nvSpPr>
        <p:spPr>
          <a:xfrm>
            <a:off x="5532120" y="5010912"/>
            <a:ext cx="5833872" cy="320040"/>
          </a:xfrm>
          <a:prstGeom prst="rect">
            <a:avLst/>
          </a:prstGeom>
          <a:noFill/>
          <a:ln/>
        </p:spPr>
        <p:txBody>
          <a:bodyPr wrap="square" lIns="0" tIns="0" rIns="0" bIns="0" rtlCol="0" anchor="t"/>
          <a:lstStyle/>
          <a:p>
            <a:pPr marL="0" indent="0">
              <a:buNone/>
            </a:pPr>
            <a:r>
              <a:rPr lang="en-US" sz="1400" i="1" dirty="0">
                <a:solidFill>
                  <a:schemeClr val="accent5"/>
                </a:solidFill>
              </a:rPr>
              <a:t>El tráfico se concentra en los primeros lugares de la SERP.</a:t>
            </a:r>
            <a:endParaRPr lang="en-US" sz="1400" dirty="0"/>
          </a:p>
        </p:txBody>
      </p:sp>
      <p:sp>
        <p:nvSpPr>
          <p:cNvPr id="46" name="Banda unidad de éxito"/>
          <p:cNvSpPr/>
          <p:nvPr/>
        </p:nvSpPr>
        <p:spPr>
          <a:xfrm>
            <a:off x="548640" y="5623560"/>
            <a:ext cx="11091672" cy="548640"/>
          </a:xfrm>
          <a:prstGeom prst="roundRect">
            <a:avLst>
              <a:gd name="adj" fmla="val 16667"/>
            </a:avLst>
          </a:prstGeom>
          <a:solidFill>
            <a:schemeClr val="tx1">
              <a:alpha val="10000"/>
            </a:schemeClr>
          </a:solidFill>
          <a:ln w="12700">
            <a:solidFill>
              <a:schemeClr val="tx1">
                <a:alpha val="10000"/>
              </a:schemeClr>
            </a:solidFill>
            <a:prstDash val="solid"/>
          </a:ln>
        </p:spPr>
        <p:txBody>
          <a:bodyPr/>
          <a:lstStyle/>
          <a:p>
            <a:endParaRPr lang="es-AR"/>
          </a:p>
        </p:txBody>
      </p:sp>
      <p:sp>
        <p:nvSpPr>
          <p:cNvPr id="47" name="Ícono unidad de éxito (círculo)"/>
          <p:cNvSpPr/>
          <p:nvPr/>
        </p:nvSpPr>
        <p:spPr>
          <a:xfrm>
            <a:off x="685800" y="5678424"/>
            <a:ext cx="438912" cy="438912"/>
          </a:xfrm>
          <a:prstGeom prst="ellipse">
            <a:avLst/>
          </a:prstGeom>
          <a:solidFill>
            <a:schemeClr val="tx1"/>
          </a:solidFill>
          <a:ln w="12700">
            <a:solidFill>
              <a:schemeClr val="tx1"/>
            </a:solidFill>
            <a:prstDash val="solid"/>
          </a:ln>
        </p:spPr>
        <p:txBody>
          <a:bodyPr/>
          <a:lstStyle/>
          <a:p>
            <a:endParaRPr lang="es-AR"/>
          </a:p>
        </p:txBody>
      </p:sp>
      <p:pic>
        <p:nvPicPr>
          <p:cNvPr id="48" name="Ícono unidad de éxito (ícono)" descr="preencoded.png"/>
          <p:cNvPicPr>
            <a:picLocks noChangeAspect="1"/>
          </p:cNvPicPr>
          <p:nvPr/>
        </p:nvPicPr>
        <p:blipFill>
          <a:blip r:embed="rId7"/>
          <a:stretch>
            <a:fillRect/>
          </a:stretch>
        </p:blipFill>
        <p:spPr>
          <a:xfrm>
            <a:off x="791139" y="5783763"/>
            <a:ext cx="228234" cy="228234"/>
          </a:xfrm>
          <a:prstGeom prst="rect">
            <a:avLst/>
          </a:prstGeom>
        </p:spPr>
      </p:pic>
      <p:sp>
        <p:nvSpPr>
          <p:cNvPr id="49" name="Texto unidad de éxito"/>
          <p:cNvSpPr txBox="1"/>
          <p:nvPr/>
        </p:nvSpPr>
        <p:spPr>
          <a:xfrm>
            <a:off x="1280160" y="5623560"/>
            <a:ext cx="10241280" cy="548640"/>
          </a:xfrm>
          <a:prstGeom prst="rect">
            <a:avLst/>
          </a:prstGeom>
          <a:noFill/>
          <a:ln/>
        </p:spPr>
        <p:txBody>
          <a:bodyPr wrap="square" lIns="0" tIns="0" rIns="0" bIns="0" rtlCol="0" anchor="ctr"/>
          <a:lstStyle/>
          <a:p>
            <a:pPr marL="0" indent="0">
              <a:buNone/>
            </a:pPr>
            <a:r>
              <a:rPr lang="en-US" sz="1900" b="1" dirty="0">
                <a:solidFill>
                  <a:schemeClr val="tx1"/>
                </a:solidFill>
              </a:rPr>
              <a:t>Unidad de éxito: </a:t>
            </a:r>
            <a:r>
              <a:rPr lang="en-US" sz="1900" b="1" dirty="0" err="1">
                <a:solidFill>
                  <a:schemeClr val="tx1"/>
                </a:solidFill>
              </a:rPr>
              <a:t>rankear</a:t>
            </a:r>
            <a:r>
              <a:rPr lang="en-US" sz="1900" b="1" dirty="0">
                <a:solidFill>
                  <a:schemeClr val="tx1"/>
                </a:solidFill>
              </a:rPr>
              <a:t> alto </a:t>
            </a:r>
            <a:r>
              <a:rPr lang="en-US" sz="1900" b="1" dirty="0" err="1">
                <a:solidFill>
                  <a:schemeClr val="tx1"/>
                </a:solidFill>
              </a:rPr>
              <a:t>en</a:t>
            </a:r>
            <a:r>
              <a:rPr lang="en-US" sz="1900" b="1" dirty="0">
                <a:solidFill>
                  <a:schemeClr val="tx1"/>
                </a:solidFill>
              </a:rPr>
              <a:t> el SERP</a:t>
            </a:r>
            <a:r>
              <a:rPr lang="en-US" sz="1900" dirty="0">
                <a:solidFill>
                  <a:schemeClr val="accent5"/>
                </a:solidFill>
              </a:rPr>
              <a:t>  ·  métricas: ranking, clicks through rate y tráfico orgánico</a:t>
            </a:r>
            <a:endParaRPr lang="en-US" sz="1900" dirty="0"/>
          </a:p>
        </p:txBody>
      </p:sp>
      <p:sp>
        <p:nvSpPr>
          <p:cNvPr id="50"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FF69E-3074-5467-1C01-BA1B508FE88B}"/>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2F199EDA-CF8A-C114-48BA-61EC5C14417C}"/>
              </a:ext>
            </a:extLst>
          </p:cNvPr>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a:t>
            </a:r>
            <a:r>
              <a:rPr lang="en-US" sz="3400" b="1" dirty="0" err="1">
                <a:solidFill>
                  <a:schemeClr val="tx1"/>
                </a:solidFill>
              </a:rPr>
              <a:t>Qué</a:t>
            </a:r>
            <a:r>
              <a:rPr lang="en-US" sz="3400" b="1" dirty="0">
                <a:solidFill>
                  <a:schemeClr val="tx1"/>
                </a:solidFill>
              </a:rPr>
              <a:t> es SEO?</a:t>
            </a:r>
            <a:endParaRPr lang="en-US" sz="3400" dirty="0"/>
          </a:p>
        </p:txBody>
      </p:sp>
      <p:pic>
        <p:nvPicPr>
          <p:cNvPr id="48" name="Ícono unidad de éxito (ícono)" descr="preencoded.png">
            <a:extLst>
              <a:ext uri="{FF2B5EF4-FFF2-40B4-BE49-F238E27FC236}">
                <a16:creationId xmlns:a16="http://schemas.microsoft.com/office/drawing/2014/main" id="{6A0F4177-C312-D91C-1CCE-0C7B8164EB12}"/>
              </a:ext>
            </a:extLst>
          </p:cNvPr>
          <p:cNvPicPr>
            <a:picLocks noChangeAspect="1"/>
          </p:cNvPicPr>
          <p:nvPr/>
        </p:nvPicPr>
        <p:blipFill>
          <a:blip r:embed="rId3"/>
          <a:stretch>
            <a:fillRect/>
          </a:stretch>
        </p:blipFill>
        <p:spPr>
          <a:xfrm>
            <a:off x="791139" y="5783763"/>
            <a:ext cx="228234" cy="228234"/>
          </a:xfrm>
          <a:prstGeom prst="rect">
            <a:avLst/>
          </a:prstGeom>
        </p:spPr>
      </p:pic>
      <p:sp>
        <p:nvSpPr>
          <p:cNvPr id="50" name="Slide Number Placeholder 0">
            <a:extLst>
              <a:ext uri="{FF2B5EF4-FFF2-40B4-BE49-F238E27FC236}">
                <a16:creationId xmlns:a16="http://schemas.microsoft.com/office/drawing/2014/main" id="{89A62A7A-E16E-4546-3857-ACCB0DFD8BE6}"/>
              </a:ext>
            </a:extLst>
          </p:cNvPr>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3</a:t>
            </a:fld>
            <a:endParaRPr lang="en-US"/>
          </a:p>
        </p:txBody>
      </p:sp>
      <p:sp>
        <p:nvSpPr>
          <p:cNvPr id="60" name="Respuesta del motor generativo">
            <a:extLst>
              <a:ext uri="{FF2B5EF4-FFF2-40B4-BE49-F238E27FC236}">
                <a16:creationId xmlns:a16="http://schemas.microsoft.com/office/drawing/2014/main" id="{393FA421-DD07-B7C3-D9C9-19646AB7FBE8}"/>
              </a:ext>
            </a:extLst>
          </p:cNvPr>
          <p:cNvSpPr/>
          <p:nvPr/>
        </p:nvSpPr>
        <p:spPr>
          <a:xfrm>
            <a:off x="5486400" y="384049"/>
            <a:ext cx="6153911" cy="5852850"/>
          </a:xfrm>
          <a:prstGeom prst="roundRect">
            <a:avLst>
              <a:gd name="adj" fmla="val 9167"/>
            </a:avLst>
          </a:prstGeom>
          <a:solidFill>
            <a:schemeClr val="bg1"/>
          </a:solidFill>
          <a:ln w="12700">
            <a:solidFill>
              <a:schemeClr val="bg2"/>
            </a:solidFill>
            <a:prstDash val="solid"/>
          </a:ln>
          <a:effectLst>
            <a:outerShdw blurRad="101600" dist="25400" dir="5400000" algn="bl" rotWithShape="0">
              <a:srgbClr val="1B2A41">
                <a:alpha val="12000"/>
              </a:srgbClr>
            </a:outerShdw>
          </a:effectLst>
        </p:spPr>
        <p:txBody>
          <a:bodyPr/>
          <a:lstStyle/>
          <a:p>
            <a:endParaRPr lang="es-AR"/>
          </a:p>
        </p:txBody>
      </p:sp>
      <p:pic>
        <p:nvPicPr>
          <p:cNvPr id="62" name="Picture 61">
            <a:extLst>
              <a:ext uri="{FF2B5EF4-FFF2-40B4-BE49-F238E27FC236}">
                <a16:creationId xmlns:a16="http://schemas.microsoft.com/office/drawing/2014/main" id="{503FAC8D-E4C4-5392-58CF-9AE52B48A057}"/>
              </a:ext>
            </a:extLst>
          </p:cNvPr>
          <p:cNvPicPr>
            <a:picLocks noChangeAspect="1"/>
          </p:cNvPicPr>
          <p:nvPr/>
        </p:nvPicPr>
        <p:blipFill>
          <a:blip r:embed="rId4"/>
          <a:stretch>
            <a:fillRect/>
          </a:stretch>
        </p:blipFill>
        <p:spPr>
          <a:xfrm>
            <a:off x="6181026" y="398121"/>
            <a:ext cx="4764657" cy="5072958"/>
          </a:xfrm>
          <a:prstGeom prst="rect">
            <a:avLst/>
          </a:prstGeom>
        </p:spPr>
      </p:pic>
      <p:pic>
        <p:nvPicPr>
          <p:cNvPr id="64" name="Picture 63">
            <a:extLst>
              <a:ext uri="{FF2B5EF4-FFF2-40B4-BE49-F238E27FC236}">
                <a16:creationId xmlns:a16="http://schemas.microsoft.com/office/drawing/2014/main" id="{66421F50-9F63-A68A-2B51-FA512CE6DEFF}"/>
              </a:ext>
            </a:extLst>
          </p:cNvPr>
          <p:cNvPicPr>
            <a:picLocks noChangeAspect="1"/>
          </p:cNvPicPr>
          <p:nvPr/>
        </p:nvPicPr>
        <p:blipFill>
          <a:blip r:embed="rId5"/>
          <a:stretch>
            <a:fillRect/>
          </a:stretch>
        </p:blipFill>
        <p:spPr>
          <a:xfrm>
            <a:off x="6960480" y="5562194"/>
            <a:ext cx="2641736" cy="622332"/>
          </a:xfrm>
          <a:prstGeom prst="rect">
            <a:avLst/>
          </a:prstGeom>
        </p:spPr>
      </p:pic>
      <p:sp>
        <p:nvSpPr>
          <p:cNvPr id="66" name="Tarjeta SEO">
            <a:extLst>
              <a:ext uri="{FF2B5EF4-FFF2-40B4-BE49-F238E27FC236}">
                <a16:creationId xmlns:a16="http://schemas.microsoft.com/office/drawing/2014/main" id="{AC3DB01C-A0E7-0F15-5A73-993CC6C402FD}"/>
              </a:ext>
            </a:extLst>
          </p:cNvPr>
          <p:cNvSpPr/>
          <p:nvPr/>
        </p:nvSpPr>
        <p:spPr>
          <a:xfrm>
            <a:off x="935248" y="2734574"/>
            <a:ext cx="3678303" cy="1017917"/>
          </a:xfrm>
          <a:prstGeom prst="roundRect">
            <a:avLst>
              <a:gd name="adj" fmla="val 7742"/>
            </a:avLst>
          </a:prstGeom>
          <a:solidFill>
            <a:schemeClr val="bg2"/>
          </a:solidFill>
          <a:ln w="12700">
            <a:solidFill>
              <a:schemeClr val="bg2"/>
            </a:solidFill>
            <a:prstDash val="solid"/>
          </a:ln>
        </p:spPr>
        <p:txBody>
          <a:bodyPr/>
          <a:lstStyle/>
          <a:p>
            <a:endParaRPr lang="es-AR"/>
          </a:p>
        </p:txBody>
      </p:sp>
      <p:sp>
        <p:nvSpPr>
          <p:cNvPr id="68" name="Ícono SEO (círculo)">
            <a:extLst>
              <a:ext uri="{FF2B5EF4-FFF2-40B4-BE49-F238E27FC236}">
                <a16:creationId xmlns:a16="http://schemas.microsoft.com/office/drawing/2014/main" id="{AED168AB-CB4E-08A8-04C1-9A618AC9B3B5}"/>
              </a:ext>
            </a:extLst>
          </p:cNvPr>
          <p:cNvSpPr/>
          <p:nvPr/>
        </p:nvSpPr>
        <p:spPr>
          <a:xfrm>
            <a:off x="1163848" y="2990606"/>
            <a:ext cx="658368" cy="658368"/>
          </a:xfrm>
          <a:prstGeom prst="ellipse">
            <a:avLst/>
          </a:prstGeom>
          <a:solidFill>
            <a:schemeClr val="tx1"/>
          </a:solidFill>
          <a:ln w="12700">
            <a:solidFill>
              <a:schemeClr val="tx1"/>
            </a:solidFill>
            <a:prstDash val="solid"/>
          </a:ln>
        </p:spPr>
        <p:txBody>
          <a:bodyPr/>
          <a:lstStyle/>
          <a:p>
            <a:endParaRPr lang="es-AR"/>
          </a:p>
        </p:txBody>
      </p:sp>
      <p:pic>
        <p:nvPicPr>
          <p:cNvPr id="70" name="Ícono SEO (ícono)" descr="preencoded.png">
            <a:extLst>
              <a:ext uri="{FF2B5EF4-FFF2-40B4-BE49-F238E27FC236}">
                <a16:creationId xmlns:a16="http://schemas.microsoft.com/office/drawing/2014/main" id="{8D231505-8018-BD3B-4298-0A4D7B4F1CAD}"/>
              </a:ext>
            </a:extLst>
          </p:cNvPr>
          <p:cNvPicPr>
            <a:picLocks noChangeAspect="1"/>
          </p:cNvPicPr>
          <p:nvPr/>
        </p:nvPicPr>
        <p:blipFill>
          <a:blip r:embed="rId6"/>
          <a:stretch>
            <a:fillRect/>
          </a:stretch>
        </p:blipFill>
        <p:spPr>
          <a:xfrm>
            <a:off x="1321856" y="3148614"/>
            <a:ext cx="342351" cy="342351"/>
          </a:xfrm>
          <a:prstGeom prst="rect">
            <a:avLst/>
          </a:prstGeom>
        </p:spPr>
      </p:pic>
      <p:sp>
        <p:nvSpPr>
          <p:cNvPr id="72" name="Título SEO">
            <a:extLst>
              <a:ext uri="{FF2B5EF4-FFF2-40B4-BE49-F238E27FC236}">
                <a16:creationId xmlns:a16="http://schemas.microsoft.com/office/drawing/2014/main" id="{CF812894-0300-D19B-B369-D0CB56D0CBA9}"/>
              </a:ext>
            </a:extLst>
          </p:cNvPr>
          <p:cNvSpPr txBox="1"/>
          <p:nvPr/>
        </p:nvSpPr>
        <p:spPr>
          <a:xfrm>
            <a:off x="2078248" y="2899166"/>
            <a:ext cx="2302390" cy="365760"/>
          </a:xfrm>
          <a:prstGeom prst="rect">
            <a:avLst/>
          </a:prstGeom>
          <a:noFill/>
          <a:ln/>
        </p:spPr>
        <p:txBody>
          <a:bodyPr wrap="square" lIns="0" tIns="0" rIns="0" bIns="0" rtlCol="0" anchor="ctr"/>
          <a:lstStyle/>
          <a:p>
            <a:r>
              <a:rPr lang="en-US" sz="2400" b="1" dirty="0"/>
              <a:t>Unidad de </a:t>
            </a:r>
            <a:r>
              <a:rPr lang="en-US" sz="2400" b="1" dirty="0" err="1"/>
              <a:t>éxito</a:t>
            </a:r>
            <a:endParaRPr lang="en-US" sz="2200" dirty="0"/>
          </a:p>
        </p:txBody>
      </p:sp>
      <p:sp>
        <p:nvSpPr>
          <p:cNvPr id="74" name="Texto SEO">
            <a:extLst>
              <a:ext uri="{FF2B5EF4-FFF2-40B4-BE49-F238E27FC236}">
                <a16:creationId xmlns:a16="http://schemas.microsoft.com/office/drawing/2014/main" id="{7D96B915-038D-1133-2D44-402BB0955B6C}"/>
              </a:ext>
            </a:extLst>
          </p:cNvPr>
          <p:cNvSpPr txBox="1"/>
          <p:nvPr/>
        </p:nvSpPr>
        <p:spPr>
          <a:xfrm>
            <a:off x="2078248" y="3283214"/>
            <a:ext cx="2466292" cy="469277"/>
          </a:xfrm>
          <a:prstGeom prst="rect">
            <a:avLst/>
          </a:prstGeom>
          <a:noFill/>
          <a:ln/>
        </p:spPr>
        <p:txBody>
          <a:bodyPr wrap="square" lIns="0" tIns="0" rIns="0" bIns="0" rtlCol="0" anchor="t"/>
          <a:lstStyle/>
          <a:p>
            <a:r>
              <a:rPr lang="en-US" dirty="0" err="1"/>
              <a:t>Rankear</a:t>
            </a:r>
            <a:r>
              <a:rPr lang="en-US" dirty="0"/>
              <a:t> alto </a:t>
            </a:r>
            <a:r>
              <a:rPr lang="en-US" dirty="0" err="1"/>
              <a:t>en</a:t>
            </a:r>
            <a:r>
              <a:rPr lang="en-US" dirty="0"/>
              <a:t> el SERP</a:t>
            </a:r>
            <a:endParaRPr lang="en-US" sz="1700" dirty="0"/>
          </a:p>
        </p:txBody>
      </p:sp>
    </p:spTree>
    <p:extLst>
      <p:ext uri="{BB962C8B-B14F-4D97-AF65-F5344CB8AC3E}">
        <p14:creationId xmlns:p14="http://schemas.microsoft.com/office/powerpoint/2010/main" val="150294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a:t>
            </a:r>
            <a:r>
              <a:rPr lang="en-US" sz="3400" b="1" dirty="0" err="1">
                <a:solidFill>
                  <a:schemeClr val="tx1"/>
                </a:solidFill>
              </a:rPr>
              <a:t>Qué</a:t>
            </a:r>
            <a:r>
              <a:rPr lang="en-US" sz="3400" b="1" dirty="0">
                <a:solidFill>
                  <a:schemeClr val="tx1"/>
                </a:solidFill>
              </a:rPr>
              <a:t> es GEO?</a:t>
            </a:r>
            <a:endParaRPr lang="en-US" sz="3400" dirty="0"/>
          </a:p>
        </p:txBody>
      </p:sp>
      <p:sp>
        <p:nvSpPr>
          <p:cNvPr id="3" name="Text 1"/>
          <p:cNvSpPr>
            <a:spLocks noGrp="1"/>
          </p:cNvSpPr>
          <p:nvPr>
            <p:ph type="body" idx="102" hasCustomPrompt="1"/>
          </p:nvPr>
        </p:nvSpPr>
        <p:spPr>
          <a:xfrm>
            <a:off x="548640" y="1097280"/>
            <a:ext cx="11091672" cy="384048"/>
          </a:xfrm>
          <a:prstGeom prst="rect">
            <a:avLst/>
          </a:prstGeom>
          <a:noFill/>
          <a:ln/>
        </p:spPr>
        <p:txBody>
          <a:bodyPr wrap="square" lIns="0" tIns="0" rIns="0" bIns="0" rtlCol="0" anchor="ctr"/>
          <a:lstStyle/>
          <a:p>
            <a:pPr marL="0" indent="0">
              <a:buNone/>
            </a:pPr>
            <a:r>
              <a:rPr lang="en-US" sz="1800" dirty="0">
                <a:solidFill>
                  <a:schemeClr val="accent5"/>
                </a:solidFill>
              </a:rPr>
              <a:t>Optimización para motores de búsqueda generativa (GEO): </a:t>
            </a:r>
            <a:r>
              <a:rPr lang="en-US" dirty="0"/>
              <a:t>se </a:t>
            </a:r>
            <a:r>
              <a:rPr lang="en-US" sz="1800" dirty="0" err="1">
                <a:solidFill>
                  <a:schemeClr val="accent5"/>
                </a:solidFill>
              </a:rPr>
              <a:t>busca</a:t>
            </a:r>
            <a:r>
              <a:rPr lang="en-US" sz="1800" dirty="0">
                <a:solidFill>
                  <a:schemeClr val="accent5"/>
                </a:solidFill>
              </a:rPr>
              <a:t> que un contenido sea citado en la respuesta</a:t>
            </a:r>
            <a:endParaRPr lang="en-US" sz="1800" dirty="0"/>
          </a:p>
        </p:txBody>
      </p:sp>
      <p:sp>
        <p:nvSpPr>
          <p:cNvPr id="4" name="Paso 1 (círculo)"/>
          <p:cNvSpPr/>
          <p:nvPr/>
        </p:nvSpPr>
        <p:spPr>
          <a:xfrm>
            <a:off x="548640" y="1783080"/>
            <a:ext cx="685800" cy="685800"/>
          </a:xfrm>
          <a:prstGeom prst="ellipse">
            <a:avLst/>
          </a:prstGeom>
          <a:solidFill>
            <a:schemeClr val="accent2"/>
          </a:solidFill>
          <a:ln w="12700">
            <a:solidFill>
              <a:schemeClr val="accent2"/>
            </a:solidFill>
            <a:prstDash val="solid"/>
          </a:ln>
        </p:spPr>
        <p:txBody>
          <a:bodyPr/>
          <a:lstStyle/>
          <a:p>
            <a:endParaRPr lang="es-AR"/>
          </a:p>
        </p:txBody>
      </p:sp>
      <p:pic>
        <p:nvPicPr>
          <p:cNvPr id="5" name="Paso 1 (ícono)" descr="preencoded.png"/>
          <p:cNvPicPr>
            <a:picLocks noChangeAspect="1"/>
          </p:cNvPicPr>
          <p:nvPr/>
        </p:nvPicPr>
        <p:blipFill>
          <a:blip r:embed="rId3"/>
          <a:stretch>
            <a:fillRect/>
          </a:stretch>
        </p:blipFill>
        <p:spPr>
          <a:xfrm>
            <a:off x="713232" y="1947672"/>
            <a:ext cx="356616" cy="356616"/>
          </a:xfrm>
          <a:prstGeom prst="rect">
            <a:avLst/>
          </a:prstGeom>
        </p:spPr>
      </p:pic>
      <p:sp>
        <p:nvSpPr>
          <p:cNvPr id="6" name="Título paso 1"/>
          <p:cNvSpPr txBox="1"/>
          <p:nvPr/>
        </p:nvSpPr>
        <p:spPr>
          <a:xfrm>
            <a:off x="1463040" y="1764792"/>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Pregunta</a:t>
            </a:r>
            <a:endParaRPr lang="en-US" sz="2100" dirty="0"/>
          </a:p>
        </p:txBody>
      </p:sp>
      <p:sp>
        <p:nvSpPr>
          <p:cNvPr id="7" name="Texto paso 1"/>
          <p:cNvSpPr txBox="1"/>
          <p:nvPr/>
        </p:nvSpPr>
        <p:spPr>
          <a:xfrm>
            <a:off x="1463040" y="2167128"/>
            <a:ext cx="3429000" cy="685800"/>
          </a:xfrm>
          <a:prstGeom prst="rect">
            <a:avLst/>
          </a:prstGeom>
          <a:noFill/>
          <a:ln/>
        </p:spPr>
        <p:txBody>
          <a:bodyPr wrap="square" lIns="0" tIns="0" rIns="0" bIns="0" rtlCol="0" anchor="t"/>
          <a:lstStyle/>
          <a:p>
            <a:pPr marL="0" indent="0">
              <a:buNone/>
            </a:pPr>
            <a:r>
              <a:rPr lang="en-US" sz="1700" dirty="0">
                <a:solidFill>
                  <a:schemeClr val="accent5"/>
                </a:solidFill>
              </a:rPr>
              <a:t>El lector consulta en lenguaje natural.</a:t>
            </a:r>
            <a:endParaRPr lang="en-US" sz="1700" dirty="0"/>
          </a:p>
        </p:txBody>
      </p:sp>
      <p:sp>
        <p:nvSpPr>
          <p:cNvPr id="8" name="Flecha paso 1"/>
          <p:cNvSpPr/>
          <p:nvPr/>
        </p:nvSpPr>
        <p:spPr>
          <a:xfrm>
            <a:off x="891540" y="2532888"/>
            <a:ext cx="0" cy="457200"/>
          </a:xfrm>
          <a:prstGeom prst="line">
            <a:avLst/>
          </a:prstGeom>
          <a:noFill/>
          <a:ln w="25400">
            <a:solidFill>
              <a:schemeClr val="accent2"/>
            </a:solidFill>
            <a:prstDash val="solid"/>
            <a:tailEnd type="triangle"/>
          </a:ln>
        </p:spPr>
        <p:txBody>
          <a:bodyPr/>
          <a:lstStyle/>
          <a:p>
            <a:endParaRPr lang="es-AR"/>
          </a:p>
        </p:txBody>
      </p:sp>
      <p:sp>
        <p:nvSpPr>
          <p:cNvPr id="9" name="Paso 2 (círculo)"/>
          <p:cNvSpPr/>
          <p:nvPr/>
        </p:nvSpPr>
        <p:spPr>
          <a:xfrm>
            <a:off x="548640" y="3044952"/>
            <a:ext cx="685800" cy="685800"/>
          </a:xfrm>
          <a:prstGeom prst="ellipse">
            <a:avLst/>
          </a:prstGeom>
          <a:solidFill>
            <a:schemeClr val="accent2"/>
          </a:solidFill>
          <a:ln w="12700">
            <a:solidFill>
              <a:schemeClr val="accent2"/>
            </a:solidFill>
            <a:prstDash val="solid"/>
          </a:ln>
        </p:spPr>
        <p:txBody>
          <a:bodyPr/>
          <a:lstStyle/>
          <a:p>
            <a:endParaRPr lang="es-AR"/>
          </a:p>
        </p:txBody>
      </p:sp>
      <p:pic>
        <p:nvPicPr>
          <p:cNvPr id="10" name="Paso 2 (ícono)" descr="preencoded.png"/>
          <p:cNvPicPr>
            <a:picLocks noChangeAspect="1"/>
          </p:cNvPicPr>
          <p:nvPr/>
        </p:nvPicPr>
        <p:blipFill>
          <a:blip r:embed="rId4"/>
          <a:stretch>
            <a:fillRect/>
          </a:stretch>
        </p:blipFill>
        <p:spPr>
          <a:xfrm>
            <a:off x="713232" y="3209544"/>
            <a:ext cx="356616" cy="356616"/>
          </a:xfrm>
          <a:prstGeom prst="rect">
            <a:avLst/>
          </a:prstGeom>
        </p:spPr>
      </p:pic>
      <p:sp>
        <p:nvSpPr>
          <p:cNvPr id="11" name="Título paso 2"/>
          <p:cNvSpPr txBox="1"/>
          <p:nvPr/>
        </p:nvSpPr>
        <p:spPr>
          <a:xfrm>
            <a:off x="1463040" y="3026664"/>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Búsqueda web</a:t>
            </a:r>
            <a:endParaRPr lang="en-US" sz="2100" dirty="0"/>
          </a:p>
        </p:txBody>
      </p:sp>
      <p:sp>
        <p:nvSpPr>
          <p:cNvPr id="12" name="Texto paso 2"/>
          <p:cNvSpPr txBox="1"/>
          <p:nvPr/>
        </p:nvSpPr>
        <p:spPr>
          <a:xfrm>
            <a:off x="1463040" y="3429000"/>
            <a:ext cx="3429000" cy="685800"/>
          </a:xfrm>
          <a:prstGeom prst="rect">
            <a:avLst/>
          </a:prstGeom>
          <a:noFill/>
          <a:ln/>
        </p:spPr>
        <p:txBody>
          <a:bodyPr wrap="square" lIns="0" tIns="0" rIns="0" bIns="0" rtlCol="0" anchor="t"/>
          <a:lstStyle/>
          <a:p>
            <a:pPr marL="0" indent="0">
              <a:buNone/>
            </a:pPr>
            <a:r>
              <a:rPr lang="en-US" sz="1700" dirty="0">
                <a:solidFill>
                  <a:schemeClr val="accent5"/>
                </a:solidFill>
              </a:rPr>
              <a:t>El motor reformula la consulta y </a:t>
            </a:r>
            <a:r>
              <a:rPr lang="en-US" sz="1700" dirty="0" err="1">
                <a:solidFill>
                  <a:schemeClr val="accent5"/>
                </a:solidFill>
              </a:rPr>
              <a:t>realiza</a:t>
            </a:r>
            <a:r>
              <a:rPr lang="en-US" sz="1700" dirty="0">
                <a:solidFill>
                  <a:schemeClr val="accent5"/>
                </a:solidFill>
              </a:rPr>
              <a:t> </a:t>
            </a:r>
            <a:r>
              <a:rPr lang="en-US" sz="1700" dirty="0" err="1">
                <a:solidFill>
                  <a:schemeClr val="accent5"/>
                </a:solidFill>
              </a:rPr>
              <a:t>múltiples</a:t>
            </a:r>
            <a:r>
              <a:rPr lang="en-US" sz="1700" dirty="0">
                <a:solidFill>
                  <a:schemeClr val="accent5"/>
                </a:solidFill>
              </a:rPr>
              <a:t> </a:t>
            </a:r>
            <a:r>
              <a:rPr lang="en-US" sz="1700" dirty="0" err="1">
                <a:solidFill>
                  <a:schemeClr val="accent5"/>
                </a:solidFill>
              </a:rPr>
              <a:t>búsquedas</a:t>
            </a:r>
            <a:r>
              <a:rPr lang="en-US" sz="1700" dirty="0">
                <a:solidFill>
                  <a:schemeClr val="accent5"/>
                </a:solidFill>
              </a:rPr>
              <a:t> web </a:t>
            </a:r>
            <a:r>
              <a:rPr lang="en-US" sz="1700" dirty="0" err="1">
                <a:solidFill>
                  <a:schemeClr val="accent5"/>
                </a:solidFill>
              </a:rPr>
              <a:t>en</a:t>
            </a:r>
            <a:r>
              <a:rPr lang="en-US" sz="1700" dirty="0">
                <a:solidFill>
                  <a:schemeClr val="accent5"/>
                </a:solidFill>
              </a:rPr>
              <a:t> </a:t>
            </a:r>
            <a:r>
              <a:rPr lang="en-US" sz="1700" dirty="0" err="1">
                <a:solidFill>
                  <a:schemeClr val="accent5"/>
                </a:solidFill>
              </a:rPr>
              <a:t>paralelo</a:t>
            </a:r>
            <a:r>
              <a:rPr lang="en-US" sz="1700" dirty="0">
                <a:solidFill>
                  <a:schemeClr val="accent5"/>
                </a:solidFill>
              </a:rPr>
              <a:t>.</a:t>
            </a:r>
            <a:endParaRPr lang="en-US" sz="1700" dirty="0"/>
          </a:p>
        </p:txBody>
      </p:sp>
      <p:sp>
        <p:nvSpPr>
          <p:cNvPr id="13" name="Flecha paso 2"/>
          <p:cNvSpPr/>
          <p:nvPr/>
        </p:nvSpPr>
        <p:spPr>
          <a:xfrm>
            <a:off x="891540" y="3794760"/>
            <a:ext cx="0" cy="457200"/>
          </a:xfrm>
          <a:prstGeom prst="line">
            <a:avLst/>
          </a:prstGeom>
          <a:noFill/>
          <a:ln w="25400">
            <a:solidFill>
              <a:schemeClr val="accent2"/>
            </a:solidFill>
            <a:prstDash val="solid"/>
            <a:tailEnd type="triangle"/>
          </a:ln>
        </p:spPr>
        <p:txBody>
          <a:bodyPr/>
          <a:lstStyle/>
          <a:p>
            <a:endParaRPr lang="es-AR"/>
          </a:p>
        </p:txBody>
      </p:sp>
      <p:sp>
        <p:nvSpPr>
          <p:cNvPr id="14" name="Paso 3 (círculo)"/>
          <p:cNvSpPr/>
          <p:nvPr/>
        </p:nvSpPr>
        <p:spPr>
          <a:xfrm>
            <a:off x="548640" y="4306824"/>
            <a:ext cx="685800" cy="685800"/>
          </a:xfrm>
          <a:prstGeom prst="ellipse">
            <a:avLst/>
          </a:prstGeom>
          <a:solidFill>
            <a:schemeClr val="accent2"/>
          </a:solidFill>
          <a:ln w="12700">
            <a:solidFill>
              <a:schemeClr val="accent2"/>
            </a:solidFill>
            <a:prstDash val="solid"/>
          </a:ln>
        </p:spPr>
        <p:txBody>
          <a:bodyPr/>
          <a:lstStyle/>
          <a:p>
            <a:endParaRPr lang="es-AR"/>
          </a:p>
        </p:txBody>
      </p:sp>
      <p:pic>
        <p:nvPicPr>
          <p:cNvPr id="15" name="Paso 3 (ícono)" descr="preencoded.png"/>
          <p:cNvPicPr>
            <a:picLocks noChangeAspect="1"/>
          </p:cNvPicPr>
          <p:nvPr/>
        </p:nvPicPr>
        <p:blipFill>
          <a:blip r:embed="rId5"/>
          <a:stretch>
            <a:fillRect/>
          </a:stretch>
        </p:blipFill>
        <p:spPr>
          <a:xfrm>
            <a:off x="713232" y="4471416"/>
            <a:ext cx="356616" cy="356616"/>
          </a:xfrm>
          <a:prstGeom prst="rect">
            <a:avLst/>
          </a:prstGeom>
        </p:spPr>
      </p:pic>
      <p:sp>
        <p:nvSpPr>
          <p:cNvPr id="16" name="Título paso 3"/>
          <p:cNvSpPr txBox="1"/>
          <p:nvPr/>
        </p:nvSpPr>
        <p:spPr>
          <a:xfrm>
            <a:off x="1463040" y="4288536"/>
            <a:ext cx="3429000" cy="384048"/>
          </a:xfrm>
          <a:prstGeom prst="rect">
            <a:avLst/>
          </a:prstGeom>
          <a:noFill/>
          <a:ln/>
        </p:spPr>
        <p:txBody>
          <a:bodyPr wrap="square" lIns="0" tIns="0" rIns="0" bIns="0" rtlCol="0" anchor="ctr"/>
          <a:lstStyle/>
          <a:p>
            <a:pPr marL="0" indent="0">
              <a:buNone/>
            </a:pPr>
            <a:r>
              <a:rPr lang="en-US" sz="2100" b="1" dirty="0">
                <a:solidFill>
                  <a:schemeClr val="tx1"/>
                </a:solidFill>
              </a:rPr>
              <a:t>Respuesta con citas</a:t>
            </a:r>
            <a:endParaRPr lang="en-US" sz="2100" dirty="0"/>
          </a:p>
        </p:txBody>
      </p:sp>
      <p:sp>
        <p:nvSpPr>
          <p:cNvPr id="17" name="Texto paso 3"/>
          <p:cNvSpPr txBox="1"/>
          <p:nvPr/>
        </p:nvSpPr>
        <p:spPr>
          <a:xfrm>
            <a:off x="1463040" y="4690872"/>
            <a:ext cx="3429000" cy="685800"/>
          </a:xfrm>
          <a:prstGeom prst="rect">
            <a:avLst/>
          </a:prstGeom>
          <a:noFill/>
          <a:ln/>
        </p:spPr>
        <p:txBody>
          <a:bodyPr wrap="square" lIns="0" tIns="0" rIns="0" bIns="0" rtlCol="0" anchor="t"/>
          <a:lstStyle/>
          <a:p>
            <a:pPr marL="0" indent="0">
              <a:buNone/>
            </a:pPr>
            <a:r>
              <a:rPr lang="en-US" sz="1700" dirty="0">
                <a:solidFill>
                  <a:schemeClr val="accent5"/>
                </a:solidFill>
              </a:rPr>
              <a:t>Un LLM </a:t>
            </a:r>
            <a:r>
              <a:rPr lang="en-US" sz="1700" dirty="0" err="1">
                <a:solidFill>
                  <a:schemeClr val="accent5"/>
                </a:solidFill>
              </a:rPr>
              <a:t>sintetiza</a:t>
            </a:r>
            <a:r>
              <a:rPr lang="en-US" sz="1700" dirty="0">
                <a:solidFill>
                  <a:schemeClr val="accent5"/>
                </a:solidFill>
              </a:rPr>
              <a:t> la </a:t>
            </a:r>
            <a:r>
              <a:rPr lang="en-US" sz="1700" dirty="0" err="1">
                <a:solidFill>
                  <a:schemeClr val="accent5"/>
                </a:solidFill>
              </a:rPr>
              <a:t>información</a:t>
            </a:r>
            <a:r>
              <a:rPr lang="en-US" sz="1700" dirty="0">
                <a:solidFill>
                  <a:schemeClr val="accent5"/>
                </a:solidFill>
              </a:rPr>
              <a:t> y </a:t>
            </a:r>
            <a:r>
              <a:rPr lang="en-US" sz="1700" dirty="0" err="1">
                <a:solidFill>
                  <a:schemeClr val="accent5"/>
                </a:solidFill>
              </a:rPr>
              <a:t>cita</a:t>
            </a:r>
            <a:r>
              <a:rPr lang="en-US" sz="1700" dirty="0">
                <a:solidFill>
                  <a:schemeClr val="accent5"/>
                </a:solidFill>
              </a:rPr>
              <a:t> las </a:t>
            </a:r>
            <a:r>
              <a:rPr lang="en-US" sz="1700" dirty="0" err="1">
                <a:solidFill>
                  <a:schemeClr val="accent5"/>
                </a:solidFill>
              </a:rPr>
              <a:t>fuentes</a:t>
            </a:r>
            <a:r>
              <a:rPr lang="en-US" sz="1700" dirty="0">
                <a:solidFill>
                  <a:schemeClr val="accent5"/>
                </a:solidFill>
              </a:rPr>
              <a:t> </a:t>
            </a:r>
            <a:r>
              <a:rPr lang="en-US" sz="1700" dirty="0" err="1">
                <a:solidFill>
                  <a:schemeClr val="accent5"/>
                </a:solidFill>
              </a:rPr>
              <a:t>en</a:t>
            </a:r>
            <a:r>
              <a:rPr lang="en-US" sz="1700" dirty="0">
                <a:solidFill>
                  <a:schemeClr val="accent5"/>
                </a:solidFill>
              </a:rPr>
              <a:t> </a:t>
            </a:r>
            <a:r>
              <a:rPr lang="en-US" sz="1700" dirty="0" err="1">
                <a:solidFill>
                  <a:schemeClr val="accent5"/>
                </a:solidFill>
              </a:rPr>
              <a:t>su</a:t>
            </a:r>
            <a:r>
              <a:rPr lang="en-US" sz="1700" dirty="0">
                <a:solidFill>
                  <a:schemeClr val="accent5"/>
                </a:solidFill>
              </a:rPr>
              <a:t> </a:t>
            </a:r>
            <a:r>
              <a:rPr lang="en-US" sz="1700" dirty="0" err="1">
                <a:solidFill>
                  <a:schemeClr val="accent5"/>
                </a:solidFill>
              </a:rPr>
              <a:t>respuesta</a:t>
            </a:r>
            <a:r>
              <a:rPr lang="en-US" sz="1700" dirty="0">
                <a:solidFill>
                  <a:schemeClr val="accent5"/>
                </a:solidFill>
              </a:rPr>
              <a:t>.</a:t>
            </a:r>
            <a:endParaRPr lang="en-US" sz="1700" dirty="0"/>
          </a:p>
        </p:txBody>
      </p:sp>
      <p:sp>
        <p:nvSpPr>
          <p:cNvPr id="18" name="Respuesta del motor generativo"/>
          <p:cNvSpPr/>
          <p:nvPr/>
        </p:nvSpPr>
        <p:spPr>
          <a:xfrm>
            <a:off x="5257800" y="1691640"/>
            <a:ext cx="6382512" cy="3749040"/>
          </a:xfrm>
          <a:prstGeom prst="roundRect">
            <a:avLst>
              <a:gd name="adj" fmla="val 3415"/>
            </a:avLst>
          </a:prstGeom>
          <a:solidFill>
            <a:schemeClr val="bg1"/>
          </a:solidFill>
          <a:ln w="12700">
            <a:solidFill>
              <a:schemeClr val="bg2"/>
            </a:solidFill>
            <a:prstDash val="solid"/>
          </a:ln>
          <a:effectLst>
            <a:outerShdw blurRad="101600" dist="25400" dir="5400000" algn="bl" rotWithShape="0">
              <a:srgbClr val="1B2A41">
                <a:alpha val="12000"/>
              </a:srgbClr>
            </a:outerShdw>
          </a:effectLst>
        </p:spPr>
        <p:txBody>
          <a:bodyPr/>
          <a:lstStyle/>
          <a:p>
            <a:endParaRPr lang="es-AR"/>
          </a:p>
        </p:txBody>
      </p:sp>
      <p:sp>
        <p:nvSpPr>
          <p:cNvPr id="19" name="Pregunta del lector"/>
          <p:cNvSpPr/>
          <p:nvPr/>
        </p:nvSpPr>
        <p:spPr>
          <a:xfrm>
            <a:off x="7086600" y="1874520"/>
            <a:ext cx="4279392" cy="457200"/>
          </a:xfrm>
          <a:prstGeom prst="roundRect">
            <a:avLst>
              <a:gd name="adj" fmla="val 50000"/>
            </a:avLst>
          </a:prstGeom>
          <a:solidFill>
            <a:schemeClr val="bg2"/>
          </a:solidFill>
          <a:ln w="12700">
            <a:solidFill>
              <a:schemeClr val="bg2"/>
            </a:solidFill>
            <a:prstDash val="solid"/>
          </a:ln>
        </p:spPr>
        <p:txBody>
          <a:bodyPr/>
          <a:lstStyle/>
          <a:p>
            <a:endParaRPr lang="es-AR"/>
          </a:p>
        </p:txBody>
      </p:sp>
      <p:sp>
        <p:nvSpPr>
          <p:cNvPr id="20" name="Texto pregunta"/>
          <p:cNvSpPr txBox="1"/>
          <p:nvPr/>
        </p:nvSpPr>
        <p:spPr>
          <a:xfrm>
            <a:off x="7269480" y="1874520"/>
            <a:ext cx="4023360" cy="457200"/>
          </a:xfrm>
          <a:prstGeom prst="rect">
            <a:avLst/>
          </a:prstGeom>
          <a:noFill/>
          <a:ln/>
        </p:spPr>
        <p:txBody>
          <a:bodyPr wrap="square" lIns="0" tIns="0" rIns="0" bIns="0" rtlCol="0" anchor="ctr"/>
          <a:lstStyle/>
          <a:p>
            <a:pPr marL="0" indent="0">
              <a:buNone/>
            </a:pPr>
            <a:r>
              <a:rPr lang="en-US" sz="1400" i="1" dirty="0">
                <a:solidFill>
                  <a:schemeClr val="tx1"/>
                </a:solidFill>
              </a:rPr>
              <a:t>¿Qué novela romántica argentina me recomendás?</a:t>
            </a:r>
            <a:endParaRPr lang="en-US" sz="1400" dirty="0"/>
          </a:p>
        </p:txBody>
      </p:sp>
      <p:pic>
        <p:nvPicPr>
          <p:cNvPr id="21" name="Ícono búsquedas" descr="preencoded.png"/>
          <p:cNvPicPr>
            <a:picLocks noChangeAspect="1"/>
          </p:cNvPicPr>
          <p:nvPr/>
        </p:nvPicPr>
        <p:blipFill>
          <a:blip r:embed="rId6"/>
          <a:stretch>
            <a:fillRect/>
          </a:stretch>
        </p:blipFill>
        <p:spPr>
          <a:xfrm>
            <a:off x="5532120" y="2487168"/>
            <a:ext cx="219456" cy="219456"/>
          </a:xfrm>
          <a:prstGeom prst="rect">
            <a:avLst/>
          </a:prstGeom>
        </p:spPr>
      </p:pic>
      <p:sp>
        <p:nvSpPr>
          <p:cNvPr id="22" name="Rótulo búsquedas"/>
          <p:cNvSpPr txBox="1"/>
          <p:nvPr/>
        </p:nvSpPr>
        <p:spPr>
          <a:xfrm>
            <a:off x="5852160" y="2450592"/>
            <a:ext cx="2743200" cy="292608"/>
          </a:xfrm>
          <a:prstGeom prst="rect">
            <a:avLst/>
          </a:prstGeom>
          <a:noFill/>
          <a:ln/>
        </p:spPr>
        <p:txBody>
          <a:bodyPr wrap="square" lIns="0" tIns="0" rIns="0" bIns="0" rtlCol="0" anchor="ctr"/>
          <a:lstStyle/>
          <a:p>
            <a:pPr marL="0" indent="0">
              <a:buNone/>
            </a:pPr>
            <a:r>
              <a:rPr lang="en-US" sz="1300" b="1" dirty="0">
                <a:solidFill>
                  <a:schemeClr val="accent5"/>
                </a:solidFill>
              </a:rPr>
              <a:t>Búsquedas en la web</a:t>
            </a:r>
            <a:endParaRPr lang="en-US" sz="1300" dirty="0"/>
          </a:p>
        </p:txBody>
      </p:sp>
      <p:sp>
        <p:nvSpPr>
          <p:cNvPr id="23" name="Búsqueda 1"/>
          <p:cNvSpPr/>
          <p:nvPr/>
        </p:nvSpPr>
        <p:spPr>
          <a:xfrm>
            <a:off x="5532120" y="2779776"/>
            <a:ext cx="2240280" cy="329184"/>
          </a:xfrm>
          <a:prstGeom prst="roundRect">
            <a:avLst>
              <a:gd name="adj" fmla="val 50000"/>
            </a:avLst>
          </a:prstGeom>
          <a:solidFill>
            <a:schemeClr val="bg1"/>
          </a:solidFill>
          <a:ln w="12700">
            <a:solidFill>
              <a:schemeClr val="accent2"/>
            </a:solidFill>
            <a:prstDash val="solid"/>
          </a:ln>
        </p:spPr>
        <p:txBody>
          <a:bodyPr/>
          <a:lstStyle/>
          <a:p>
            <a:endParaRPr lang="es-AR"/>
          </a:p>
        </p:txBody>
      </p:sp>
      <p:sp>
        <p:nvSpPr>
          <p:cNvPr id="24" name="Texto búsqueda 1"/>
          <p:cNvSpPr txBox="1"/>
          <p:nvPr/>
        </p:nvSpPr>
        <p:spPr>
          <a:xfrm>
            <a:off x="5532120" y="2779776"/>
            <a:ext cx="2240280" cy="329184"/>
          </a:xfrm>
          <a:prstGeom prst="rect">
            <a:avLst/>
          </a:prstGeom>
          <a:noFill/>
          <a:ln/>
        </p:spPr>
        <p:txBody>
          <a:bodyPr wrap="square" lIns="0" tIns="0" rIns="0" bIns="0" rtlCol="0" anchor="ctr"/>
          <a:lstStyle/>
          <a:p>
            <a:pPr marL="0" indent="0" algn="ctr">
              <a:buNone/>
            </a:pPr>
            <a:r>
              <a:rPr lang="en-US" sz="1200" dirty="0">
                <a:solidFill>
                  <a:schemeClr val="tx1"/>
                </a:solidFill>
              </a:rPr>
              <a:t>novela romántica argentina</a:t>
            </a:r>
            <a:endParaRPr lang="en-US" sz="1200" dirty="0"/>
          </a:p>
        </p:txBody>
      </p:sp>
      <p:sp>
        <p:nvSpPr>
          <p:cNvPr id="25" name="Búsqueda 2"/>
          <p:cNvSpPr/>
          <p:nvPr/>
        </p:nvSpPr>
        <p:spPr>
          <a:xfrm>
            <a:off x="7936992" y="2779776"/>
            <a:ext cx="1600200" cy="329184"/>
          </a:xfrm>
          <a:prstGeom prst="roundRect">
            <a:avLst>
              <a:gd name="adj" fmla="val 50000"/>
            </a:avLst>
          </a:prstGeom>
          <a:solidFill>
            <a:schemeClr val="bg1"/>
          </a:solidFill>
          <a:ln w="12700">
            <a:solidFill>
              <a:schemeClr val="accent2"/>
            </a:solidFill>
            <a:prstDash val="solid"/>
          </a:ln>
        </p:spPr>
        <p:txBody>
          <a:bodyPr/>
          <a:lstStyle/>
          <a:p>
            <a:endParaRPr lang="es-AR"/>
          </a:p>
        </p:txBody>
      </p:sp>
      <p:sp>
        <p:nvSpPr>
          <p:cNvPr id="26" name="Texto búsqueda 2"/>
          <p:cNvSpPr txBox="1"/>
          <p:nvPr/>
        </p:nvSpPr>
        <p:spPr>
          <a:xfrm>
            <a:off x="7936992" y="2779776"/>
            <a:ext cx="1600200" cy="329184"/>
          </a:xfrm>
          <a:prstGeom prst="rect">
            <a:avLst/>
          </a:prstGeom>
          <a:noFill/>
          <a:ln/>
        </p:spPr>
        <p:txBody>
          <a:bodyPr wrap="square" lIns="0" tIns="0" rIns="0" bIns="0" rtlCol="0" anchor="ctr"/>
          <a:lstStyle/>
          <a:p>
            <a:pPr marL="0" indent="0" algn="ctr">
              <a:buNone/>
            </a:pPr>
            <a:r>
              <a:rPr lang="en-US" sz="1200" dirty="0">
                <a:solidFill>
                  <a:schemeClr val="tx1"/>
                </a:solidFill>
              </a:rPr>
              <a:t>autoras argentinas</a:t>
            </a:r>
            <a:endParaRPr lang="en-US" sz="1200" dirty="0"/>
          </a:p>
        </p:txBody>
      </p:sp>
      <p:sp>
        <p:nvSpPr>
          <p:cNvPr id="27" name="Búsqueda 3"/>
          <p:cNvSpPr/>
          <p:nvPr/>
        </p:nvSpPr>
        <p:spPr>
          <a:xfrm>
            <a:off x="9701784" y="2779776"/>
            <a:ext cx="1325880" cy="329184"/>
          </a:xfrm>
          <a:prstGeom prst="roundRect">
            <a:avLst>
              <a:gd name="adj" fmla="val 50000"/>
            </a:avLst>
          </a:prstGeom>
          <a:solidFill>
            <a:schemeClr val="bg1"/>
          </a:solidFill>
          <a:ln w="12700">
            <a:solidFill>
              <a:schemeClr val="accent2"/>
            </a:solidFill>
            <a:prstDash val="solid"/>
          </a:ln>
        </p:spPr>
        <p:txBody>
          <a:bodyPr/>
          <a:lstStyle/>
          <a:p>
            <a:endParaRPr lang="es-AR"/>
          </a:p>
        </p:txBody>
      </p:sp>
      <p:sp>
        <p:nvSpPr>
          <p:cNvPr id="28" name="Texto búsqueda 3"/>
          <p:cNvSpPr txBox="1"/>
          <p:nvPr/>
        </p:nvSpPr>
        <p:spPr>
          <a:xfrm>
            <a:off x="9701784" y="2779776"/>
            <a:ext cx="1325880" cy="329184"/>
          </a:xfrm>
          <a:prstGeom prst="rect">
            <a:avLst/>
          </a:prstGeom>
          <a:noFill/>
          <a:ln/>
        </p:spPr>
        <p:txBody>
          <a:bodyPr wrap="square" lIns="0" tIns="0" rIns="0" bIns="0" rtlCol="0" anchor="ctr"/>
          <a:lstStyle/>
          <a:p>
            <a:pPr marL="0" indent="0" algn="ctr">
              <a:buNone/>
            </a:pPr>
            <a:r>
              <a:rPr lang="en-US" sz="1200" dirty="0">
                <a:solidFill>
                  <a:schemeClr val="tx1"/>
                </a:solidFill>
              </a:rPr>
              <a:t>romance actual</a:t>
            </a:r>
            <a:endParaRPr lang="en-US" sz="1200" dirty="0"/>
          </a:p>
        </p:txBody>
      </p:sp>
      <p:pic>
        <p:nvPicPr>
          <p:cNvPr id="29" name="Ícono respuesta" descr="preencoded.png"/>
          <p:cNvPicPr>
            <a:picLocks noChangeAspect="1"/>
          </p:cNvPicPr>
          <p:nvPr/>
        </p:nvPicPr>
        <p:blipFill>
          <a:blip r:embed="rId7"/>
          <a:stretch>
            <a:fillRect/>
          </a:stretch>
        </p:blipFill>
        <p:spPr>
          <a:xfrm>
            <a:off x="5532120" y="3291840"/>
            <a:ext cx="219456" cy="219456"/>
          </a:xfrm>
          <a:prstGeom prst="rect">
            <a:avLst/>
          </a:prstGeom>
        </p:spPr>
      </p:pic>
      <p:sp>
        <p:nvSpPr>
          <p:cNvPr id="30" name="Rótulo respuesta generada"/>
          <p:cNvSpPr txBox="1"/>
          <p:nvPr/>
        </p:nvSpPr>
        <p:spPr>
          <a:xfrm>
            <a:off x="5852160" y="3255264"/>
            <a:ext cx="2743200" cy="292608"/>
          </a:xfrm>
          <a:prstGeom prst="rect">
            <a:avLst/>
          </a:prstGeom>
          <a:noFill/>
          <a:ln/>
        </p:spPr>
        <p:txBody>
          <a:bodyPr wrap="square" lIns="0" tIns="0" rIns="0" bIns="0" rtlCol="0" anchor="ctr"/>
          <a:lstStyle/>
          <a:p>
            <a:pPr marL="0" indent="0">
              <a:buNone/>
            </a:pPr>
            <a:r>
              <a:rPr lang="en-US" sz="1300" b="1" dirty="0">
                <a:solidFill>
                  <a:schemeClr val="accent5"/>
                </a:solidFill>
              </a:rPr>
              <a:t>Respuesta generada</a:t>
            </a:r>
            <a:endParaRPr lang="en-US" sz="1300" dirty="0"/>
          </a:p>
        </p:txBody>
      </p:sp>
      <p:sp>
        <p:nvSpPr>
          <p:cNvPr id="31" name="Línea de respuesta 1"/>
          <p:cNvSpPr/>
          <p:nvPr/>
        </p:nvSpPr>
        <p:spPr>
          <a:xfrm>
            <a:off x="5532120" y="3657600"/>
            <a:ext cx="4754880" cy="118872"/>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32" name="Cita 1"/>
          <p:cNvSpPr/>
          <p:nvPr/>
        </p:nvSpPr>
        <p:spPr>
          <a:xfrm>
            <a:off x="10360152" y="3589020"/>
            <a:ext cx="256032" cy="256032"/>
          </a:xfrm>
          <a:prstGeom prst="ellipse">
            <a:avLst/>
          </a:prstGeom>
          <a:solidFill>
            <a:schemeClr val="accent1"/>
          </a:solidFill>
          <a:ln w="12700">
            <a:solidFill>
              <a:schemeClr val="accent1"/>
            </a:solidFill>
            <a:prstDash val="solid"/>
          </a:ln>
        </p:spPr>
        <p:txBody>
          <a:bodyPr/>
          <a:lstStyle/>
          <a:p>
            <a:endParaRPr lang="es-AR"/>
          </a:p>
        </p:txBody>
      </p:sp>
      <p:sp>
        <p:nvSpPr>
          <p:cNvPr id="33" name="Número de cita 1"/>
          <p:cNvSpPr txBox="1"/>
          <p:nvPr/>
        </p:nvSpPr>
        <p:spPr>
          <a:xfrm>
            <a:off x="10360152" y="3589020"/>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34" name="Línea de respuesta 2"/>
          <p:cNvSpPr/>
          <p:nvPr/>
        </p:nvSpPr>
        <p:spPr>
          <a:xfrm>
            <a:off x="5532120" y="3913632"/>
            <a:ext cx="5212080" cy="118872"/>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35" name="Línea de respuesta 3"/>
          <p:cNvSpPr/>
          <p:nvPr/>
        </p:nvSpPr>
        <p:spPr>
          <a:xfrm>
            <a:off x="5532120" y="4169664"/>
            <a:ext cx="3749040" cy="118872"/>
          </a:xfrm>
          <a:prstGeom prst="roundRect">
            <a:avLst>
              <a:gd name="adj" fmla="val 50000"/>
            </a:avLst>
          </a:prstGeom>
          <a:solidFill>
            <a:schemeClr val="accent5">
              <a:alpha val="28000"/>
            </a:schemeClr>
          </a:solidFill>
          <a:ln w="12700">
            <a:solidFill>
              <a:schemeClr val="accent5">
                <a:alpha val="28000"/>
              </a:schemeClr>
            </a:solidFill>
            <a:prstDash val="solid"/>
          </a:ln>
        </p:spPr>
        <p:txBody>
          <a:bodyPr/>
          <a:lstStyle/>
          <a:p>
            <a:endParaRPr lang="es-AR"/>
          </a:p>
        </p:txBody>
      </p:sp>
      <p:sp>
        <p:nvSpPr>
          <p:cNvPr id="36" name="Cita 2"/>
          <p:cNvSpPr/>
          <p:nvPr/>
        </p:nvSpPr>
        <p:spPr>
          <a:xfrm>
            <a:off x="9354312" y="4101084"/>
            <a:ext cx="256032" cy="256032"/>
          </a:xfrm>
          <a:prstGeom prst="ellipse">
            <a:avLst/>
          </a:prstGeom>
          <a:solidFill>
            <a:schemeClr val="accent5"/>
          </a:solidFill>
          <a:ln w="12700">
            <a:solidFill>
              <a:schemeClr val="accent5"/>
            </a:solidFill>
            <a:prstDash val="solid"/>
          </a:ln>
        </p:spPr>
        <p:txBody>
          <a:bodyPr/>
          <a:lstStyle/>
          <a:p>
            <a:endParaRPr lang="es-AR"/>
          </a:p>
        </p:txBody>
      </p:sp>
      <p:sp>
        <p:nvSpPr>
          <p:cNvPr id="37" name="Número de cita 2"/>
          <p:cNvSpPr txBox="1"/>
          <p:nvPr/>
        </p:nvSpPr>
        <p:spPr>
          <a:xfrm>
            <a:off x="9354312" y="4101084"/>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2</a:t>
            </a:r>
            <a:endParaRPr lang="en-US" sz="1000" dirty="0"/>
          </a:p>
        </p:txBody>
      </p:sp>
      <p:sp>
        <p:nvSpPr>
          <p:cNvPr id="38" name="Rótulo fuentes"/>
          <p:cNvSpPr txBox="1"/>
          <p:nvPr/>
        </p:nvSpPr>
        <p:spPr>
          <a:xfrm>
            <a:off x="5532120" y="4315968"/>
            <a:ext cx="1828800" cy="274320"/>
          </a:xfrm>
          <a:prstGeom prst="rect">
            <a:avLst/>
          </a:prstGeom>
          <a:noFill/>
          <a:ln/>
        </p:spPr>
        <p:txBody>
          <a:bodyPr wrap="square" lIns="0" tIns="0" rIns="0" bIns="0" rtlCol="0" anchor="ctr"/>
          <a:lstStyle/>
          <a:p>
            <a:pPr marL="0" indent="0">
              <a:buNone/>
            </a:pPr>
            <a:r>
              <a:rPr lang="en-US" sz="1300" b="1" dirty="0">
                <a:solidFill>
                  <a:schemeClr val="accent5"/>
                </a:solidFill>
              </a:rPr>
              <a:t>Fuentes</a:t>
            </a:r>
            <a:endParaRPr lang="en-US" sz="1300" dirty="0"/>
          </a:p>
        </p:txBody>
      </p:sp>
      <p:sp>
        <p:nvSpPr>
          <p:cNvPr id="39" name="Fuente 1"/>
          <p:cNvSpPr/>
          <p:nvPr/>
        </p:nvSpPr>
        <p:spPr>
          <a:xfrm>
            <a:off x="5532120" y="4626864"/>
            <a:ext cx="1920240" cy="347472"/>
          </a:xfrm>
          <a:prstGeom prst="roundRect">
            <a:avLst>
              <a:gd name="adj" fmla="val 50000"/>
            </a:avLst>
          </a:prstGeom>
          <a:solidFill>
            <a:schemeClr val="accent1"/>
          </a:solidFill>
          <a:ln w="12700">
            <a:solidFill>
              <a:schemeClr val="accent1"/>
            </a:solidFill>
            <a:prstDash val="solid"/>
          </a:ln>
        </p:spPr>
        <p:txBody>
          <a:bodyPr/>
          <a:lstStyle/>
          <a:p>
            <a:endParaRPr lang="es-AR"/>
          </a:p>
        </p:txBody>
      </p:sp>
      <p:sp>
        <p:nvSpPr>
          <p:cNvPr id="40" name="Texto fuente 1"/>
          <p:cNvSpPr txBox="1"/>
          <p:nvPr/>
        </p:nvSpPr>
        <p:spPr>
          <a:xfrm>
            <a:off x="5532120" y="4626864"/>
            <a:ext cx="1920240" cy="347472"/>
          </a:xfrm>
          <a:prstGeom prst="rect">
            <a:avLst/>
          </a:prstGeom>
          <a:noFill/>
          <a:ln/>
        </p:spPr>
        <p:txBody>
          <a:bodyPr wrap="square" lIns="0" tIns="0" rIns="0" bIns="0" rtlCol="0" anchor="ctr"/>
          <a:lstStyle/>
          <a:p>
            <a:pPr marL="0" indent="0" algn="ctr">
              <a:buNone/>
            </a:pPr>
            <a:r>
              <a:rPr lang="en-US" sz="1200" b="1" dirty="0">
                <a:solidFill>
                  <a:schemeClr val="bg1"/>
                </a:solidFill>
              </a:rPr>
              <a:t>1  penguinlibros.com</a:t>
            </a:r>
            <a:endParaRPr lang="en-US" sz="1200" dirty="0"/>
          </a:p>
        </p:txBody>
      </p:sp>
      <p:sp>
        <p:nvSpPr>
          <p:cNvPr id="41" name="Fuente 2"/>
          <p:cNvSpPr/>
          <p:nvPr/>
        </p:nvSpPr>
        <p:spPr>
          <a:xfrm>
            <a:off x="7589520" y="4626864"/>
            <a:ext cx="1783080" cy="347472"/>
          </a:xfrm>
          <a:prstGeom prst="roundRect">
            <a:avLst>
              <a:gd name="adj" fmla="val 50000"/>
            </a:avLst>
          </a:prstGeom>
          <a:solidFill>
            <a:schemeClr val="bg2"/>
          </a:solidFill>
          <a:ln w="12700">
            <a:solidFill>
              <a:schemeClr val="bg2"/>
            </a:solidFill>
            <a:prstDash val="solid"/>
          </a:ln>
        </p:spPr>
        <p:txBody>
          <a:bodyPr/>
          <a:lstStyle/>
          <a:p>
            <a:endParaRPr lang="es-AR"/>
          </a:p>
        </p:txBody>
      </p:sp>
      <p:sp>
        <p:nvSpPr>
          <p:cNvPr id="42" name="Texto fuente 2"/>
          <p:cNvSpPr txBox="1"/>
          <p:nvPr/>
        </p:nvSpPr>
        <p:spPr>
          <a:xfrm>
            <a:off x="7589520" y="4626864"/>
            <a:ext cx="1783080" cy="347472"/>
          </a:xfrm>
          <a:prstGeom prst="rect">
            <a:avLst/>
          </a:prstGeom>
          <a:noFill/>
          <a:ln/>
        </p:spPr>
        <p:txBody>
          <a:bodyPr wrap="square" lIns="0" tIns="0" rIns="0" bIns="0" rtlCol="0" anchor="ctr"/>
          <a:lstStyle/>
          <a:p>
            <a:pPr marL="0" indent="0" algn="ctr">
              <a:buNone/>
            </a:pPr>
            <a:r>
              <a:rPr lang="en-US" sz="1200" dirty="0">
                <a:solidFill>
                  <a:schemeClr val="tx1"/>
                </a:solidFill>
              </a:rPr>
              <a:t>2  sitio de reseñas</a:t>
            </a:r>
            <a:endParaRPr lang="en-US" sz="1200" dirty="0"/>
          </a:p>
        </p:txBody>
      </p:sp>
      <p:sp>
        <p:nvSpPr>
          <p:cNvPr id="43" name="Fuente 3"/>
          <p:cNvSpPr/>
          <p:nvPr/>
        </p:nvSpPr>
        <p:spPr>
          <a:xfrm>
            <a:off x="9509760" y="4626864"/>
            <a:ext cx="1554480" cy="347472"/>
          </a:xfrm>
          <a:prstGeom prst="roundRect">
            <a:avLst>
              <a:gd name="adj" fmla="val 50000"/>
            </a:avLst>
          </a:prstGeom>
          <a:solidFill>
            <a:schemeClr val="bg2"/>
          </a:solidFill>
          <a:ln w="12700">
            <a:solidFill>
              <a:schemeClr val="bg2"/>
            </a:solidFill>
            <a:prstDash val="solid"/>
          </a:ln>
        </p:spPr>
        <p:txBody>
          <a:bodyPr/>
          <a:lstStyle/>
          <a:p>
            <a:endParaRPr lang="es-AR"/>
          </a:p>
        </p:txBody>
      </p:sp>
      <p:sp>
        <p:nvSpPr>
          <p:cNvPr id="44" name="Texto fuente 3"/>
          <p:cNvSpPr txBox="1"/>
          <p:nvPr/>
        </p:nvSpPr>
        <p:spPr>
          <a:xfrm>
            <a:off x="9509760" y="4626864"/>
            <a:ext cx="1554480" cy="347472"/>
          </a:xfrm>
          <a:prstGeom prst="rect">
            <a:avLst/>
          </a:prstGeom>
          <a:noFill/>
          <a:ln/>
        </p:spPr>
        <p:txBody>
          <a:bodyPr wrap="square" lIns="0" tIns="0" rIns="0" bIns="0" rtlCol="0" anchor="ctr"/>
          <a:lstStyle/>
          <a:p>
            <a:pPr marL="0" indent="0" algn="ctr">
              <a:buNone/>
            </a:pPr>
            <a:r>
              <a:rPr lang="en-US" sz="1200" dirty="0">
                <a:solidFill>
                  <a:schemeClr val="tx1"/>
                </a:solidFill>
              </a:rPr>
              <a:t>3  medio digital</a:t>
            </a:r>
            <a:endParaRPr lang="en-US" sz="1200" dirty="0"/>
          </a:p>
        </p:txBody>
      </p:sp>
      <p:sp>
        <p:nvSpPr>
          <p:cNvPr id="45" name="Epígrafe respuesta"/>
          <p:cNvSpPr txBox="1"/>
          <p:nvPr/>
        </p:nvSpPr>
        <p:spPr>
          <a:xfrm>
            <a:off x="5532120" y="5029200"/>
            <a:ext cx="5833872" cy="292608"/>
          </a:xfrm>
          <a:prstGeom prst="rect">
            <a:avLst/>
          </a:prstGeom>
          <a:noFill/>
          <a:ln/>
        </p:spPr>
        <p:txBody>
          <a:bodyPr wrap="square" lIns="0" tIns="0" rIns="0" bIns="0" rtlCol="0" anchor="ctr"/>
          <a:lstStyle/>
          <a:p>
            <a:pPr marL="0" indent="0">
              <a:buNone/>
            </a:pPr>
            <a:r>
              <a:rPr lang="en-US" sz="1400" i="1" dirty="0">
                <a:solidFill>
                  <a:schemeClr val="accent5"/>
                </a:solidFill>
              </a:rPr>
              <a:t>La cita solo ocurre cuando el motor busca en la web.</a:t>
            </a:r>
            <a:endParaRPr lang="en-US" sz="1400" dirty="0"/>
          </a:p>
        </p:txBody>
      </p:sp>
      <p:sp>
        <p:nvSpPr>
          <p:cNvPr id="46" name="Banda unidad de éxito"/>
          <p:cNvSpPr/>
          <p:nvPr/>
        </p:nvSpPr>
        <p:spPr>
          <a:xfrm>
            <a:off x="548640" y="5623560"/>
            <a:ext cx="11091672" cy="548640"/>
          </a:xfrm>
          <a:prstGeom prst="roundRect">
            <a:avLst>
              <a:gd name="adj" fmla="val 16667"/>
            </a:avLst>
          </a:prstGeom>
          <a:solidFill>
            <a:schemeClr val="accent2">
              <a:alpha val="12000"/>
            </a:schemeClr>
          </a:solidFill>
          <a:ln w="12700">
            <a:solidFill>
              <a:schemeClr val="accent2">
                <a:alpha val="12000"/>
              </a:schemeClr>
            </a:solidFill>
            <a:prstDash val="solid"/>
          </a:ln>
        </p:spPr>
        <p:txBody>
          <a:bodyPr/>
          <a:lstStyle/>
          <a:p>
            <a:endParaRPr lang="es-AR"/>
          </a:p>
        </p:txBody>
      </p:sp>
      <p:sp>
        <p:nvSpPr>
          <p:cNvPr id="47" name="Ícono unidad de éxito (círculo)"/>
          <p:cNvSpPr/>
          <p:nvPr/>
        </p:nvSpPr>
        <p:spPr>
          <a:xfrm>
            <a:off x="685800" y="5678424"/>
            <a:ext cx="438912" cy="438912"/>
          </a:xfrm>
          <a:prstGeom prst="ellipse">
            <a:avLst/>
          </a:prstGeom>
          <a:solidFill>
            <a:schemeClr val="accent2"/>
          </a:solidFill>
          <a:ln w="12700">
            <a:solidFill>
              <a:schemeClr val="accent2"/>
            </a:solidFill>
            <a:prstDash val="solid"/>
          </a:ln>
        </p:spPr>
        <p:txBody>
          <a:bodyPr/>
          <a:lstStyle/>
          <a:p>
            <a:endParaRPr lang="es-AR"/>
          </a:p>
        </p:txBody>
      </p:sp>
      <p:pic>
        <p:nvPicPr>
          <p:cNvPr id="48" name="Ícono unidad de éxito (ícono)" descr="preencoded.png"/>
          <p:cNvPicPr>
            <a:picLocks noChangeAspect="1"/>
          </p:cNvPicPr>
          <p:nvPr/>
        </p:nvPicPr>
        <p:blipFill>
          <a:blip r:embed="rId8"/>
          <a:stretch>
            <a:fillRect/>
          </a:stretch>
        </p:blipFill>
        <p:spPr>
          <a:xfrm>
            <a:off x="791139" y="5783763"/>
            <a:ext cx="228234" cy="228234"/>
          </a:xfrm>
          <a:prstGeom prst="rect">
            <a:avLst/>
          </a:prstGeom>
        </p:spPr>
      </p:pic>
      <p:sp>
        <p:nvSpPr>
          <p:cNvPr id="49" name="Texto unidad de éxito"/>
          <p:cNvSpPr txBox="1"/>
          <p:nvPr/>
        </p:nvSpPr>
        <p:spPr>
          <a:xfrm>
            <a:off x="1280160" y="5623560"/>
            <a:ext cx="10241280" cy="548640"/>
          </a:xfrm>
          <a:prstGeom prst="rect">
            <a:avLst/>
          </a:prstGeom>
          <a:noFill/>
          <a:ln/>
        </p:spPr>
        <p:txBody>
          <a:bodyPr wrap="square" lIns="0" tIns="0" rIns="0" bIns="0" rtlCol="0" anchor="ctr"/>
          <a:lstStyle/>
          <a:p>
            <a:pPr marL="0" indent="0">
              <a:buNone/>
            </a:pPr>
            <a:r>
              <a:rPr lang="en-US" sz="1900" b="1" dirty="0">
                <a:solidFill>
                  <a:schemeClr val="tx1"/>
                </a:solidFill>
              </a:rPr>
              <a:t>Unidad de éxito: ser </a:t>
            </a:r>
            <a:r>
              <a:rPr lang="en-US" sz="1900" b="1" dirty="0" err="1">
                <a:solidFill>
                  <a:schemeClr val="tx1"/>
                </a:solidFill>
              </a:rPr>
              <a:t>citado</a:t>
            </a:r>
            <a:r>
              <a:rPr lang="en-US" sz="1900" b="1" dirty="0">
                <a:solidFill>
                  <a:schemeClr val="tx1"/>
                </a:solidFill>
              </a:rPr>
              <a:t> </a:t>
            </a:r>
            <a:r>
              <a:rPr lang="en-US" sz="1900" b="1" dirty="0" err="1">
                <a:solidFill>
                  <a:schemeClr val="tx1"/>
                </a:solidFill>
              </a:rPr>
              <a:t>en</a:t>
            </a:r>
            <a:r>
              <a:rPr lang="en-US" sz="1900" b="1" dirty="0">
                <a:solidFill>
                  <a:schemeClr val="tx1"/>
                </a:solidFill>
              </a:rPr>
              <a:t> la </a:t>
            </a:r>
            <a:r>
              <a:rPr lang="en-US" sz="1900" b="1" dirty="0" err="1">
                <a:solidFill>
                  <a:schemeClr val="tx1"/>
                </a:solidFill>
              </a:rPr>
              <a:t>respuesta</a:t>
            </a:r>
            <a:endParaRPr lang="en-US" sz="1900" dirty="0"/>
          </a:p>
        </p:txBody>
      </p:sp>
      <p:sp>
        <p:nvSpPr>
          <p:cNvPr id="50"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10D22-5F69-48A3-C678-BF349C14663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549BFC54-ADFB-BD4E-259E-7DB1D4DCAA34}"/>
              </a:ext>
            </a:extLst>
          </p:cNvPr>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a:t>
            </a:r>
            <a:r>
              <a:rPr lang="en-US" sz="3400" b="1" dirty="0" err="1">
                <a:solidFill>
                  <a:schemeClr val="tx1"/>
                </a:solidFill>
              </a:rPr>
              <a:t>Qué</a:t>
            </a:r>
            <a:r>
              <a:rPr lang="en-US" sz="3400" b="1" dirty="0">
                <a:solidFill>
                  <a:schemeClr val="tx1"/>
                </a:solidFill>
              </a:rPr>
              <a:t> es GEO?</a:t>
            </a:r>
            <a:endParaRPr lang="en-US" sz="3400" dirty="0"/>
          </a:p>
        </p:txBody>
      </p:sp>
      <p:pic>
        <p:nvPicPr>
          <p:cNvPr id="48" name="Ícono unidad de éxito (ícono)" descr="preencoded.png">
            <a:extLst>
              <a:ext uri="{FF2B5EF4-FFF2-40B4-BE49-F238E27FC236}">
                <a16:creationId xmlns:a16="http://schemas.microsoft.com/office/drawing/2014/main" id="{1ECDBB9E-D95A-AF0C-2BF4-711F341264EB}"/>
              </a:ext>
            </a:extLst>
          </p:cNvPr>
          <p:cNvPicPr>
            <a:picLocks noChangeAspect="1"/>
          </p:cNvPicPr>
          <p:nvPr/>
        </p:nvPicPr>
        <p:blipFill>
          <a:blip r:embed="rId3"/>
          <a:stretch>
            <a:fillRect/>
          </a:stretch>
        </p:blipFill>
        <p:spPr>
          <a:xfrm>
            <a:off x="791139" y="5783763"/>
            <a:ext cx="228234" cy="228234"/>
          </a:xfrm>
          <a:prstGeom prst="rect">
            <a:avLst/>
          </a:prstGeom>
        </p:spPr>
      </p:pic>
      <p:sp>
        <p:nvSpPr>
          <p:cNvPr id="50" name="Slide Number Placeholder 0">
            <a:extLst>
              <a:ext uri="{FF2B5EF4-FFF2-40B4-BE49-F238E27FC236}">
                <a16:creationId xmlns:a16="http://schemas.microsoft.com/office/drawing/2014/main" id="{51A0A375-B7F9-3636-8F3C-ECA66273411B}"/>
              </a:ext>
            </a:extLst>
          </p:cNvPr>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5</a:t>
            </a:fld>
            <a:endParaRPr lang="en-US"/>
          </a:p>
        </p:txBody>
      </p:sp>
      <p:sp>
        <p:nvSpPr>
          <p:cNvPr id="54" name="Respuesta del motor generativo">
            <a:extLst>
              <a:ext uri="{FF2B5EF4-FFF2-40B4-BE49-F238E27FC236}">
                <a16:creationId xmlns:a16="http://schemas.microsoft.com/office/drawing/2014/main" id="{93A9D104-B8BF-9DFE-C8DB-23348FDA10C6}"/>
              </a:ext>
            </a:extLst>
          </p:cNvPr>
          <p:cNvSpPr/>
          <p:nvPr/>
        </p:nvSpPr>
        <p:spPr>
          <a:xfrm>
            <a:off x="5486400" y="384049"/>
            <a:ext cx="6153911" cy="5852850"/>
          </a:xfrm>
          <a:prstGeom prst="roundRect">
            <a:avLst>
              <a:gd name="adj" fmla="val 9167"/>
            </a:avLst>
          </a:prstGeom>
          <a:solidFill>
            <a:schemeClr val="bg1"/>
          </a:solidFill>
          <a:ln w="12700">
            <a:solidFill>
              <a:schemeClr val="bg2"/>
            </a:solidFill>
            <a:prstDash val="solid"/>
          </a:ln>
          <a:effectLst>
            <a:outerShdw blurRad="101600" dist="25400" dir="5400000" algn="bl" rotWithShape="0">
              <a:srgbClr val="1B2A41">
                <a:alpha val="12000"/>
              </a:srgbClr>
            </a:outerShdw>
          </a:effectLst>
        </p:spPr>
        <p:txBody>
          <a:bodyPr/>
          <a:lstStyle/>
          <a:p>
            <a:endParaRPr lang="es-AR"/>
          </a:p>
        </p:txBody>
      </p:sp>
      <p:pic>
        <p:nvPicPr>
          <p:cNvPr id="58" name="Picture 57">
            <a:extLst>
              <a:ext uri="{FF2B5EF4-FFF2-40B4-BE49-F238E27FC236}">
                <a16:creationId xmlns:a16="http://schemas.microsoft.com/office/drawing/2014/main" id="{0FA2AA2A-352F-1E56-DDEA-C75FED90AD20}"/>
              </a:ext>
            </a:extLst>
          </p:cNvPr>
          <p:cNvPicPr>
            <a:picLocks noChangeAspect="1"/>
          </p:cNvPicPr>
          <p:nvPr/>
        </p:nvPicPr>
        <p:blipFill>
          <a:blip r:embed="rId4"/>
          <a:stretch>
            <a:fillRect/>
          </a:stretch>
        </p:blipFill>
        <p:spPr>
          <a:xfrm>
            <a:off x="5914395" y="496500"/>
            <a:ext cx="5268717" cy="5627948"/>
          </a:xfrm>
          <a:prstGeom prst="rect">
            <a:avLst/>
          </a:prstGeom>
        </p:spPr>
      </p:pic>
      <p:sp>
        <p:nvSpPr>
          <p:cNvPr id="64" name="Tarjeta GEO">
            <a:extLst>
              <a:ext uri="{FF2B5EF4-FFF2-40B4-BE49-F238E27FC236}">
                <a16:creationId xmlns:a16="http://schemas.microsoft.com/office/drawing/2014/main" id="{E6CBA2DF-EA6E-7107-650B-55D37AD38B4D}"/>
              </a:ext>
            </a:extLst>
          </p:cNvPr>
          <p:cNvSpPr/>
          <p:nvPr/>
        </p:nvSpPr>
        <p:spPr>
          <a:xfrm>
            <a:off x="817017" y="2764251"/>
            <a:ext cx="3931920" cy="1122469"/>
          </a:xfrm>
          <a:prstGeom prst="roundRect">
            <a:avLst>
              <a:gd name="adj" fmla="val 7742"/>
            </a:avLst>
          </a:prstGeom>
          <a:solidFill>
            <a:schemeClr val="bg2"/>
          </a:solidFill>
          <a:ln w="12700">
            <a:solidFill>
              <a:schemeClr val="bg2"/>
            </a:solidFill>
            <a:prstDash val="solid"/>
          </a:ln>
        </p:spPr>
        <p:txBody>
          <a:bodyPr/>
          <a:lstStyle/>
          <a:p>
            <a:endParaRPr lang="es-AR"/>
          </a:p>
        </p:txBody>
      </p:sp>
      <p:sp>
        <p:nvSpPr>
          <p:cNvPr id="66" name="Ícono GEO (círculo)">
            <a:extLst>
              <a:ext uri="{FF2B5EF4-FFF2-40B4-BE49-F238E27FC236}">
                <a16:creationId xmlns:a16="http://schemas.microsoft.com/office/drawing/2014/main" id="{5416EBC5-9097-C4EB-B1B1-C8B77F33A971}"/>
              </a:ext>
            </a:extLst>
          </p:cNvPr>
          <p:cNvSpPr/>
          <p:nvPr/>
        </p:nvSpPr>
        <p:spPr>
          <a:xfrm>
            <a:off x="1045617" y="3020283"/>
            <a:ext cx="658368" cy="658368"/>
          </a:xfrm>
          <a:prstGeom prst="ellipse">
            <a:avLst/>
          </a:prstGeom>
          <a:solidFill>
            <a:schemeClr val="accent2"/>
          </a:solidFill>
          <a:ln w="12700">
            <a:solidFill>
              <a:schemeClr val="accent2"/>
            </a:solidFill>
            <a:prstDash val="solid"/>
          </a:ln>
        </p:spPr>
        <p:txBody>
          <a:bodyPr/>
          <a:lstStyle/>
          <a:p>
            <a:endParaRPr lang="es-AR"/>
          </a:p>
        </p:txBody>
      </p:sp>
      <p:pic>
        <p:nvPicPr>
          <p:cNvPr id="68" name="Ícono GEO (ícono)" descr="preencoded.png">
            <a:extLst>
              <a:ext uri="{FF2B5EF4-FFF2-40B4-BE49-F238E27FC236}">
                <a16:creationId xmlns:a16="http://schemas.microsoft.com/office/drawing/2014/main" id="{1CD9F57D-C258-0BDE-F6EE-9F5CC9CD6DE2}"/>
              </a:ext>
            </a:extLst>
          </p:cNvPr>
          <p:cNvPicPr>
            <a:picLocks noChangeAspect="1"/>
          </p:cNvPicPr>
          <p:nvPr/>
        </p:nvPicPr>
        <p:blipFill>
          <a:blip r:embed="rId5"/>
          <a:stretch>
            <a:fillRect/>
          </a:stretch>
        </p:blipFill>
        <p:spPr>
          <a:xfrm>
            <a:off x="1203625" y="3178291"/>
            <a:ext cx="342351" cy="342351"/>
          </a:xfrm>
          <a:prstGeom prst="rect">
            <a:avLst/>
          </a:prstGeom>
        </p:spPr>
      </p:pic>
      <p:sp>
        <p:nvSpPr>
          <p:cNvPr id="70" name="Título GEO">
            <a:extLst>
              <a:ext uri="{FF2B5EF4-FFF2-40B4-BE49-F238E27FC236}">
                <a16:creationId xmlns:a16="http://schemas.microsoft.com/office/drawing/2014/main" id="{C2A6F8BA-FAC2-A6AC-0B0E-F984B37A6354}"/>
              </a:ext>
            </a:extLst>
          </p:cNvPr>
          <p:cNvSpPr txBox="1"/>
          <p:nvPr/>
        </p:nvSpPr>
        <p:spPr>
          <a:xfrm>
            <a:off x="1960017" y="2928843"/>
            <a:ext cx="2286000" cy="365760"/>
          </a:xfrm>
          <a:prstGeom prst="rect">
            <a:avLst/>
          </a:prstGeom>
          <a:noFill/>
          <a:ln/>
        </p:spPr>
        <p:txBody>
          <a:bodyPr wrap="square" lIns="0" tIns="0" rIns="0" bIns="0" rtlCol="0" anchor="ctr"/>
          <a:lstStyle/>
          <a:p>
            <a:r>
              <a:rPr lang="en-US" sz="2400" b="1" dirty="0"/>
              <a:t>Unidad de </a:t>
            </a:r>
            <a:r>
              <a:rPr lang="en-US" sz="2400" b="1" dirty="0" err="1"/>
              <a:t>éxito</a:t>
            </a:r>
            <a:endParaRPr lang="en-US" sz="2200" dirty="0"/>
          </a:p>
        </p:txBody>
      </p:sp>
      <p:sp>
        <p:nvSpPr>
          <p:cNvPr id="72" name="Texto GEO">
            <a:extLst>
              <a:ext uri="{FF2B5EF4-FFF2-40B4-BE49-F238E27FC236}">
                <a16:creationId xmlns:a16="http://schemas.microsoft.com/office/drawing/2014/main" id="{4AC68DCC-28E4-740F-3D6C-DFAA940B00B6}"/>
              </a:ext>
            </a:extLst>
          </p:cNvPr>
          <p:cNvSpPr txBox="1"/>
          <p:nvPr/>
        </p:nvSpPr>
        <p:spPr>
          <a:xfrm>
            <a:off x="1960017" y="3312891"/>
            <a:ext cx="2674189" cy="453059"/>
          </a:xfrm>
          <a:prstGeom prst="rect">
            <a:avLst/>
          </a:prstGeom>
          <a:noFill/>
          <a:ln/>
        </p:spPr>
        <p:txBody>
          <a:bodyPr wrap="square" lIns="0" tIns="0" rIns="0" bIns="0" rtlCol="0" anchor="t"/>
          <a:lstStyle/>
          <a:p>
            <a:pPr marL="0" indent="0">
              <a:buNone/>
            </a:pPr>
            <a:r>
              <a:rPr lang="en-US" sz="1700" dirty="0">
                <a:solidFill>
                  <a:schemeClr val="tx1"/>
                </a:solidFill>
              </a:rPr>
              <a:t>Ser </a:t>
            </a:r>
            <a:r>
              <a:rPr lang="en-US" sz="1700" dirty="0" err="1">
                <a:solidFill>
                  <a:schemeClr val="tx1"/>
                </a:solidFill>
              </a:rPr>
              <a:t>citado</a:t>
            </a:r>
            <a:r>
              <a:rPr lang="en-US" sz="1700" dirty="0">
                <a:solidFill>
                  <a:schemeClr val="tx1"/>
                </a:solidFill>
              </a:rPr>
              <a:t> </a:t>
            </a:r>
            <a:r>
              <a:rPr lang="en-US" sz="1700" dirty="0" err="1">
                <a:solidFill>
                  <a:schemeClr val="tx1"/>
                </a:solidFill>
              </a:rPr>
              <a:t>en</a:t>
            </a:r>
            <a:r>
              <a:rPr lang="en-US" sz="1700" dirty="0">
                <a:solidFill>
                  <a:schemeClr val="tx1"/>
                </a:solidFill>
              </a:rPr>
              <a:t> la </a:t>
            </a:r>
            <a:r>
              <a:rPr lang="en-US" sz="1700" dirty="0" err="1">
                <a:solidFill>
                  <a:schemeClr val="tx1"/>
                </a:solidFill>
              </a:rPr>
              <a:t>respuesta</a:t>
            </a:r>
            <a:endParaRPr lang="en-US" sz="1700" dirty="0"/>
          </a:p>
        </p:txBody>
      </p:sp>
    </p:spTree>
    <p:extLst>
      <p:ext uri="{BB962C8B-B14F-4D97-AF65-F5344CB8AC3E}">
        <p14:creationId xmlns:p14="http://schemas.microsoft.com/office/powerpoint/2010/main" val="1139648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4782485" cy="731520"/>
          </a:xfrm>
          <a:prstGeom prst="rect">
            <a:avLst/>
          </a:prstGeom>
          <a:noFill/>
          <a:ln/>
        </p:spPr>
        <p:txBody>
          <a:bodyPr wrap="square" lIns="0" tIns="0" rIns="0" bIns="0" rtlCol="0" anchor="ctr"/>
          <a:lstStyle/>
          <a:p>
            <a:pPr marL="0" indent="0" algn="l">
              <a:buNone/>
            </a:pPr>
            <a:r>
              <a:rPr lang="en-US" sz="3400" b="1" dirty="0" err="1">
                <a:solidFill>
                  <a:schemeClr val="bg1"/>
                </a:solidFill>
              </a:rPr>
              <a:t>Propósito</a:t>
            </a:r>
            <a:r>
              <a:rPr lang="en-US" sz="3400" b="1" dirty="0">
                <a:solidFill>
                  <a:schemeClr val="bg1"/>
                </a:solidFill>
              </a:rPr>
              <a:t> del </a:t>
            </a:r>
            <a:r>
              <a:rPr lang="en-US" sz="3400" b="1" dirty="0" err="1">
                <a:solidFill>
                  <a:schemeClr val="bg1"/>
                </a:solidFill>
              </a:rPr>
              <a:t>proyecto</a:t>
            </a:r>
            <a:endParaRPr lang="en-US" sz="3400" dirty="0"/>
          </a:p>
        </p:txBody>
      </p:sp>
      <p:sp>
        <p:nvSpPr>
          <p:cNvPr id="3" name="Ícono propósito (círculo)"/>
          <p:cNvSpPr/>
          <p:nvPr/>
        </p:nvSpPr>
        <p:spPr>
          <a:xfrm>
            <a:off x="548640" y="1463040"/>
            <a:ext cx="731520" cy="731520"/>
          </a:xfrm>
          <a:prstGeom prst="ellipse">
            <a:avLst/>
          </a:prstGeom>
          <a:solidFill>
            <a:schemeClr val="accent1"/>
          </a:solidFill>
          <a:ln w="12700">
            <a:solidFill>
              <a:schemeClr val="accent1"/>
            </a:solidFill>
            <a:prstDash val="solid"/>
          </a:ln>
        </p:spPr>
        <p:txBody>
          <a:bodyPr/>
          <a:lstStyle/>
          <a:p>
            <a:endParaRPr lang="es-AR"/>
          </a:p>
        </p:txBody>
      </p:sp>
      <p:pic>
        <p:nvPicPr>
          <p:cNvPr id="4" name="Ícono propósito (ícono)" descr="preencoded.png"/>
          <p:cNvPicPr>
            <a:picLocks noChangeAspect="1"/>
          </p:cNvPicPr>
          <p:nvPr/>
        </p:nvPicPr>
        <p:blipFill>
          <a:blip r:embed="rId3"/>
          <a:stretch>
            <a:fillRect/>
          </a:stretch>
        </p:blipFill>
        <p:spPr>
          <a:xfrm>
            <a:off x="724205" y="1638605"/>
            <a:ext cx="380390" cy="380390"/>
          </a:xfrm>
          <a:prstGeom prst="rect">
            <a:avLst/>
          </a:prstGeom>
        </p:spPr>
      </p:pic>
      <p:sp>
        <p:nvSpPr>
          <p:cNvPr id="5" name="Enunciado del propósito"/>
          <p:cNvSpPr txBox="1"/>
          <p:nvPr/>
        </p:nvSpPr>
        <p:spPr>
          <a:xfrm>
            <a:off x="548640" y="2370125"/>
            <a:ext cx="4592703" cy="3116275"/>
          </a:xfrm>
          <a:prstGeom prst="rect">
            <a:avLst/>
          </a:prstGeom>
          <a:noFill/>
          <a:ln/>
        </p:spPr>
        <p:txBody>
          <a:bodyPr wrap="square" lIns="0" tIns="0" rIns="0" bIns="0" rtlCol="0" anchor="t"/>
          <a:lstStyle/>
          <a:p>
            <a:pPr marL="0" indent="0">
              <a:lnSpc>
                <a:spcPct val="105000"/>
              </a:lnSpc>
              <a:buNone/>
            </a:pPr>
            <a:r>
              <a:rPr lang="es-AR" sz="2800" dirty="0">
                <a:solidFill>
                  <a:schemeClr val="bg1"/>
                </a:solidFill>
                <a:latin typeface="+mj-lt" pitchFamily="34" charset="0"/>
                <a:ea typeface="+mj-lt" pitchFamily="34" charset="-122"/>
                <a:cs typeface="+mj-lt" pitchFamily="34" charset="-120"/>
              </a:rPr>
              <a:t>El propósito del proyecto es aumentar la visibilidad del catálogo de la editorial en los motores de búsqueda generativa sin resignar el posicionamiento orgánico ya consolidado.</a:t>
            </a:r>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bg2"/>
                </a:solidFill>
              </a:defRPr>
            </a:lvl1pPr>
          </a:lstStyle>
          <a:p>
            <a:pPr algn="r"/>
            <a:fld id="{F7021451-1387-4CA6-816F-3879F97B5CBC}" type="slidenum">
              <a:rPr lang="en-US" b="0"/>
              <a:t>6</a:t>
            </a:fld>
            <a:endParaRPr lang="en-US"/>
          </a:p>
        </p:txBody>
      </p:sp>
      <p:pic>
        <p:nvPicPr>
          <p:cNvPr id="16" name="Picture 15">
            <a:extLst>
              <a:ext uri="{FF2B5EF4-FFF2-40B4-BE49-F238E27FC236}">
                <a16:creationId xmlns:a16="http://schemas.microsoft.com/office/drawing/2014/main" id="{4714B9A7-78FB-3112-222B-E1BC24C808E4}"/>
              </a:ext>
            </a:extLst>
          </p:cNvPr>
          <p:cNvPicPr>
            <a:picLocks noChangeAspect="1"/>
          </p:cNvPicPr>
          <p:nvPr/>
        </p:nvPicPr>
        <p:blipFill>
          <a:blip r:embed="rId4"/>
          <a:stretch>
            <a:fillRect/>
          </a:stretch>
        </p:blipFill>
        <p:spPr>
          <a:xfrm>
            <a:off x="5669342" y="1463040"/>
            <a:ext cx="6348056" cy="47888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7</a:t>
            </a:fld>
            <a:endParaRPr lang="en-US"/>
          </a:p>
        </p:txBody>
      </p:sp>
      <p:pic>
        <p:nvPicPr>
          <p:cNvPr id="23" name="Captura de una ficha" descr="Ficha de un libro en la tienda en línea de la editorial, con la sinopsis.">
            <a:extLst>
              <a:ext uri="{FF2B5EF4-FFF2-40B4-BE49-F238E27FC236}">
                <a16:creationId xmlns:a16="http://schemas.microsoft.com/office/drawing/2014/main" id="{16556867-21F6-D118-E6A3-E34319B98FF6}"/>
              </a:ext>
            </a:extLst>
          </p:cNvPr>
          <p:cNvPicPr>
            <a:picLocks noChangeAspect="1"/>
          </p:cNvPicPr>
          <p:nvPr/>
        </p:nvPicPr>
        <p:blipFill>
          <a:blip r:embed="rId3"/>
          <a:srcRect b="2159"/>
          <a:stretch>
            <a:fillRect/>
          </a:stretch>
        </p:blipFill>
        <p:spPr>
          <a:xfrm>
            <a:off x="209908" y="1190444"/>
            <a:ext cx="8288834" cy="4882551"/>
          </a:xfrm>
          <a:prstGeom prst="rect">
            <a:avLst/>
          </a:prstGeom>
        </p:spPr>
      </p:pic>
      <p:sp>
        <p:nvSpPr>
          <p:cNvPr id="30" name="Texto paso 1">
            <a:extLst>
              <a:ext uri="{FF2B5EF4-FFF2-40B4-BE49-F238E27FC236}">
                <a16:creationId xmlns:a16="http://schemas.microsoft.com/office/drawing/2014/main" id="{293F2759-E01B-50FC-714E-3720F4CCDE54}"/>
              </a:ext>
            </a:extLst>
          </p:cNvPr>
          <p:cNvSpPr txBox="1"/>
          <p:nvPr/>
        </p:nvSpPr>
        <p:spPr>
          <a:xfrm>
            <a:off x="8988724" y="3429008"/>
            <a:ext cx="2993368" cy="1613132"/>
          </a:xfrm>
          <a:prstGeom prst="rect">
            <a:avLst/>
          </a:prstGeom>
          <a:noFill/>
          <a:ln/>
        </p:spPr>
        <p:txBody>
          <a:bodyPr wrap="square" lIns="0" tIns="0" rIns="0" bIns="0" rtlCol="0" anchor="t"/>
          <a:lstStyle/>
          <a:p>
            <a:pPr lvl="0">
              <a:buClr>
                <a:srgbClr val="5B6B8C"/>
              </a:buClr>
              <a:buSzPts val="1500"/>
            </a:pPr>
            <a:r>
              <a:rPr lang="es-AR" sz="2000" dirty="0">
                <a:solidFill>
                  <a:srgbClr val="5B6B8C"/>
                </a:solidFill>
                <a:ea typeface="Calibri"/>
                <a:cs typeface="Calibri"/>
                <a:sym typeface="Calibri"/>
              </a:rPr>
              <a:t>La web de </a:t>
            </a:r>
            <a:r>
              <a:rPr lang="es-AR" sz="2000" dirty="0" err="1">
                <a:solidFill>
                  <a:srgbClr val="5B6B8C"/>
                </a:solidFill>
                <a:ea typeface="Calibri"/>
                <a:cs typeface="Calibri"/>
                <a:sym typeface="Calibri"/>
              </a:rPr>
              <a:t>PenguinLibros</a:t>
            </a:r>
            <a:r>
              <a:rPr lang="es-AR" sz="2000" dirty="0">
                <a:solidFill>
                  <a:srgbClr val="5B6B8C"/>
                </a:solidFill>
                <a:ea typeface="Calibri"/>
                <a:cs typeface="Calibri"/>
                <a:sym typeface="Calibri"/>
              </a:rPr>
              <a:t> cuenta con un activo digital sumamente valioso para la IA: la sinopsis de cada libro del catálogo.</a:t>
            </a:r>
          </a:p>
        </p:txBody>
      </p:sp>
      <p:sp>
        <p:nvSpPr>
          <p:cNvPr id="33" name="Text 1">
            <a:extLst>
              <a:ext uri="{FF2B5EF4-FFF2-40B4-BE49-F238E27FC236}">
                <a16:creationId xmlns:a16="http://schemas.microsoft.com/office/drawing/2014/main" id="{3FC451C8-634C-BBC0-19EF-D2F9CEFA3E9D}"/>
              </a:ext>
            </a:extLst>
          </p:cNvPr>
          <p:cNvSpPr txBox="1">
            <a:spLocks/>
          </p:cNvSpPr>
          <p:nvPr/>
        </p:nvSpPr>
        <p:spPr>
          <a:xfrm>
            <a:off x="548640" y="384048"/>
            <a:ext cx="4066492" cy="731520"/>
          </a:xfrm>
          <a:prstGeom prst="rect">
            <a:avLst/>
          </a:prstGeom>
          <a:noFill/>
          <a:ln/>
        </p:spPr>
        <p:txBody>
          <a:bodyPr wrap="square" lIns="0" tIns="0" rIns="0" bIns="0" rtlCol="0" anchor="ctr"/>
          <a:lstStyle>
            <a:lvl1pPr marL="0" indent="0" algn="l" defTabSz="914400" rtl="0" eaLnBrk="1" latinLnBrk="0" hangingPunct="1">
              <a:spcBef>
                <a:spcPct val="0"/>
              </a:spcBef>
              <a:buNone/>
              <a:defRPr lang="en-US" sz="3400" b="1" kern="1200" dirty="0">
                <a:solidFill>
                  <a:schemeClr val="tx1"/>
                </a:solidFill>
                <a:latin typeface="+mj-lt"/>
                <a:ea typeface="+mj-ea"/>
                <a:cs typeface="+mj-cs"/>
              </a:defRPr>
            </a:lvl1pPr>
          </a:lstStyle>
          <a:p>
            <a:r>
              <a:rPr lang="es-AR"/>
              <a:t>Solución propuesta</a:t>
            </a:r>
          </a:p>
        </p:txBody>
      </p:sp>
      <p:cxnSp>
        <p:nvCxnSpPr>
          <p:cNvPr id="35" name="Straight Arrow Connector 34">
            <a:extLst>
              <a:ext uri="{FF2B5EF4-FFF2-40B4-BE49-F238E27FC236}">
                <a16:creationId xmlns:a16="http://schemas.microsoft.com/office/drawing/2014/main" id="{082E6F34-4A90-4720-2CAA-55AB64278314}"/>
              </a:ext>
            </a:extLst>
          </p:cNvPr>
          <p:cNvCxnSpPr>
            <a:cxnSpLocks/>
          </p:cNvCxnSpPr>
          <p:nvPr/>
        </p:nvCxnSpPr>
        <p:spPr>
          <a:xfrm flipH="1">
            <a:off x="7815532" y="4649638"/>
            <a:ext cx="983411" cy="664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4066492" cy="731520"/>
          </a:xfrm>
          <a:prstGeom prst="rect">
            <a:avLst/>
          </a:prstGeom>
          <a:noFill/>
          <a:ln/>
        </p:spPr>
        <p:txBody>
          <a:bodyPr wrap="square" lIns="0" tIns="0" rIns="0" bIns="0" rtlCol="0" anchor="ctr"/>
          <a:lstStyle/>
          <a:p>
            <a:pPr marL="0" indent="0" algn="l">
              <a:buNone/>
            </a:pPr>
            <a:r>
              <a:rPr lang="en-US" sz="3400" b="1" dirty="0">
                <a:solidFill>
                  <a:schemeClr val="tx1"/>
                </a:solidFill>
              </a:rPr>
              <a:t>Solución propuesta</a:t>
            </a:r>
            <a:endParaRPr lang="en-US" sz="3400" dirty="0"/>
          </a:p>
        </p:txBody>
      </p:sp>
      <p:sp>
        <p:nvSpPr>
          <p:cNvPr id="3" name="Grupo Fuentes de datos"/>
          <p:cNvSpPr/>
          <p:nvPr/>
        </p:nvSpPr>
        <p:spPr>
          <a:xfrm>
            <a:off x="548640" y="1371600"/>
            <a:ext cx="3017520" cy="4206240"/>
          </a:xfrm>
          <a:prstGeom prst="roundRect">
            <a:avLst>
              <a:gd name="adj" fmla="val 3636"/>
            </a:avLst>
          </a:prstGeom>
          <a:solidFill>
            <a:schemeClr val="bg1"/>
          </a:solidFill>
          <a:ln w="12700">
            <a:solidFill>
              <a:schemeClr val="accent5"/>
            </a:solidFill>
            <a:prstDash val="dash"/>
          </a:ln>
        </p:spPr>
        <p:txBody>
          <a:bodyPr/>
          <a:lstStyle/>
          <a:p>
            <a:endParaRPr lang="es-AR"/>
          </a:p>
        </p:txBody>
      </p:sp>
      <p:sp>
        <p:nvSpPr>
          <p:cNvPr id="4" name="Rótulo Fuentes de datos"/>
          <p:cNvSpPr txBox="1"/>
          <p:nvPr/>
        </p:nvSpPr>
        <p:spPr>
          <a:xfrm>
            <a:off x="548640" y="1444752"/>
            <a:ext cx="3017520" cy="411480"/>
          </a:xfrm>
          <a:prstGeom prst="rect">
            <a:avLst/>
          </a:prstGeom>
          <a:noFill/>
          <a:ln/>
        </p:spPr>
        <p:txBody>
          <a:bodyPr wrap="square" lIns="0" tIns="0" rIns="0" bIns="0" rtlCol="0" anchor="ctr"/>
          <a:lstStyle/>
          <a:p>
            <a:pPr marL="0" indent="0" algn="ctr">
              <a:buNone/>
            </a:pPr>
            <a:r>
              <a:rPr lang="en-US" sz="1800" b="1" dirty="0">
                <a:solidFill>
                  <a:schemeClr val="accent5"/>
                </a:solidFill>
              </a:rPr>
              <a:t>Fuentes de datos</a:t>
            </a:r>
            <a:endParaRPr lang="en-US" sz="1800" dirty="0"/>
          </a:p>
        </p:txBody>
      </p:sp>
      <p:sp>
        <p:nvSpPr>
          <p:cNvPr id="5" name="Grupo Datos y modelo"/>
          <p:cNvSpPr/>
          <p:nvPr/>
        </p:nvSpPr>
        <p:spPr>
          <a:xfrm>
            <a:off x="4114800" y="1371600"/>
            <a:ext cx="3246120" cy="4206240"/>
          </a:xfrm>
          <a:prstGeom prst="roundRect">
            <a:avLst>
              <a:gd name="adj" fmla="val 3380"/>
            </a:avLst>
          </a:prstGeom>
          <a:solidFill>
            <a:schemeClr val="bg1"/>
          </a:solidFill>
          <a:ln w="12700">
            <a:solidFill>
              <a:schemeClr val="accent5"/>
            </a:solidFill>
            <a:prstDash val="dash"/>
          </a:ln>
        </p:spPr>
        <p:txBody>
          <a:bodyPr/>
          <a:lstStyle/>
          <a:p>
            <a:endParaRPr lang="es-AR"/>
          </a:p>
        </p:txBody>
      </p:sp>
      <p:sp>
        <p:nvSpPr>
          <p:cNvPr id="6" name="Rótulo Datos y modelo"/>
          <p:cNvSpPr txBox="1"/>
          <p:nvPr/>
        </p:nvSpPr>
        <p:spPr>
          <a:xfrm>
            <a:off x="4114800" y="1444752"/>
            <a:ext cx="3246120" cy="411480"/>
          </a:xfrm>
          <a:prstGeom prst="rect">
            <a:avLst/>
          </a:prstGeom>
          <a:noFill/>
          <a:ln/>
        </p:spPr>
        <p:txBody>
          <a:bodyPr wrap="square" lIns="0" tIns="0" rIns="0" bIns="0" rtlCol="0" anchor="ctr"/>
          <a:lstStyle/>
          <a:p>
            <a:pPr marL="0" indent="0" algn="ctr">
              <a:buNone/>
            </a:pPr>
            <a:r>
              <a:rPr lang="en-US" sz="1800" b="1" dirty="0">
                <a:solidFill>
                  <a:schemeClr val="accent5"/>
                </a:solidFill>
              </a:rPr>
              <a:t>Datos y modelo</a:t>
            </a:r>
            <a:endParaRPr lang="en-US" sz="1800" dirty="0"/>
          </a:p>
        </p:txBody>
      </p:sp>
      <p:sp>
        <p:nvSpPr>
          <p:cNvPr id="7" name="Grupo Generación y validación"/>
          <p:cNvSpPr/>
          <p:nvPr/>
        </p:nvSpPr>
        <p:spPr>
          <a:xfrm>
            <a:off x="7909560" y="1371600"/>
            <a:ext cx="3730752" cy="4206240"/>
          </a:xfrm>
          <a:prstGeom prst="roundRect">
            <a:avLst>
              <a:gd name="adj" fmla="val 2941"/>
            </a:avLst>
          </a:prstGeom>
          <a:solidFill>
            <a:schemeClr val="bg1"/>
          </a:solidFill>
          <a:ln w="12700">
            <a:solidFill>
              <a:schemeClr val="accent5"/>
            </a:solidFill>
            <a:prstDash val="dash"/>
          </a:ln>
        </p:spPr>
        <p:txBody>
          <a:bodyPr/>
          <a:lstStyle/>
          <a:p>
            <a:endParaRPr lang="es-AR"/>
          </a:p>
        </p:txBody>
      </p:sp>
      <p:sp>
        <p:nvSpPr>
          <p:cNvPr id="8" name="Rótulo Generación y validación"/>
          <p:cNvSpPr txBox="1"/>
          <p:nvPr/>
        </p:nvSpPr>
        <p:spPr>
          <a:xfrm>
            <a:off x="7909560" y="1444752"/>
            <a:ext cx="3730752" cy="411480"/>
          </a:xfrm>
          <a:prstGeom prst="rect">
            <a:avLst/>
          </a:prstGeom>
          <a:noFill/>
          <a:ln/>
        </p:spPr>
        <p:txBody>
          <a:bodyPr wrap="square" lIns="0" tIns="0" rIns="0" bIns="0" rtlCol="0" anchor="ctr"/>
          <a:lstStyle/>
          <a:p>
            <a:pPr marL="0" indent="0" algn="ctr">
              <a:buNone/>
            </a:pPr>
            <a:r>
              <a:rPr lang="en-US" sz="1800" b="1" dirty="0">
                <a:solidFill>
                  <a:schemeClr val="accent5"/>
                </a:solidFill>
              </a:rPr>
              <a:t>Generación y validación</a:t>
            </a:r>
            <a:endParaRPr lang="en-US" sz="1800" dirty="0"/>
          </a:p>
        </p:txBody>
      </p:sp>
      <p:sp>
        <p:nvSpPr>
          <p:cNvPr id="9" name="Fuente 1"/>
          <p:cNvSpPr/>
          <p:nvPr/>
        </p:nvSpPr>
        <p:spPr>
          <a:xfrm>
            <a:off x="731520" y="2011680"/>
            <a:ext cx="2651760" cy="868680"/>
          </a:xfrm>
          <a:prstGeom prst="roundRect">
            <a:avLst>
              <a:gd name="adj" fmla="val 10526"/>
            </a:avLst>
          </a:prstGeom>
          <a:solidFill>
            <a:schemeClr val="accent2">
              <a:alpha val="18000"/>
            </a:schemeClr>
          </a:solidFill>
          <a:ln w="15875">
            <a:solidFill>
              <a:schemeClr val="accent2"/>
            </a:solidFill>
            <a:prstDash val="solid"/>
          </a:ln>
        </p:spPr>
        <p:txBody>
          <a:bodyPr/>
          <a:lstStyle/>
          <a:p>
            <a:endParaRPr lang="es-AR"/>
          </a:p>
        </p:txBody>
      </p:sp>
      <p:sp>
        <p:nvSpPr>
          <p:cNvPr id="10" name="Fuente 1 (texto)"/>
          <p:cNvSpPr txBox="1"/>
          <p:nvPr/>
        </p:nvSpPr>
        <p:spPr>
          <a:xfrm>
            <a:off x="822960" y="2011680"/>
            <a:ext cx="2468880" cy="868680"/>
          </a:xfrm>
          <a:prstGeom prst="rect">
            <a:avLst/>
          </a:prstGeom>
          <a:noFill/>
          <a:ln/>
        </p:spPr>
        <p:txBody>
          <a:bodyPr wrap="square" lIns="0" tIns="0" rIns="0" bIns="0" rtlCol="0" anchor="ctr"/>
          <a:lstStyle/>
          <a:p>
            <a:pPr marL="0" indent="0" algn="ctr">
              <a:buNone/>
            </a:pPr>
            <a:r>
              <a:rPr lang="en-US" sz="1500" dirty="0">
                <a:solidFill>
                  <a:schemeClr val="tx1"/>
                </a:solidFill>
              </a:rPr>
              <a:t>API de DataForSEO</a:t>
            </a:r>
            <a:endParaRPr lang="en-US" sz="1500" dirty="0"/>
          </a:p>
        </p:txBody>
      </p:sp>
      <p:sp>
        <p:nvSpPr>
          <p:cNvPr id="11" name="Fuente 2"/>
          <p:cNvSpPr/>
          <p:nvPr/>
        </p:nvSpPr>
        <p:spPr>
          <a:xfrm>
            <a:off x="731520" y="3108960"/>
            <a:ext cx="2651760" cy="868680"/>
          </a:xfrm>
          <a:prstGeom prst="roundRect">
            <a:avLst>
              <a:gd name="adj" fmla="val 10526"/>
            </a:avLst>
          </a:prstGeom>
          <a:solidFill>
            <a:schemeClr val="accent2">
              <a:alpha val="18000"/>
            </a:schemeClr>
          </a:solidFill>
          <a:ln w="15875">
            <a:solidFill>
              <a:schemeClr val="accent2"/>
            </a:solidFill>
            <a:prstDash val="solid"/>
          </a:ln>
        </p:spPr>
        <p:txBody>
          <a:bodyPr/>
          <a:lstStyle/>
          <a:p>
            <a:endParaRPr lang="es-AR"/>
          </a:p>
        </p:txBody>
      </p:sp>
      <p:sp>
        <p:nvSpPr>
          <p:cNvPr id="12" name="Fuente 2 (texto)"/>
          <p:cNvSpPr txBox="1"/>
          <p:nvPr/>
        </p:nvSpPr>
        <p:spPr>
          <a:xfrm>
            <a:off x="822960" y="3108960"/>
            <a:ext cx="2468880" cy="868680"/>
          </a:xfrm>
          <a:prstGeom prst="rect">
            <a:avLst/>
          </a:prstGeom>
          <a:noFill/>
          <a:ln/>
        </p:spPr>
        <p:txBody>
          <a:bodyPr wrap="square" lIns="0" tIns="0" rIns="0" bIns="0" rtlCol="0" anchor="ctr"/>
          <a:lstStyle/>
          <a:p>
            <a:pPr marL="0" indent="0" algn="ctr">
              <a:buNone/>
            </a:pPr>
            <a:r>
              <a:rPr lang="en-US" sz="1500" dirty="0">
                <a:solidFill>
                  <a:schemeClr val="tx1"/>
                </a:solidFill>
              </a:rPr>
              <a:t>Datos internos de la editorial</a:t>
            </a:r>
            <a:endParaRPr lang="en-US" sz="1500" dirty="0"/>
          </a:p>
        </p:txBody>
      </p:sp>
      <p:sp>
        <p:nvSpPr>
          <p:cNvPr id="13" name="Fuente 3"/>
          <p:cNvSpPr/>
          <p:nvPr/>
        </p:nvSpPr>
        <p:spPr>
          <a:xfrm>
            <a:off x="731520" y="4206240"/>
            <a:ext cx="2651760" cy="868680"/>
          </a:xfrm>
          <a:prstGeom prst="roundRect">
            <a:avLst>
              <a:gd name="adj" fmla="val 10526"/>
            </a:avLst>
          </a:prstGeom>
          <a:solidFill>
            <a:schemeClr val="accent2">
              <a:alpha val="18000"/>
            </a:schemeClr>
          </a:solidFill>
          <a:ln w="15875">
            <a:solidFill>
              <a:schemeClr val="accent2"/>
            </a:solidFill>
            <a:prstDash val="solid"/>
          </a:ln>
        </p:spPr>
        <p:txBody>
          <a:bodyPr/>
          <a:lstStyle/>
          <a:p>
            <a:endParaRPr lang="es-AR"/>
          </a:p>
        </p:txBody>
      </p:sp>
      <p:sp>
        <p:nvSpPr>
          <p:cNvPr id="14" name="Fuente 3 (texto)"/>
          <p:cNvSpPr txBox="1"/>
          <p:nvPr/>
        </p:nvSpPr>
        <p:spPr>
          <a:xfrm>
            <a:off x="822960" y="4206240"/>
            <a:ext cx="2468880" cy="868680"/>
          </a:xfrm>
          <a:prstGeom prst="rect">
            <a:avLst/>
          </a:prstGeom>
          <a:noFill/>
          <a:ln/>
        </p:spPr>
        <p:txBody>
          <a:bodyPr wrap="square" lIns="0" tIns="0" rIns="0" bIns="0" rtlCol="0" anchor="ctr"/>
          <a:lstStyle/>
          <a:p>
            <a:pPr marL="0" indent="0" algn="ctr">
              <a:buNone/>
            </a:pPr>
            <a:r>
              <a:rPr lang="en-US" sz="1500" dirty="0">
                <a:solidFill>
                  <a:schemeClr val="tx1"/>
                </a:solidFill>
              </a:rPr>
              <a:t>Mediciones de citación en motores de búsqueda generativa</a:t>
            </a:r>
            <a:endParaRPr lang="en-US" sz="1500" dirty="0"/>
          </a:p>
        </p:txBody>
      </p:sp>
      <p:sp>
        <p:nvSpPr>
          <p:cNvPr id="15" name="Bloque modelo 1"/>
          <p:cNvSpPr/>
          <p:nvPr/>
        </p:nvSpPr>
        <p:spPr>
          <a:xfrm>
            <a:off x="4315968" y="2011680"/>
            <a:ext cx="2834640" cy="868680"/>
          </a:xfrm>
          <a:prstGeom prst="roundRect">
            <a:avLst>
              <a:gd name="adj" fmla="val 10526"/>
            </a:avLst>
          </a:prstGeom>
          <a:solidFill>
            <a:schemeClr val="accent3">
              <a:alpha val="18000"/>
            </a:schemeClr>
          </a:solidFill>
          <a:ln w="15875">
            <a:solidFill>
              <a:schemeClr val="accent3"/>
            </a:solidFill>
            <a:prstDash val="solid"/>
          </a:ln>
        </p:spPr>
        <p:txBody>
          <a:bodyPr/>
          <a:lstStyle/>
          <a:p>
            <a:endParaRPr lang="es-AR"/>
          </a:p>
        </p:txBody>
      </p:sp>
      <p:sp>
        <p:nvSpPr>
          <p:cNvPr id="16" name="Bloque modelo 1 (texto)"/>
          <p:cNvSpPr txBox="1"/>
          <p:nvPr/>
        </p:nvSpPr>
        <p:spPr>
          <a:xfrm>
            <a:off x="4407408" y="2011680"/>
            <a:ext cx="2651760" cy="868680"/>
          </a:xfrm>
          <a:prstGeom prst="rect">
            <a:avLst/>
          </a:prstGeom>
          <a:noFill/>
          <a:ln/>
        </p:spPr>
        <p:txBody>
          <a:bodyPr wrap="square" lIns="0" tIns="0" rIns="0" bIns="0" rtlCol="0" anchor="ctr"/>
          <a:lstStyle/>
          <a:p>
            <a:pPr marL="0" indent="0" algn="ctr">
              <a:buNone/>
            </a:pPr>
            <a:r>
              <a:rPr lang="en-US" sz="1500" dirty="0">
                <a:solidFill>
                  <a:schemeClr val="tx1"/>
                </a:solidFill>
              </a:rPr>
              <a:t>Ingesta y consolidación</a:t>
            </a:r>
            <a:endParaRPr lang="en-US" sz="1500" dirty="0"/>
          </a:p>
        </p:txBody>
      </p:sp>
      <p:sp>
        <p:nvSpPr>
          <p:cNvPr id="17" name="Bloque modelo 2"/>
          <p:cNvSpPr/>
          <p:nvPr/>
        </p:nvSpPr>
        <p:spPr>
          <a:xfrm>
            <a:off x="4315968" y="3108960"/>
            <a:ext cx="2834640" cy="868680"/>
          </a:xfrm>
          <a:prstGeom prst="roundRect">
            <a:avLst>
              <a:gd name="adj" fmla="val 10526"/>
            </a:avLst>
          </a:prstGeom>
          <a:solidFill>
            <a:schemeClr val="accent3">
              <a:alpha val="18000"/>
            </a:schemeClr>
          </a:solidFill>
          <a:ln w="15875">
            <a:solidFill>
              <a:schemeClr val="accent3"/>
            </a:solidFill>
            <a:prstDash val="solid"/>
          </a:ln>
        </p:spPr>
        <p:txBody>
          <a:bodyPr/>
          <a:lstStyle/>
          <a:p>
            <a:endParaRPr lang="es-AR"/>
          </a:p>
        </p:txBody>
      </p:sp>
      <p:sp>
        <p:nvSpPr>
          <p:cNvPr id="18" name="Bloque modelo 2 (texto)"/>
          <p:cNvSpPr txBox="1"/>
          <p:nvPr/>
        </p:nvSpPr>
        <p:spPr>
          <a:xfrm>
            <a:off x="4407408" y="3108960"/>
            <a:ext cx="2651760" cy="868680"/>
          </a:xfrm>
          <a:prstGeom prst="rect">
            <a:avLst/>
          </a:prstGeom>
          <a:noFill/>
          <a:ln/>
        </p:spPr>
        <p:txBody>
          <a:bodyPr wrap="square" lIns="0" tIns="0" rIns="0" bIns="0" rtlCol="0" anchor="ctr"/>
          <a:lstStyle/>
          <a:p>
            <a:pPr marL="0" indent="0" algn="ctr">
              <a:buNone/>
            </a:pPr>
            <a:r>
              <a:rPr lang="en-US" sz="1500" dirty="0">
                <a:solidFill>
                  <a:schemeClr val="tx1"/>
                </a:solidFill>
              </a:rPr>
              <a:t>Modelo de predicción de la citación</a:t>
            </a:r>
            <a:endParaRPr lang="en-US" sz="1500" dirty="0"/>
          </a:p>
        </p:txBody>
      </p:sp>
      <p:sp>
        <p:nvSpPr>
          <p:cNvPr id="19" name="Bloque modelo 3"/>
          <p:cNvSpPr/>
          <p:nvPr/>
        </p:nvSpPr>
        <p:spPr>
          <a:xfrm>
            <a:off x="4315968" y="4206240"/>
            <a:ext cx="2834640" cy="868680"/>
          </a:xfrm>
          <a:prstGeom prst="roundRect">
            <a:avLst>
              <a:gd name="adj" fmla="val 10526"/>
            </a:avLst>
          </a:prstGeom>
          <a:solidFill>
            <a:schemeClr val="accent3">
              <a:alpha val="18000"/>
            </a:schemeClr>
          </a:solidFill>
          <a:ln w="15875">
            <a:solidFill>
              <a:schemeClr val="accent3"/>
            </a:solidFill>
            <a:prstDash val="solid"/>
          </a:ln>
        </p:spPr>
        <p:txBody>
          <a:bodyPr/>
          <a:lstStyle/>
          <a:p>
            <a:endParaRPr lang="es-AR"/>
          </a:p>
        </p:txBody>
      </p:sp>
      <p:sp>
        <p:nvSpPr>
          <p:cNvPr id="20" name="Bloque modelo 3 (texto)"/>
          <p:cNvSpPr txBox="1"/>
          <p:nvPr/>
        </p:nvSpPr>
        <p:spPr>
          <a:xfrm>
            <a:off x="4407408" y="4206240"/>
            <a:ext cx="2651760" cy="868680"/>
          </a:xfrm>
          <a:prstGeom prst="rect">
            <a:avLst/>
          </a:prstGeom>
          <a:noFill/>
          <a:ln/>
        </p:spPr>
        <p:txBody>
          <a:bodyPr wrap="square" lIns="0" tIns="0" rIns="0" bIns="0" rtlCol="0" anchor="ctr"/>
          <a:lstStyle/>
          <a:p>
            <a:pPr marL="0" indent="0" algn="ctr">
              <a:buNone/>
            </a:pPr>
            <a:r>
              <a:rPr lang="en-US" sz="1500" dirty="0">
                <a:solidFill>
                  <a:schemeClr val="tx1"/>
                </a:solidFill>
              </a:rPr>
              <a:t>Características priorizadas por libro</a:t>
            </a:r>
            <a:endParaRPr lang="en-US" sz="1500" dirty="0"/>
          </a:p>
        </p:txBody>
      </p:sp>
      <p:sp>
        <p:nvSpPr>
          <p:cNvPr id="21" name="Bloque generación 1"/>
          <p:cNvSpPr/>
          <p:nvPr/>
        </p:nvSpPr>
        <p:spPr>
          <a:xfrm>
            <a:off x="8119872" y="1965960"/>
            <a:ext cx="3310128" cy="713232"/>
          </a:xfrm>
          <a:prstGeom prst="roundRect">
            <a:avLst>
              <a:gd name="adj" fmla="val 12821"/>
            </a:avLst>
          </a:prstGeom>
          <a:solidFill>
            <a:schemeClr val="accent1">
              <a:alpha val="18000"/>
            </a:schemeClr>
          </a:solidFill>
          <a:ln w="15875">
            <a:solidFill>
              <a:schemeClr val="accent1"/>
            </a:solidFill>
            <a:prstDash val="solid"/>
          </a:ln>
        </p:spPr>
        <p:txBody>
          <a:bodyPr/>
          <a:lstStyle/>
          <a:p>
            <a:endParaRPr lang="es-AR"/>
          </a:p>
        </p:txBody>
      </p:sp>
      <p:sp>
        <p:nvSpPr>
          <p:cNvPr id="22" name="Bloque generación 1 (texto)"/>
          <p:cNvSpPr txBox="1"/>
          <p:nvPr/>
        </p:nvSpPr>
        <p:spPr>
          <a:xfrm>
            <a:off x="8211312" y="1965960"/>
            <a:ext cx="3127248" cy="713232"/>
          </a:xfrm>
          <a:prstGeom prst="rect">
            <a:avLst/>
          </a:prstGeom>
          <a:noFill/>
          <a:ln/>
        </p:spPr>
        <p:txBody>
          <a:bodyPr wrap="square" lIns="0" tIns="0" rIns="0" bIns="0" rtlCol="0" anchor="ctr"/>
          <a:lstStyle/>
          <a:p>
            <a:pPr marL="0" indent="0" algn="ctr">
              <a:buNone/>
            </a:pPr>
            <a:r>
              <a:rPr lang="en-US" sz="1500" dirty="0">
                <a:solidFill>
                  <a:schemeClr val="tx1"/>
                </a:solidFill>
              </a:rPr>
              <a:t>Sinopsis original del catálogo</a:t>
            </a:r>
            <a:endParaRPr lang="en-US" sz="1500" dirty="0"/>
          </a:p>
        </p:txBody>
      </p:sp>
      <p:sp>
        <p:nvSpPr>
          <p:cNvPr id="23" name="Bloque generación 2"/>
          <p:cNvSpPr/>
          <p:nvPr/>
        </p:nvSpPr>
        <p:spPr>
          <a:xfrm>
            <a:off x="8119872" y="2862072"/>
            <a:ext cx="3310128" cy="713232"/>
          </a:xfrm>
          <a:prstGeom prst="roundRect">
            <a:avLst>
              <a:gd name="adj" fmla="val 12821"/>
            </a:avLst>
          </a:prstGeom>
          <a:solidFill>
            <a:schemeClr val="accent1">
              <a:alpha val="18000"/>
            </a:schemeClr>
          </a:solidFill>
          <a:ln w="15875">
            <a:solidFill>
              <a:schemeClr val="accent1"/>
            </a:solidFill>
            <a:prstDash val="solid"/>
          </a:ln>
        </p:spPr>
        <p:txBody>
          <a:bodyPr/>
          <a:lstStyle/>
          <a:p>
            <a:endParaRPr lang="es-AR"/>
          </a:p>
        </p:txBody>
      </p:sp>
      <p:sp>
        <p:nvSpPr>
          <p:cNvPr id="24" name="Bloque generación 2 (texto)"/>
          <p:cNvSpPr txBox="1"/>
          <p:nvPr/>
        </p:nvSpPr>
        <p:spPr>
          <a:xfrm>
            <a:off x="8211312" y="2862072"/>
            <a:ext cx="3127248" cy="713232"/>
          </a:xfrm>
          <a:prstGeom prst="rect">
            <a:avLst/>
          </a:prstGeom>
          <a:noFill/>
          <a:ln/>
        </p:spPr>
        <p:txBody>
          <a:bodyPr wrap="square" lIns="0" tIns="0" rIns="0" bIns="0" rtlCol="0" anchor="ctr"/>
          <a:lstStyle/>
          <a:p>
            <a:pPr marL="0" indent="0" algn="ctr">
              <a:buNone/>
            </a:pPr>
            <a:r>
              <a:rPr lang="en-US" sz="1500" dirty="0">
                <a:solidFill>
                  <a:schemeClr val="tx1"/>
                </a:solidFill>
              </a:rPr>
              <a:t>Generador de sinopsis (LLM)</a:t>
            </a:r>
            <a:endParaRPr lang="en-US" sz="1500" dirty="0"/>
          </a:p>
        </p:txBody>
      </p:sp>
      <p:sp>
        <p:nvSpPr>
          <p:cNvPr id="25" name="Bloque generación 3"/>
          <p:cNvSpPr/>
          <p:nvPr/>
        </p:nvSpPr>
        <p:spPr>
          <a:xfrm>
            <a:off x="8119872" y="3758184"/>
            <a:ext cx="3310128" cy="713232"/>
          </a:xfrm>
          <a:prstGeom prst="roundRect">
            <a:avLst>
              <a:gd name="adj" fmla="val 12821"/>
            </a:avLst>
          </a:prstGeom>
          <a:solidFill>
            <a:schemeClr val="accent6">
              <a:alpha val="18000"/>
            </a:schemeClr>
          </a:solidFill>
          <a:ln w="15875">
            <a:solidFill>
              <a:schemeClr val="accent6"/>
            </a:solidFill>
            <a:prstDash val="solid"/>
          </a:ln>
        </p:spPr>
        <p:txBody>
          <a:bodyPr/>
          <a:lstStyle/>
          <a:p>
            <a:endParaRPr lang="es-AR"/>
          </a:p>
        </p:txBody>
      </p:sp>
      <p:sp>
        <p:nvSpPr>
          <p:cNvPr id="26" name="Bloque generación 3 (texto)"/>
          <p:cNvSpPr txBox="1"/>
          <p:nvPr/>
        </p:nvSpPr>
        <p:spPr>
          <a:xfrm>
            <a:off x="8211312" y="3758184"/>
            <a:ext cx="3127248" cy="713232"/>
          </a:xfrm>
          <a:prstGeom prst="rect">
            <a:avLst/>
          </a:prstGeom>
          <a:noFill/>
          <a:ln/>
        </p:spPr>
        <p:txBody>
          <a:bodyPr wrap="square" lIns="0" tIns="0" rIns="0" bIns="0" rtlCol="0" anchor="ctr"/>
          <a:lstStyle/>
          <a:p>
            <a:pPr marL="0" indent="0" algn="ctr">
              <a:buNone/>
            </a:pPr>
            <a:r>
              <a:rPr lang="en-US" sz="1500" dirty="0">
                <a:solidFill>
                  <a:schemeClr val="tx1"/>
                </a:solidFill>
              </a:rPr>
              <a:t>Verificación y revisión editorial</a:t>
            </a:r>
            <a:endParaRPr lang="en-US" sz="1500" dirty="0"/>
          </a:p>
        </p:txBody>
      </p:sp>
      <p:sp>
        <p:nvSpPr>
          <p:cNvPr id="27" name="Bloque generación 4"/>
          <p:cNvSpPr/>
          <p:nvPr/>
        </p:nvSpPr>
        <p:spPr>
          <a:xfrm>
            <a:off x="8119872" y="4654296"/>
            <a:ext cx="3310128" cy="713232"/>
          </a:xfrm>
          <a:prstGeom prst="roundRect">
            <a:avLst>
              <a:gd name="adj" fmla="val 12821"/>
            </a:avLst>
          </a:prstGeom>
          <a:solidFill>
            <a:schemeClr val="accent6">
              <a:alpha val="18000"/>
            </a:schemeClr>
          </a:solidFill>
          <a:ln w="15875">
            <a:solidFill>
              <a:schemeClr val="accent6"/>
            </a:solidFill>
            <a:prstDash val="solid"/>
          </a:ln>
        </p:spPr>
        <p:txBody>
          <a:bodyPr/>
          <a:lstStyle/>
          <a:p>
            <a:endParaRPr lang="es-AR"/>
          </a:p>
        </p:txBody>
      </p:sp>
      <p:sp>
        <p:nvSpPr>
          <p:cNvPr id="28" name="Bloque generación 4 (texto)"/>
          <p:cNvSpPr txBox="1"/>
          <p:nvPr/>
        </p:nvSpPr>
        <p:spPr>
          <a:xfrm>
            <a:off x="8211312" y="4654296"/>
            <a:ext cx="3127248" cy="713232"/>
          </a:xfrm>
          <a:prstGeom prst="rect">
            <a:avLst/>
          </a:prstGeom>
          <a:noFill/>
          <a:ln/>
        </p:spPr>
        <p:txBody>
          <a:bodyPr wrap="square" lIns="0" tIns="0" rIns="0" bIns="0" rtlCol="0" anchor="ctr"/>
          <a:lstStyle/>
          <a:p>
            <a:pPr marL="0" indent="0" algn="ctr">
              <a:buNone/>
            </a:pPr>
            <a:r>
              <a:rPr lang="en-US" sz="1500" dirty="0">
                <a:solidFill>
                  <a:schemeClr val="tx1"/>
                </a:solidFill>
              </a:rPr>
              <a:t>Piloto controlado: publicación y medición de citación</a:t>
            </a:r>
            <a:endParaRPr lang="en-US" sz="1500" dirty="0"/>
          </a:p>
        </p:txBody>
      </p:sp>
      <p:sp>
        <p:nvSpPr>
          <p:cNvPr id="29" name="Conector"/>
          <p:cNvSpPr/>
          <p:nvPr/>
        </p:nvSpPr>
        <p:spPr>
          <a:xfrm>
            <a:off x="3383280" y="2446020"/>
            <a:ext cx="365760" cy="0"/>
          </a:xfrm>
          <a:prstGeom prst="line">
            <a:avLst/>
          </a:prstGeom>
          <a:noFill/>
          <a:ln w="19050">
            <a:solidFill>
              <a:schemeClr val="accent5"/>
            </a:solidFill>
            <a:prstDash val="solid"/>
          </a:ln>
        </p:spPr>
        <p:txBody>
          <a:bodyPr/>
          <a:lstStyle/>
          <a:p>
            <a:endParaRPr lang="es-AR"/>
          </a:p>
        </p:txBody>
      </p:sp>
      <p:sp>
        <p:nvSpPr>
          <p:cNvPr id="30" name="Conector"/>
          <p:cNvSpPr/>
          <p:nvPr/>
        </p:nvSpPr>
        <p:spPr>
          <a:xfrm>
            <a:off x="3383280" y="3543300"/>
            <a:ext cx="365760" cy="0"/>
          </a:xfrm>
          <a:prstGeom prst="line">
            <a:avLst/>
          </a:prstGeom>
          <a:noFill/>
          <a:ln w="19050">
            <a:solidFill>
              <a:schemeClr val="accent5"/>
            </a:solidFill>
            <a:prstDash val="solid"/>
          </a:ln>
        </p:spPr>
        <p:txBody>
          <a:bodyPr/>
          <a:lstStyle/>
          <a:p>
            <a:endParaRPr lang="es-AR"/>
          </a:p>
        </p:txBody>
      </p:sp>
      <p:sp>
        <p:nvSpPr>
          <p:cNvPr id="31" name="Conector"/>
          <p:cNvSpPr/>
          <p:nvPr/>
        </p:nvSpPr>
        <p:spPr>
          <a:xfrm>
            <a:off x="3383280" y="4640580"/>
            <a:ext cx="365760" cy="0"/>
          </a:xfrm>
          <a:prstGeom prst="line">
            <a:avLst/>
          </a:prstGeom>
          <a:noFill/>
          <a:ln w="19050">
            <a:solidFill>
              <a:schemeClr val="accent5"/>
            </a:solidFill>
            <a:prstDash val="solid"/>
          </a:ln>
        </p:spPr>
        <p:txBody>
          <a:bodyPr/>
          <a:lstStyle/>
          <a:p>
            <a:endParaRPr lang="es-AR"/>
          </a:p>
        </p:txBody>
      </p:sp>
      <p:sp>
        <p:nvSpPr>
          <p:cNvPr id="32" name="Conector"/>
          <p:cNvSpPr/>
          <p:nvPr/>
        </p:nvSpPr>
        <p:spPr>
          <a:xfrm>
            <a:off x="3749040" y="2446020"/>
            <a:ext cx="0" cy="2194560"/>
          </a:xfrm>
          <a:prstGeom prst="line">
            <a:avLst/>
          </a:prstGeom>
          <a:noFill/>
          <a:ln w="19050">
            <a:solidFill>
              <a:schemeClr val="accent5"/>
            </a:solidFill>
            <a:prstDash val="solid"/>
          </a:ln>
        </p:spPr>
        <p:txBody>
          <a:bodyPr/>
          <a:lstStyle/>
          <a:p>
            <a:endParaRPr lang="es-AR"/>
          </a:p>
        </p:txBody>
      </p:sp>
      <p:sp>
        <p:nvSpPr>
          <p:cNvPr id="33" name="Conector"/>
          <p:cNvSpPr/>
          <p:nvPr/>
        </p:nvSpPr>
        <p:spPr>
          <a:xfrm>
            <a:off x="3749040" y="2446020"/>
            <a:ext cx="566928" cy="0"/>
          </a:xfrm>
          <a:prstGeom prst="line">
            <a:avLst/>
          </a:prstGeom>
          <a:noFill/>
          <a:ln w="19050">
            <a:solidFill>
              <a:schemeClr val="accent5"/>
            </a:solidFill>
            <a:prstDash val="solid"/>
            <a:tailEnd type="triangle"/>
          </a:ln>
        </p:spPr>
        <p:txBody>
          <a:bodyPr/>
          <a:lstStyle/>
          <a:p>
            <a:endParaRPr lang="es-AR"/>
          </a:p>
        </p:txBody>
      </p:sp>
      <p:sp>
        <p:nvSpPr>
          <p:cNvPr id="34" name="Conector"/>
          <p:cNvSpPr/>
          <p:nvPr/>
        </p:nvSpPr>
        <p:spPr>
          <a:xfrm>
            <a:off x="5733288" y="2880360"/>
            <a:ext cx="0" cy="228600"/>
          </a:xfrm>
          <a:prstGeom prst="line">
            <a:avLst/>
          </a:prstGeom>
          <a:noFill/>
          <a:ln w="19050">
            <a:solidFill>
              <a:schemeClr val="accent5"/>
            </a:solidFill>
            <a:prstDash val="solid"/>
            <a:tailEnd type="triangle"/>
          </a:ln>
        </p:spPr>
        <p:txBody>
          <a:bodyPr/>
          <a:lstStyle/>
          <a:p>
            <a:endParaRPr lang="es-AR"/>
          </a:p>
        </p:txBody>
      </p:sp>
      <p:sp>
        <p:nvSpPr>
          <p:cNvPr id="35" name="Conector"/>
          <p:cNvSpPr/>
          <p:nvPr/>
        </p:nvSpPr>
        <p:spPr>
          <a:xfrm>
            <a:off x="5733288" y="3977640"/>
            <a:ext cx="0" cy="228600"/>
          </a:xfrm>
          <a:prstGeom prst="line">
            <a:avLst/>
          </a:prstGeom>
          <a:noFill/>
          <a:ln w="19050">
            <a:solidFill>
              <a:schemeClr val="accent5"/>
            </a:solidFill>
            <a:prstDash val="solid"/>
            <a:tailEnd type="triangle"/>
          </a:ln>
        </p:spPr>
        <p:txBody>
          <a:bodyPr/>
          <a:lstStyle/>
          <a:p>
            <a:endParaRPr lang="es-AR"/>
          </a:p>
        </p:txBody>
      </p:sp>
      <p:sp>
        <p:nvSpPr>
          <p:cNvPr id="36" name="Conector"/>
          <p:cNvSpPr/>
          <p:nvPr/>
        </p:nvSpPr>
        <p:spPr>
          <a:xfrm>
            <a:off x="9774936" y="2679192"/>
            <a:ext cx="0" cy="182880"/>
          </a:xfrm>
          <a:prstGeom prst="line">
            <a:avLst/>
          </a:prstGeom>
          <a:noFill/>
          <a:ln w="19050">
            <a:solidFill>
              <a:schemeClr val="accent5"/>
            </a:solidFill>
            <a:prstDash val="solid"/>
            <a:tailEnd type="triangle"/>
          </a:ln>
        </p:spPr>
        <p:txBody>
          <a:bodyPr/>
          <a:lstStyle/>
          <a:p>
            <a:endParaRPr lang="es-AR"/>
          </a:p>
        </p:txBody>
      </p:sp>
      <p:sp>
        <p:nvSpPr>
          <p:cNvPr id="37" name="Conector"/>
          <p:cNvSpPr/>
          <p:nvPr/>
        </p:nvSpPr>
        <p:spPr>
          <a:xfrm>
            <a:off x="9774936" y="3575304"/>
            <a:ext cx="0" cy="182880"/>
          </a:xfrm>
          <a:prstGeom prst="line">
            <a:avLst/>
          </a:prstGeom>
          <a:noFill/>
          <a:ln w="19050">
            <a:solidFill>
              <a:schemeClr val="accent5"/>
            </a:solidFill>
            <a:prstDash val="solid"/>
            <a:tailEnd type="triangle"/>
          </a:ln>
        </p:spPr>
        <p:txBody>
          <a:bodyPr/>
          <a:lstStyle/>
          <a:p>
            <a:endParaRPr lang="es-AR"/>
          </a:p>
        </p:txBody>
      </p:sp>
      <p:sp>
        <p:nvSpPr>
          <p:cNvPr id="38" name="Conector"/>
          <p:cNvSpPr/>
          <p:nvPr/>
        </p:nvSpPr>
        <p:spPr>
          <a:xfrm>
            <a:off x="9774936" y="4471416"/>
            <a:ext cx="0" cy="182880"/>
          </a:xfrm>
          <a:prstGeom prst="line">
            <a:avLst/>
          </a:prstGeom>
          <a:noFill/>
          <a:ln w="19050">
            <a:solidFill>
              <a:schemeClr val="accent5"/>
            </a:solidFill>
            <a:prstDash val="solid"/>
            <a:tailEnd type="triangle"/>
          </a:ln>
        </p:spPr>
        <p:txBody>
          <a:bodyPr/>
          <a:lstStyle/>
          <a:p>
            <a:endParaRPr lang="es-AR"/>
          </a:p>
        </p:txBody>
      </p:sp>
      <p:sp>
        <p:nvSpPr>
          <p:cNvPr id="39" name="Conector"/>
          <p:cNvSpPr/>
          <p:nvPr/>
        </p:nvSpPr>
        <p:spPr>
          <a:xfrm>
            <a:off x="7150608" y="4640580"/>
            <a:ext cx="457200" cy="0"/>
          </a:xfrm>
          <a:prstGeom prst="line">
            <a:avLst/>
          </a:prstGeom>
          <a:noFill/>
          <a:ln w="19050">
            <a:solidFill>
              <a:schemeClr val="accent5"/>
            </a:solidFill>
            <a:prstDash val="solid"/>
          </a:ln>
        </p:spPr>
        <p:txBody>
          <a:bodyPr/>
          <a:lstStyle/>
          <a:p>
            <a:endParaRPr lang="es-AR"/>
          </a:p>
        </p:txBody>
      </p:sp>
      <p:sp>
        <p:nvSpPr>
          <p:cNvPr id="40" name="Conector"/>
          <p:cNvSpPr/>
          <p:nvPr/>
        </p:nvSpPr>
        <p:spPr>
          <a:xfrm>
            <a:off x="7607808" y="3218688"/>
            <a:ext cx="0" cy="1421892"/>
          </a:xfrm>
          <a:prstGeom prst="line">
            <a:avLst/>
          </a:prstGeom>
          <a:noFill/>
          <a:ln w="19050">
            <a:solidFill>
              <a:schemeClr val="accent5"/>
            </a:solidFill>
            <a:prstDash val="solid"/>
          </a:ln>
        </p:spPr>
        <p:txBody>
          <a:bodyPr/>
          <a:lstStyle/>
          <a:p>
            <a:endParaRPr lang="es-AR"/>
          </a:p>
        </p:txBody>
      </p:sp>
      <p:sp>
        <p:nvSpPr>
          <p:cNvPr id="41" name="Conector"/>
          <p:cNvSpPr/>
          <p:nvPr/>
        </p:nvSpPr>
        <p:spPr>
          <a:xfrm>
            <a:off x="7607808" y="3218688"/>
            <a:ext cx="512064" cy="0"/>
          </a:xfrm>
          <a:prstGeom prst="line">
            <a:avLst/>
          </a:prstGeom>
          <a:noFill/>
          <a:ln w="19050">
            <a:solidFill>
              <a:schemeClr val="accent5"/>
            </a:solidFill>
            <a:prstDash val="solid"/>
            <a:tailEnd type="triangle"/>
          </a:ln>
        </p:spPr>
        <p:txBody>
          <a:bodyPr/>
          <a:lstStyle/>
          <a:p>
            <a:endParaRPr lang="es-AR"/>
          </a:p>
        </p:txBody>
      </p:sp>
      <p:sp>
        <p:nvSpPr>
          <p:cNvPr id="42" name="Conector"/>
          <p:cNvSpPr/>
          <p:nvPr/>
        </p:nvSpPr>
        <p:spPr>
          <a:xfrm>
            <a:off x="9774936" y="5367528"/>
            <a:ext cx="0" cy="484632"/>
          </a:xfrm>
          <a:prstGeom prst="line">
            <a:avLst/>
          </a:prstGeom>
          <a:noFill/>
          <a:ln w="19050">
            <a:solidFill>
              <a:schemeClr val="accent5"/>
            </a:solidFill>
            <a:prstDash val="dash"/>
          </a:ln>
        </p:spPr>
        <p:txBody>
          <a:bodyPr/>
          <a:lstStyle/>
          <a:p>
            <a:endParaRPr lang="es-AR"/>
          </a:p>
        </p:txBody>
      </p:sp>
      <p:sp>
        <p:nvSpPr>
          <p:cNvPr id="43" name="Conector"/>
          <p:cNvSpPr/>
          <p:nvPr/>
        </p:nvSpPr>
        <p:spPr>
          <a:xfrm>
            <a:off x="3986784" y="5852160"/>
            <a:ext cx="5788152" cy="0"/>
          </a:xfrm>
          <a:prstGeom prst="line">
            <a:avLst/>
          </a:prstGeom>
          <a:noFill/>
          <a:ln w="19050">
            <a:solidFill>
              <a:schemeClr val="accent5"/>
            </a:solidFill>
            <a:prstDash val="dash"/>
          </a:ln>
        </p:spPr>
        <p:txBody>
          <a:bodyPr/>
          <a:lstStyle/>
          <a:p>
            <a:endParaRPr lang="es-AR"/>
          </a:p>
        </p:txBody>
      </p:sp>
      <p:sp>
        <p:nvSpPr>
          <p:cNvPr id="44" name="Conector"/>
          <p:cNvSpPr/>
          <p:nvPr/>
        </p:nvSpPr>
        <p:spPr>
          <a:xfrm>
            <a:off x="3986784" y="3840480"/>
            <a:ext cx="0" cy="2011680"/>
          </a:xfrm>
          <a:prstGeom prst="line">
            <a:avLst/>
          </a:prstGeom>
          <a:noFill/>
          <a:ln w="19050">
            <a:solidFill>
              <a:schemeClr val="accent5"/>
            </a:solidFill>
            <a:prstDash val="dash"/>
          </a:ln>
        </p:spPr>
        <p:txBody>
          <a:bodyPr/>
          <a:lstStyle/>
          <a:p>
            <a:endParaRPr lang="es-AR"/>
          </a:p>
        </p:txBody>
      </p:sp>
      <p:sp>
        <p:nvSpPr>
          <p:cNvPr id="45" name="Conector"/>
          <p:cNvSpPr/>
          <p:nvPr/>
        </p:nvSpPr>
        <p:spPr>
          <a:xfrm>
            <a:off x="3986784" y="3840480"/>
            <a:ext cx="329184" cy="0"/>
          </a:xfrm>
          <a:prstGeom prst="line">
            <a:avLst/>
          </a:prstGeom>
          <a:noFill/>
          <a:ln w="19050">
            <a:solidFill>
              <a:schemeClr val="accent5"/>
            </a:solidFill>
            <a:prstDash val="dash"/>
            <a:tailEnd type="triangle"/>
          </a:ln>
        </p:spPr>
        <p:txBody>
          <a:bodyPr/>
          <a:lstStyle/>
          <a:p>
            <a:endParaRPr lang="es-AR"/>
          </a:p>
        </p:txBody>
      </p:sp>
      <p:sp>
        <p:nvSpPr>
          <p:cNvPr id="46" name="Rótulo realimentación"/>
          <p:cNvSpPr txBox="1"/>
          <p:nvPr/>
        </p:nvSpPr>
        <p:spPr>
          <a:xfrm>
            <a:off x="5669280" y="5897880"/>
            <a:ext cx="2194560" cy="274320"/>
          </a:xfrm>
          <a:prstGeom prst="rect">
            <a:avLst/>
          </a:prstGeom>
          <a:noFill/>
          <a:ln/>
        </p:spPr>
        <p:txBody>
          <a:bodyPr wrap="square" lIns="0" tIns="0" rIns="0" bIns="0" rtlCol="0" anchor="t"/>
          <a:lstStyle/>
          <a:p>
            <a:pPr marL="0" indent="0" algn="ctr">
              <a:buNone/>
            </a:pPr>
            <a:r>
              <a:rPr lang="en-US" sz="1300" i="1" dirty="0">
                <a:solidFill>
                  <a:schemeClr val="accent5"/>
                </a:solidFill>
              </a:rPr>
              <a:t>realimentación</a:t>
            </a:r>
            <a:endParaRPr lang="en-US" sz="1300" dirty="0"/>
          </a:p>
        </p:txBody>
      </p:sp>
      <p:sp>
        <p:nvSpPr>
          <p:cNvPr id="47"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Interesados</a:t>
            </a:r>
            <a:endParaRPr lang="en-US" sz="3400" dirty="0"/>
          </a:p>
        </p:txBody>
      </p:sp>
      <p:sp>
        <p:nvSpPr>
          <p:cNvPr id="3" name="Fila Auspiciante 1"/>
          <p:cNvSpPr/>
          <p:nvPr/>
        </p:nvSpPr>
        <p:spPr>
          <a:xfrm>
            <a:off x="548640" y="1371600"/>
            <a:ext cx="11091672" cy="822960"/>
          </a:xfrm>
          <a:prstGeom prst="roundRect">
            <a:avLst>
              <a:gd name="adj" fmla="val 13333"/>
            </a:avLst>
          </a:prstGeom>
          <a:solidFill>
            <a:schemeClr val="bg2"/>
          </a:solidFill>
          <a:ln w="12700">
            <a:solidFill>
              <a:schemeClr val="bg2"/>
            </a:solidFill>
            <a:prstDash val="solid"/>
          </a:ln>
        </p:spPr>
        <p:txBody>
          <a:bodyPr/>
          <a:lstStyle/>
          <a:p>
            <a:endParaRPr lang="es-AR"/>
          </a:p>
        </p:txBody>
      </p:sp>
      <p:sp>
        <p:nvSpPr>
          <p:cNvPr id="4" name="Rol Auspiciante"/>
          <p:cNvSpPr/>
          <p:nvPr/>
        </p:nvSpPr>
        <p:spPr>
          <a:xfrm>
            <a:off x="685800" y="1499616"/>
            <a:ext cx="2331720" cy="566928"/>
          </a:xfrm>
          <a:prstGeom prst="roundRect">
            <a:avLst>
              <a:gd name="adj" fmla="val 16129"/>
            </a:avLst>
          </a:prstGeom>
          <a:solidFill>
            <a:schemeClr val="tx1"/>
          </a:solidFill>
          <a:ln w="12700">
            <a:solidFill>
              <a:schemeClr val="tx1"/>
            </a:solidFill>
            <a:prstDash val="solid"/>
          </a:ln>
        </p:spPr>
        <p:txBody>
          <a:bodyPr/>
          <a:lstStyle/>
          <a:p>
            <a:endParaRPr lang="es-AR"/>
          </a:p>
        </p:txBody>
      </p:sp>
      <p:pic>
        <p:nvPicPr>
          <p:cNvPr id="5" name="Ícono Auspiciante" descr="preencoded.png"/>
          <p:cNvPicPr>
            <a:picLocks noChangeAspect="1"/>
          </p:cNvPicPr>
          <p:nvPr/>
        </p:nvPicPr>
        <p:blipFill>
          <a:blip r:embed="rId3"/>
          <a:stretch>
            <a:fillRect/>
          </a:stretch>
        </p:blipFill>
        <p:spPr>
          <a:xfrm>
            <a:off x="841248" y="1618488"/>
            <a:ext cx="329184" cy="329184"/>
          </a:xfrm>
          <a:prstGeom prst="rect">
            <a:avLst/>
          </a:prstGeom>
        </p:spPr>
      </p:pic>
      <p:sp>
        <p:nvSpPr>
          <p:cNvPr id="6" name="Texto rol 1"/>
          <p:cNvSpPr txBox="1"/>
          <p:nvPr/>
        </p:nvSpPr>
        <p:spPr>
          <a:xfrm>
            <a:off x="1298448" y="1499616"/>
            <a:ext cx="1645920" cy="566928"/>
          </a:xfrm>
          <a:prstGeom prst="rect">
            <a:avLst/>
          </a:prstGeom>
          <a:noFill/>
          <a:ln/>
        </p:spPr>
        <p:txBody>
          <a:bodyPr wrap="square" lIns="0" tIns="0" rIns="0" bIns="0" rtlCol="0" anchor="ctr"/>
          <a:lstStyle/>
          <a:p>
            <a:pPr marL="0" indent="0">
              <a:buNone/>
            </a:pPr>
            <a:r>
              <a:rPr lang="en-US" sz="1800" b="1" dirty="0">
                <a:solidFill>
                  <a:schemeClr val="bg1"/>
                </a:solidFill>
              </a:rPr>
              <a:t>Auspiciante</a:t>
            </a:r>
            <a:endParaRPr lang="en-US" sz="1800" dirty="0"/>
          </a:p>
        </p:txBody>
      </p:sp>
      <p:sp>
        <p:nvSpPr>
          <p:cNvPr id="7" name="Nombre 1"/>
          <p:cNvSpPr txBox="1"/>
          <p:nvPr/>
        </p:nvSpPr>
        <p:spPr>
          <a:xfrm>
            <a:off x="3291840" y="1371600"/>
            <a:ext cx="3886200" cy="822960"/>
          </a:xfrm>
          <a:prstGeom prst="rect">
            <a:avLst/>
          </a:prstGeom>
          <a:noFill/>
          <a:ln/>
        </p:spPr>
        <p:txBody>
          <a:bodyPr wrap="square" lIns="0" tIns="0" rIns="0" bIns="0" rtlCol="0" anchor="ctr"/>
          <a:lstStyle/>
          <a:p>
            <a:pPr marL="0" indent="0">
              <a:buNone/>
            </a:pPr>
            <a:r>
              <a:rPr lang="en-US" sz="2100" b="1" dirty="0">
                <a:solidFill>
                  <a:schemeClr val="tx1"/>
                </a:solidFill>
              </a:rPr>
              <a:t>Penguin Random House Grupo Editorial</a:t>
            </a:r>
            <a:endParaRPr lang="en-US" sz="2100" dirty="0"/>
          </a:p>
        </p:txBody>
      </p:sp>
      <p:sp>
        <p:nvSpPr>
          <p:cNvPr id="8" name="Puesto 1"/>
          <p:cNvSpPr txBox="1"/>
          <p:nvPr/>
        </p:nvSpPr>
        <p:spPr>
          <a:xfrm>
            <a:off x="7360920" y="1371600"/>
            <a:ext cx="4114800" cy="822960"/>
          </a:xfrm>
          <a:prstGeom prst="rect">
            <a:avLst/>
          </a:prstGeom>
          <a:noFill/>
          <a:ln/>
        </p:spPr>
        <p:txBody>
          <a:bodyPr wrap="square" lIns="0" tIns="0" rIns="0" bIns="0" rtlCol="0" anchor="ctr"/>
          <a:lstStyle/>
          <a:p>
            <a:pPr marL="0" indent="0">
              <a:buNone/>
            </a:pPr>
            <a:r>
              <a:rPr lang="en-US" sz="1600" dirty="0" err="1">
                <a:solidFill>
                  <a:schemeClr val="accent5"/>
                </a:solidFill>
              </a:rPr>
              <a:t>Aporta</a:t>
            </a:r>
            <a:r>
              <a:rPr lang="en-US" sz="1600" dirty="0">
                <a:solidFill>
                  <a:schemeClr val="accent5"/>
                </a:solidFill>
              </a:rPr>
              <a:t> </a:t>
            </a:r>
            <a:r>
              <a:rPr lang="en-US" sz="1600" dirty="0" err="1">
                <a:solidFill>
                  <a:schemeClr val="accent5"/>
                </a:solidFill>
              </a:rPr>
              <a:t>datos</a:t>
            </a:r>
            <a:r>
              <a:rPr lang="en-US" sz="1600" dirty="0">
                <a:solidFill>
                  <a:schemeClr val="accent5"/>
                </a:solidFill>
              </a:rPr>
              <a:t> </a:t>
            </a:r>
            <a:r>
              <a:rPr lang="en-US" sz="1600" dirty="0" err="1">
                <a:solidFill>
                  <a:schemeClr val="accent5"/>
                </a:solidFill>
              </a:rPr>
              <a:t>internos</a:t>
            </a:r>
            <a:r>
              <a:rPr lang="en-US" sz="1600" dirty="0">
                <a:solidFill>
                  <a:schemeClr val="accent5"/>
                </a:solidFill>
              </a:rPr>
              <a:t> y </a:t>
            </a:r>
            <a:r>
              <a:rPr lang="en-US" sz="1600" dirty="0" err="1">
                <a:solidFill>
                  <a:schemeClr val="accent5"/>
                </a:solidFill>
              </a:rPr>
              <a:t>créditos</a:t>
            </a:r>
            <a:r>
              <a:rPr lang="en-US" sz="1600" dirty="0">
                <a:solidFill>
                  <a:schemeClr val="accent5"/>
                </a:solidFill>
              </a:rPr>
              <a:t> para las APIs</a:t>
            </a:r>
            <a:endParaRPr lang="en-US" sz="1600" dirty="0"/>
          </a:p>
        </p:txBody>
      </p:sp>
      <p:sp>
        <p:nvSpPr>
          <p:cNvPr id="9" name="Fila Cliente 2"/>
          <p:cNvSpPr/>
          <p:nvPr/>
        </p:nvSpPr>
        <p:spPr>
          <a:xfrm>
            <a:off x="548640" y="2304288"/>
            <a:ext cx="11091672" cy="822960"/>
          </a:xfrm>
          <a:prstGeom prst="roundRect">
            <a:avLst>
              <a:gd name="adj" fmla="val 13333"/>
            </a:avLst>
          </a:prstGeom>
          <a:solidFill>
            <a:schemeClr val="bg2"/>
          </a:solidFill>
          <a:ln w="12700">
            <a:solidFill>
              <a:schemeClr val="bg2"/>
            </a:solidFill>
            <a:prstDash val="solid"/>
          </a:ln>
        </p:spPr>
        <p:txBody>
          <a:bodyPr/>
          <a:lstStyle/>
          <a:p>
            <a:endParaRPr lang="es-AR"/>
          </a:p>
        </p:txBody>
      </p:sp>
      <p:sp>
        <p:nvSpPr>
          <p:cNvPr id="10" name="Rol Cliente"/>
          <p:cNvSpPr/>
          <p:nvPr/>
        </p:nvSpPr>
        <p:spPr>
          <a:xfrm>
            <a:off x="685800" y="2432304"/>
            <a:ext cx="2331720" cy="566928"/>
          </a:xfrm>
          <a:prstGeom prst="roundRect">
            <a:avLst>
              <a:gd name="adj" fmla="val 16129"/>
            </a:avLst>
          </a:prstGeom>
          <a:solidFill>
            <a:schemeClr val="tx1"/>
          </a:solidFill>
          <a:ln w="12700">
            <a:solidFill>
              <a:schemeClr val="tx1"/>
            </a:solidFill>
            <a:prstDash val="solid"/>
          </a:ln>
        </p:spPr>
        <p:txBody>
          <a:bodyPr/>
          <a:lstStyle/>
          <a:p>
            <a:endParaRPr lang="es-AR"/>
          </a:p>
        </p:txBody>
      </p:sp>
      <p:pic>
        <p:nvPicPr>
          <p:cNvPr id="11" name="Ícono Cliente" descr="preencoded.png"/>
          <p:cNvPicPr>
            <a:picLocks noChangeAspect="1"/>
          </p:cNvPicPr>
          <p:nvPr/>
        </p:nvPicPr>
        <p:blipFill>
          <a:blip r:embed="rId4"/>
          <a:stretch>
            <a:fillRect/>
          </a:stretch>
        </p:blipFill>
        <p:spPr>
          <a:xfrm>
            <a:off x="841248" y="2551176"/>
            <a:ext cx="329184" cy="329184"/>
          </a:xfrm>
          <a:prstGeom prst="rect">
            <a:avLst/>
          </a:prstGeom>
        </p:spPr>
      </p:pic>
      <p:sp>
        <p:nvSpPr>
          <p:cNvPr id="12" name="Texto rol 2"/>
          <p:cNvSpPr txBox="1"/>
          <p:nvPr/>
        </p:nvSpPr>
        <p:spPr>
          <a:xfrm>
            <a:off x="1298448" y="2432304"/>
            <a:ext cx="1645920" cy="566928"/>
          </a:xfrm>
          <a:prstGeom prst="rect">
            <a:avLst/>
          </a:prstGeom>
          <a:noFill/>
          <a:ln/>
        </p:spPr>
        <p:txBody>
          <a:bodyPr wrap="square" lIns="0" tIns="0" rIns="0" bIns="0" rtlCol="0" anchor="ctr"/>
          <a:lstStyle/>
          <a:p>
            <a:pPr marL="0" indent="0">
              <a:buNone/>
            </a:pPr>
            <a:r>
              <a:rPr lang="en-US" sz="1800" b="1" dirty="0">
                <a:solidFill>
                  <a:schemeClr val="bg1"/>
                </a:solidFill>
              </a:rPr>
              <a:t>Cliente</a:t>
            </a:r>
            <a:endParaRPr lang="en-US" sz="1800" dirty="0"/>
          </a:p>
        </p:txBody>
      </p:sp>
      <p:sp>
        <p:nvSpPr>
          <p:cNvPr id="13" name="Nombre 2"/>
          <p:cNvSpPr txBox="1"/>
          <p:nvPr/>
        </p:nvSpPr>
        <p:spPr>
          <a:xfrm>
            <a:off x="3291840" y="2304288"/>
            <a:ext cx="3886200" cy="822960"/>
          </a:xfrm>
          <a:prstGeom prst="rect">
            <a:avLst/>
          </a:prstGeom>
          <a:noFill/>
          <a:ln/>
        </p:spPr>
        <p:txBody>
          <a:bodyPr wrap="square" lIns="0" tIns="0" rIns="0" bIns="0" rtlCol="0" anchor="ctr"/>
          <a:lstStyle/>
          <a:p>
            <a:pPr marL="0" indent="0">
              <a:buNone/>
            </a:pPr>
            <a:r>
              <a:rPr lang="en-US" sz="2100" b="1" dirty="0">
                <a:solidFill>
                  <a:schemeClr val="tx1"/>
                </a:solidFill>
              </a:rPr>
              <a:t>Victoria O'Donnell</a:t>
            </a:r>
            <a:endParaRPr lang="en-US" sz="2100" dirty="0"/>
          </a:p>
        </p:txBody>
      </p:sp>
      <p:sp>
        <p:nvSpPr>
          <p:cNvPr id="14" name="Puesto 2"/>
          <p:cNvSpPr txBox="1"/>
          <p:nvPr/>
        </p:nvSpPr>
        <p:spPr>
          <a:xfrm>
            <a:off x="7360920" y="2304288"/>
            <a:ext cx="4114800" cy="822960"/>
          </a:xfrm>
          <a:prstGeom prst="rect">
            <a:avLst/>
          </a:prstGeom>
          <a:noFill/>
          <a:ln/>
        </p:spPr>
        <p:txBody>
          <a:bodyPr wrap="square" lIns="0" tIns="0" rIns="0" bIns="0" rtlCol="0" anchor="ctr"/>
          <a:lstStyle/>
          <a:p>
            <a:pPr marL="0" indent="0">
              <a:buNone/>
            </a:pPr>
            <a:r>
              <a:rPr lang="en-US" sz="1600" dirty="0">
                <a:solidFill>
                  <a:schemeClr val="accent5"/>
                </a:solidFill>
              </a:rPr>
              <a:t>Científica de datos</a:t>
            </a:r>
            <a:endParaRPr lang="en-US" sz="1600" dirty="0"/>
          </a:p>
          <a:p>
            <a:pPr marL="0" indent="0">
              <a:buNone/>
            </a:pPr>
            <a:r>
              <a:rPr lang="en-US" sz="1600" dirty="0">
                <a:solidFill>
                  <a:schemeClr val="accent5"/>
                </a:solidFill>
              </a:rPr>
              <a:t>Penguin Random House Grupo Editorial</a:t>
            </a:r>
            <a:endParaRPr lang="en-US" sz="1600" dirty="0"/>
          </a:p>
        </p:txBody>
      </p:sp>
      <p:sp>
        <p:nvSpPr>
          <p:cNvPr id="15" name="Fila Responsable 3"/>
          <p:cNvSpPr/>
          <p:nvPr/>
        </p:nvSpPr>
        <p:spPr>
          <a:xfrm>
            <a:off x="548640" y="3236976"/>
            <a:ext cx="11091672" cy="822960"/>
          </a:xfrm>
          <a:prstGeom prst="roundRect">
            <a:avLst>
              <a:gd name="adj" fmla="val 13333"/>
            </a:avLst>
          </a:prstGeom>
          <a:solidFill>
            <a:schemeClr val="bg2"/>
          </a:solidFill>
          <a:ln w="12700">
            <a:solidFill>
              <a:schemeClr val="bg2"/>
            </a:solidFill>
            <a:prstDash val="solid"/>
          </a:ln>
        </p:spPr>
        <p:txBody>
          <a:bodyPr/>
          <a:lstStyle/>
          <a:p>
            <a:endParaRPr lang="es-AR"/>
          </a:p>
        </p:txBody>
      </p:sp>
      <p:sp>
        <p:nvSpPr>
          <p:cNvPr id="16" name="Rol Responsable"/>
          <p:cNvSpPr/>
          <p:nvPr/>
        </p:nvSpPr>
        <p:spPr>
          <a:xfrm>
            <a:off x="685800" y="3364992"/>
            <a:ext cx="2331720" cy="566928"/>
          </a:xfrm>
          <a:prstGeom prst="roundRect">
            <a:avLst>
              <a:gd name="adj" fmla="val 16129"/>
            </a:avLst>
          </a:prstGeom>
          <a:solidFill>
            <a:schemeClr val="tx1"/>
          </a:solidFill>
          <a:ln w="12700">
            <a:solidFill>
              <a:schemeClr val="tx1"/>
            </a:solidFill>
            <a:prstDash val="solid"/>
          </a:ln>
        </p:spPr>
        <p:txBody>
          <a:bodyPr/>
          <a:lstStyle/>
          <a:p>
            <a:endParaRPr lang="es-AR"/>
          </a:p>
        </p:txBody>
      </p:sp>
      <p:pic>
        <p:nvPicPr>
          <p:cNvPr id="17" name="Ícono Responsable" descr="preencoded.png"/>
          <p:cNvPicPr>
            <a:picLocks noChangeAspect="1"/>
          </p:cNvPicPr>
          <p:nvPr/>
        </p:nvPicPr>
        <p:blipFill>
          <a:blip r:embed="rId5"/>
          <a:stretch>
            <a:fillRect/>
          </a:stretch>
        </p:blipFill>
        <p:spPr>
          <a:xfrm>
            <a:off x="841248" y="3483864"/>
            <a:ext cx="329184" cy="329184"/>
          </a:xfrm>
          <a:prstGeom prst="rect">
            <a:avLst/>
          </a:prstGeom>
        </p:spPr>
      </p:pic>
      <p:sp>
        <p:nvSpPr>
          <p:cNvPr id="18" name="Texto rol 3"/>
          <p:cNvSpPr txBox="1"/>
          <p:nvPr/>
        </p:nvSpPr>
        <p:spPr>
          <a:xfrm>
            <a:off x="1298448" y="3364992"/>
            <a:ext cx="1645920" cy="566928"/>
          </a:xfrm>
          <a:prstGeom prst="rect">
            <a:avLst/>
          </a:prstGeom>
          <a:noFill/>
          <a:ln/>
        </p:spPr>
        <p:txBody>
          <a:bodyPr wrap="square" lIns="0" tIns="0" rIns="0" bIns="0" rtlCol="0" anchor="ctr"/>
          <a:lstStyle/>
          <a:p>
            <a:pPr marL="0" indent="0">
              <a:buNone/>
            </a:pPr>
            <a:r>
              <a:rPr lang="en-US" sz="1800" b="1" dirty="0">
                <a:solidFill>
                  <a:schemeClr val="bg1"/>
                </a:solidFill>
              </a:rPr>
              <a:t>Responsable</a:t>
            </a:r>
            <a:endParaRPr lang="en-US" sz="1800" dirty="0"/>
          </a:p>
        </p:txBody>
      </p:sp>
      <p:sp>
        <p:nvSpPr>
          <p:cNvPr id="19" name="Nombre 3"/>
          <p:cNvSpPr txBox="1"/>
          <p:nvPr/>
        </p:nvSpPr>
        <p:spPr>
          <a:xfrm>
            <a:off x="3291840" y="3236976"/>
            <a:ext cx="3886200" cy="822960"/>
          </a:xfrm>
          <a:prstGeom prst="rect">
            <a:avLst/>
          </a:prstGeom>
          <a:noFill/>
          <a:ln/>
        </p:spPr>
        <p:txBody>
          <a:bodyPr wrap="square" lIns="0" tIns="0" rIns="0" bIns="0" rtlCol="0" anchor="ctr"/>
          <a:lstStyle/>
          <a:p>
            <a:pPr marL="0" indent="0">
              <a:buNone/>
            </a:pPr>
            <a:r>
              <a:rPr lang="en-US" sz="2100" b="1" dirty="0">
                <a:solidFill>
                  <a:schemeClr val="tx1"/>
                </a:solidFill>
              </a:rPr>
              <a:t>Ing. Luis José Paredes Ramirez</a:t>
            </a:r>
            <a:endParaRPr lang="en-US" sz="2100" dirty="0"/>
          </a:p>
        </p:txBody>
      </p:sp>
      <p:sp>
        <p:nvSpPr>
          <p:cNvPr id="20" name="Puesto 3"/>
          <p:cNvSpPr txBox="1"/>
          <p:nvPr/>
        </p:nvSpPr>
        <p:spPr>
          <a:xfrm>
            <a:off x="7360920" y="3236976"/>
            <a:ext cx="4114800" cy="822960"/>
          </a:xfrm>
          <a:prstGeom prst="rect">
            <a:avLst/>
          </a:prstGeom>
          <a:noFill/>
          <a:ln/>
        </p:spPr>
        <p:txBody>
          <a:bodyPr wrap="square" lIns="0" tIns="0" rIns="0" bIns="0" rtlCol="0" anchor="ctr"/>
          <a:lstStyle/>
          <a:p>
            <a:pPr marL="0" indent="0">
              <a:buNone/>
            </a:pPr>
            <a:r>
              <a:rPr lang="en-US" sz="1600" i="1" dirty="0">
                <a:solidFill>
                  <a:schemeClr val="accent5"/>
                </a:solidFill>
              </a:rPr>
              <a:t>Machine learning engineer</a:t>
            </a:r>
            <a:endParaRPr lang="en-US" sz="1600" dirty="0"/>
          </a:p>
          <a:p>
            <a:pPr marL="0" indent="0">
              <a:buNone/>
            </a:pPr>
            <a:r>
              <a:rPr lang="en-US" sz="1600" dirty="0">
                <a:solidFill>
                  <a:schemeClr val="accent5"/>
                </a:solidFill>
              </a:rPr>
              <a:t>Penguin Random House Grupo Editorial</a:t>
            </a:r>
            <a:endParaRPr lang="en-US" sz="1600" dirty="0"/>
          </a:p>
        </p:txBody>
      </p:sp>
      <p:sp>
        <p:nvSpPr>
          <p:cNvPr id="21" name="Fila Orientador 4"/>
          <p:cNvSpPr/>
          <p:nvPr/>
        </p:nvSpPr>
        <p:spPr>
          <a:xfrm>
            <a:off x="548640" y="4169664"/>
            <a:ext cx="11091672" cy="822960"/>
          </a:xfrm>
          <a:prstGeom prst="roundRect">
            <a:avLst>
              <a:gd name="adj" fmla="val 13333"/>
            </a:avLst>
          </a:prstGeom>
          <a:solidFill>
            <a:schemeClr val="bg2"/>
          </a:solidFill>
          <a:ln w="12700">
            <a:solidFill>
              <a:schemeClr val="bg2"/>
            </a:solidFill>
            <a:prstDash val="solid"/>
          </a:ln>
        </p:spPr>
        <p:txBody>
          <a:bodyPr/>
          <a:lstStyle/>
          <a:p>
            <a:endParaRPr lang="es-AR"/>
          </a:p>
        </p:txBody>
      </p:sp>
      <p:sp>
        <p:nvSpPr>
          <p:cNvPr id="22" name="Rol Orientador"/>
          <p:cNvSpPr/>
          <p:nvPr/>
        </p:nvSpPr>
        <p:spPr>
          <a:xfrm>
            <a:off x="685800" y="4297680"/>
            <a:ext cx="2331720" cy="566928"/>
          </a:xfrm>
          <a:prstGeom prst="roundRect">
            <a:avLst>
              <a:gd name="adj" fmla="val 16129"/>
            </a:avLst>
          </a:prstGeom>
          <a:solidFill>
            <a:schemeClr val="tx1"/>
          </a:solidFill>
          <a:ln w="12700">
            <a:solidFill>
              <a:schemeClr val="tx1"/>
            </a:solidFill>
            <a:prstDash val="solid"/>
          </a:ln>
        </p:spPr>
        <p:txBody>
          <a:bodyPr/>
          <a:lstStyle/>
          <a:p>
            <a:endParaRPr lang="es-AR"/>
          </a:p>
        </p:txBody>
      </p:sp>
      <p:pic>
        <p:nvPicPr>
          <p:cNvPr id="23" name="Ícono Orientador" descr="preencoded.png"/>
          <p:cNvPicPr>
            <a:picLocks noChangeAspect="1"/>
          </p:cNvPicPr>
          <p:nvPr/>
        </p:nvPicPr>
        <p:blipFill>
          <a:blip r:embed="rId6"/>
          <a:stretch>
            <a:fillRect/>
          </a:stretch>
        </p:blipFill>
        <p:spPr>
          <a:xfrm>
            <a:off x="841248" y="4416552"/>
            <a:ext cx="329184" cy="329184"/>
          </a:xfrm>
          <a:prstGeom prst="rect">
            <a:avLst/>
          </a:prstGeom>
        </p:spPr>
      </p:pic>
      <p:sp>
        <p:nvSpPr>
          <p:cNvPr id="24" name="Texto rol 4"/>
          <p:cNvSpPr txBox="1"/>
          <p:nvPr/>
        </p:nvSpPr>
        <p:spPr>
          <a:xfrm>
            <a:off x="1298448" y="4297680"/>
            <a:ext cx="1645920" cy="566928"/>
          </a:xfrm>
          <a:prstGeom prst="rect">
            <a:avLst/>
          </a:prstGeom>
          <a:noFill/>
          <a:ln/>
        </p:spPr>
        <p:txBody>
          <a:bodyPr wrap="square" lIns="0" tIns="0" rIns="0" bIns="0" rtlCol="0" anchor="ctr"/>
          <a:lstStyle/>
          <a:p>
            <a:pPr marL="0" indent="0">
              <a:buNone/>
            </a:pPr>
            <a:r>
              <a:rPr lang="en-US" sz="1800" b="1" dirty="0">
                <a:solidFill>
                  <a:schemeClr val="bg1"/>
                </a:solidFill>
              </a:rPr>
              <a:t>Orientador</a:t>
            </a:r>
            <a:endParaRPr lang="en-US" sz="1800" dirty="0"/>
          </a:p>
        </p:txBody>
      </p:sp>
      <p:sp>
        <p:nvSpPr>
          <p:cNvPr id="25" name="Nombre 4"/>
          <p:cNvSpPr txBox="1"/>
          <p:nvPr/>
        </p:nvSpPr>
        <p:spPr>
          <a:xfrm>
            <a:off x="3291840" y="4169664"/>
            <a:ext cx="3886200" cy="822960"/>
          </a:xfrm>
          <a:prstGeom prst="rect">
            <a:avLst/>
          </a:prstGeom>
          <a:noFill/>
          <a:ln/>
        </p:spPr>
        <p:txBody>
          <a:bodyPr wrap="square" lIns="0" tIns="0" rIns="0" bIns="0" rtlCol="0" anchor="ctr"/>
          <a:lstStyle/>
          <a:p>
            <a:pPr marL="0" indent="0">
              <a:buNone/>
            </a:pPr>
            <a:r>
              <a:rPr lang="en-US" sz="2100" b="1" dirty="0">
                <a:solidFill>
                  <a:schemeClr val="tx1"/>
                </a:solidFill>
              </a:rPr>
              <a:t>Dr. Ing. Juan Manuel Rodríguez</a:t>
            </a:r>
            <a:endParaRPr lang="en-US" sz="2100" dirty="0"/>
          </a:p>
        </p:txBody>
      </p:sp>
      <p:sp>
        <p:nvSpPr>
          <p:cNvPr id="26" name="Puesto 4"/>
          <p:cNvSpPr txBox="1"/>
          <p:nvPr/>
        </p:nvSpPr>
        <p:spPr>
          <a:xfrm>
            <a:off x="7360920" y="4169664"/>
            <a:ext cx="4114800" cy="822960"/>
          </a:xfrm>
          <a:prstGeom prst="rect">
            <a:avLst/>
          </a:prstGeom>
          <a:noFill/>
          <a:ln/>
        </p:spPr>
        <p:txBody>
          <a:bodyPr wrap="square" lIns="0" tIns="0" rIns="0" bIns="0" rtlCol="0" anchor="ctr"/>
          <a:lstStyle/>
          <a:p>
            <a:pPr marL="0" indent="0">
              <a:buNone/>
            </a:pPr>
            <a:r>
              <a:rPr lang="en-US" sz="1600" dirty="0">
                <a:solidFill>
                  <a:schemeClr val="accent5"/>
                </a:solidFill>
              </a:rPr>
              <a:t>Director del trabajo final</a:t>
            </a:r>
            <a:endParaRPr lang="en-US" sz="1600" dirty="0"/>
          </a:p>
          <a:p>
            <a:pPr marL="0" indent="0">
              <a:buNone/>
            </a:pPr>
            <a:r>
              <a:rPr lang="en-US" sz="1600" dirty="0">
                <a:solidFill>
                  <a:schemeClr val="accent5"/>
                </a:solidFill>
              </a:rPr>
              <a:t>Universidad de Buenos Aires</a:t>
            </a:r>
            <a:endParaRPr lang="en-US" sz="1600" dirty="0"/>
          </a:p>
        </p:txBody>
      </p:sp>
      <p:sp>
        <p:nvSpPr>
          <p:cNvPr id="27" name="Fila Orientador 5"/>
          <p:cNvSpPr/>
          <p:nvPr/>
        </p:nvSpPr>
        <p:spPr>
          <a:xfrm>
            <a:off x="548640" y="5102352"/>
            <a:ext cx="11091672" cy="822960"/>
          </a:xfrm>
          <a:prstGeom prst="roundRect">
            <a:avLst>
              <a:gd name="adj" fmla="val 13333"/>
            </a:avLst>
          </a:prstGeom>
          <a:solidFill>
            <a:schemeClr val="bg2"/>
          </a:solidFill>
          <a:ln w="12700">
            <a:solidFill>
              <a:schemeClr val="bg2"/>
            </a:solidFill>
            <a:prstDash val="solid"/>
          </a:ln>
        </p:spPr>
        <p:txBody>
          <a:bodyPr/>
          <a:lstStyle/>
          <a:p>
            <a:endParaRPr lang="es-AR"/>
          </a:p>
        </p:txBody>
      </p:sp>
      <p:sp>
        <p:nvSpPr>
          <p:cNvPr id="28" name="Rol Orientador"/>
          <p:cNvSpPr/>
          <p:nvPr/>
        </p:nvSpPr>
        <p:spPr>
          <a:xfrm>
            <a:off x="685800" y="5230368"/>
            <a:ext cx="2331720" cy="566928"/>
          </a:xfrm>
          <a:prstGeom prst="roundRect">
            <a:avLst>
              <a:gd name="adj" fmla="val 16129"/>
            </a:avLst>
          </a:prstGeom>
          <a:solidFill>
            <a:schemeClr val="tx1"/>
          </a:solidFill>
          <a:ln w="12700">
            <a:solidFill>
              <a:schemeClr val="tx1"/>
            </a:solidFill>
            <a:prstDash val="solid"/>
          </a:ln>
        </p:spPr>
        <p:txBody>
          <a:bodyPr/>
          <a:lstStyle/>
          <a:p>
            <a:endParaRPr lang="es-AR"/>
          </a:p>
        </p:txBody>
      </p:sp>
      <p:pic>
        <p:nvPicPr>
          <p:cNvPr id="29" name="Ícono Orientador" descr="preencoded.png"/>
          <p:cNvPicPr>
            <a:picLocks noChangeAspect="1"/>
          </p:cNvPicPr>
          <p:nvPr/>
        </p:nvPicPr>
        <p:blipFill>
          <a:blip r:embed="rId7"/>
          <a:stretch>
            <a:fillRect/>
          </a:stretch>
        </p:blipFill>
        <p:spPr>
          <a:xfrm>
            <a:off x="841248" y="5349240"/>
            <a:ext cx="329184" cy="329184"/>
          </a:xfrm>
          <a:prstGeom prst="rect">
            <a:avLst/>
          </a:prstGeom>
        </p:spPr>
      </p:pic>
      <p:sp>
        <p:nvSpPr>
          <p:cNvPr id="30" name="Texto rol 5"/>
          <p:cNvSpPr txBox="1"/>
          <p:nvPr/>
        </p:nvSpPr>
        <p:spPr>
          <a:xfrm>
            <a:off x="1298448" y="5230368"/>
            <a:ext cx="1645920" cy="566928"/>
          </a:xfrm>
          <a:prstGeom prst="rect">
            <a:avLst/>
          </a:prstGeom>
          <a:noFill/>
          <a:ln/>
        </p:spPr>
        <p:txBody>
          <a:bodyPr wrap="square" lIns="0" tIns="0" rIns="0" bIns="0" rtlCol="0" anchor="ctr"/>
          <a:lstStyle/>
          <a:p>
            <a:pPr marL="0" indent="0">
              <a:buNone/>
            </a:pPr>
            <a:r>
              <a:rPr lang="en-US" sz="1800" b="1" dirty="0">
                <a:solidFill>
                  <a:schemeClr val="bg1"/>
                </a:solidFill>
              </a:rPr>
              <a:t>Orientador</a:t>
            </a:r>
            <a:endParaRPr lang="en-US" sz="1800" dirty="0"/>
          </a:p>
        </p:txBody>
      </p:sp>
      <p:sp>
        <p:nvSpPr>
          <p:cNvPr id="31" name="Nombre 5"/>
          <p:cNvSpPr txBox="1"/>
          <p:nvPr/>
        </p:nvSpPr>
        <p:spPr>
          <a:xfrm>
            <a:off x="3291840" y="5102352"/>
            <a:ext cx="3886200" cy="822960"/>
          </a:xfrm>
          <a:prstGeom prst="rect">
            <a:avLst/>
          </a:prstGeom>
          <a:noFill/>
          <a:ln/>
        </p:spPr>
        <p:txBody>
          <a:bodyPr wrap="square" lIns="0" tIns="0" rIns="0" bIns="0" rtlCol="0" anchor="ctr"/>
          <a:lstStyle/>
          <a:p>
            <a:pPr marL="0" indent="0">
              <a:buNone/>
            </a:pPr>
            <a:r>
              <a:rPr lang="en-US" sz="2100" b="1" dirty="0">
                <a:solidFill>
                  <a:schemeClr val="tx1"/>
                </a:solidFill>
              </a:rPr>
              <a:t>Sebastian Pellizzeri</a:t>
            </a:r>
            <a:endParaRPr lang="en-US" sz="2100" dirty="0"/>
          </a:p>
        </p:txBody>
      </p:sp>
      <p:sp>
        <p:nvSpPr>
          <p:cNvPr id="32" name="Puesto 5"/>
          <p:cNvSpPr txBox="1"/>
          <p:nvPr/>
        </p:nvSpPr>
        <p:spPr>
          <a:xfrm>
            <a:off x="7360920" y="5102352"/>
            <a:ext cx="4114800" cy="822960"/>
          </a:xfrm>
          <a:prstGeom prst="rect">
            <a:avLst/>
          </a:prstGeom>
          <a:noFill/>
          <a:ln/>
        </p:spPr>
        <p:txBody>
          <a:bodyPr wrap="square" lIns="0" tIns="0" rIns="0" bIns="0" rtlCol="0" anchor="ctr"/>
          <a:lstStyle/>
          <a:p>
            <a:pPr marL="0" indent="0">
              <a:buNone/>
            </a:pPr>
            <a:r>
              <a:rPr lang="en-US" sz="1600" dirty="0">
                <a:solidFill>
                  <a:schemeClr val="accent5"/>
                </a:solidFill>
              </a:rPr>
              <a:t>Codirector del trabajo final</a:t>
            </a:r>
            <a:endParaRPr lang="en-US" sz="1600" dirty="0"/>
          </a:p>
          <a:p>
            <a:pPr marL="0" indent="0">
              <a:buNone/>
            </a:pPr>
            <a:r>
              <a:rPr lang="en-US" sz="1600" dirty="0">
                <a:solidFill>
                  <a:schemeClr val="accent5"/>
                </a:solidFill>
              </a:rPr>
              <a:t>Penguin Random House Grupo Editorial</a:t>
            </a:r>
            <a:endParaRPr lang="en-US" sz="1600" dirty="0"/>
          </a:p>
        </p:txBody>
      </p:sp>
      <p:sp>
        <p:nvSpPr>
          <p:cNvPr id="33"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676975" cy="731520"/>
          </a:xfrm>
          <a:prstGeom prst="rect">
            <a:avLst/>
          </a:prstGeom>
          <a:noFill/>
          <a:ln/>
        </p:spPr>
        <p:txBody>
          <a:bodyPr wrap="square" lIns="0" tIns="0" rIns="0" bIns="0" rtlCol="0" anchor="ctr"/>
          <a:lstStyle/>
          <a:p>
            <a:pPr marL="0" indent="0" algn="l">
              <a:buNone/>
            </a:pPr>
            <a:r>
              <a:rPr lang="en-US" sz="3400" b="1" dirty="0">
                <a:solidFill>
                  <a:schemeClr val="tx1"/>
                </a:solidFill>
              </a:rPr>
              <a:t>Alcance</a:t>
            </a:r>
            <a:endParaRPr lang="en-US" sz="3400" dirty="0"/>
          </a:p>
        </p:txBody>
      </p:sp>
      <p:sp>
        <p:nvSpPr>
          <p:cNvPr id="3" name="Tarjeta Incluye"/>
          <p:cNvSpPr/>
          <p:nvPr/>
        </p:nvSpPr>
        <p:spPr>
          <a:xfrm>
            <a:off x="548640" y="1371600"/>
            <a:ext cx="5413248" cy="4770408"/>
          </a:xfrm>
          <a:prstGeom prst="roundRect">
            <a:avLst>
              <a:gd name="adj" fmla="val 2330"/>
            </a:avLst>
          </a:prstGeom>
          <a:solidFill>
            <a:schemeClr val="accent3">
              <a:alpha val="12000"/>
            </a:schemeClr>
          </a:solidFill>
          <a:ln w="12700">
            <a:solidFill>
              <a:schemeClr val="accent3">
                <a:alpha val="12000"/>
              </a:schemeClr>
            </a:solidFill>
            <a:prstDash val="solid"/>
          </a:ln>
        </p:spPr>
        <p:txBody>
          <a:bodyPr/>
          <a:lstStyle/>
          <a:p>
            <a:endParaRPr lang="es-AR"/>
          </a:p>
        </p:txBody>
      </p:sp>
      <p:sp>
        <p:nvSpPr>
          <p:cNvPr id="4" name="Ícono Incluye (círculo)"/>
          <p:cNvSpPr/>
          <p:nvPr/>
        </p:nvSpPr>
        <p:spPr>
          <a:xfrm>
            <a:off x="822960" y="1634705"/>
            <a:ext cx="566928" cy="566928"/>
          </a:xfrm>
          <a:prstGeom prst="ellipse">
            <a:avLst/>
          </a:prstGeom>
          <a:solidFill>
            <a:schemeClr val="accent3"/>
          </a:solidFill>
          <a:ln w="12700">
            <a:solidFill>
              <a:schemeClr val="accent3"/>
            </a:solidFill>
            <a:prstDash val="solid"/>
          </a:ln>
        </p:spPr>
        <p:txBody>
          <a:bodyPr/>
          <a:lstStyle/>
          <a:p>
            <a:endParaRPr lang="es-AR"/>
          </a:p>
        </p:txBody>
      </p:sp>
      <p:pic>
        <p:nvPicPr>
          <p:cNvPr id="5" name="Ícono Incluye (ícono)" descr="preencoded.png"/>
          <p:cNvPicPr>
            <a:picLocks noChangeAspect="1"/>
          </p:cNvPicPr>
          <p:nvPr/>
        </p:nvPicPr>
        <p:blipFill>
          <a:blip r:embed="rId3"/>
          <a:stretch>
            <a:fillRect/>
          </a:stretch>
        </p:blipFill>
        <p:spPr>
          <a:xfrm>
            <a:off x="959023" y="1770768"/>
            <a:ext cx="294803" cy="294803"/>
          </a:xfrm>
          <a:prstGeom prst="rect">
            <a:avLst/>
          </a:prstGeom>
        </p:spPr>
      </p:pic>
      <p:sp>
        <p:nvSpPr>
          <p:cNvPr id="6" name="Título Incluye"/>
          <p:cNvSpPr txBox="1"/>
          <p:nvPr/>
        </p:nvSpPr>
        <p:spPr>
          <a:xfrm>
            <a:off x="1554480" y="1643330"/>
            <a:ext cx="4114800" cy="566928"/>
          </a:xfrm>
          <a:prstGeom prst="rect">
            <a:avLst/>
          </a:prstGeom>
          <a:noFill/>
          <a:ln/>
        </p:spPr>
        <p:txBody>
          <a:bodyPr wrap="square" lIns="0" tIns="0" rIns="0" bIns="0" rtlCol="0" anchor="ctr"/>
          <a:lstStyle/>
          <a:p>
            <a:pPr marL="0" indent="0">
              <a:buNone/>
            </a:pPr>
            <a:r>
              <a:rPr lang="en-US" sz="2600" b="1" dirty="0">
                <a:solidFill>
                  <a:schemeClr val="accent3"/>
                </a:solidFill>
              </a:rPr>
              <a:t>Incluye</a:t>
            </a:r>
            <a:endParaRPr lang="en-US" sz="2600" dirty="0"/>
          </a:p>
        </p:txBody>
      </p:sp>
      <p:sp>
        <p:nvSpPr>
          <p:cNvPr id="7" name="Lista Incluye"/>
          <p:cNvSpPr txBox="1"/>
          <p:nvPr/>
        </p:nvSpPr>
        <p:spPr>
          <a:xfrm>
            <a:off x="707136" y="2371403"/>
            <a:ext cx="5099304" cy="3543850"/>
          </a:xfrm>
          <a:prstGeom prst="rect">
            <a:avLst/>
          </a:prstGeom>
          <a:noFill/>
          <a:ln/>
        </p:spPr>
        <p:txBody>
          <a:bodyPr wrap="square" lIns="0" tIns="0" rIns="0" bIns="0" rtlCol="0" anchor="t"/>
          <a:lstStyle/>
          <a:p>
            <a:pPr marL="228600" indent="-228600">
              <a:spcAft>
                <a:spcPts val="1400"/>
              </a:spcAft>
              <a:buSzPct val="100000"/>
              <a:buChar char="•"/>
            </a:pPr>
            <a:r>
              <a:rPr lang="en-US" sz="2000" dirty="0" err="1">
                <a:solidFill>
                  <a:schemeClr val="tx1"/>
                </a:solidFill>
              </a:rPr>
              <a:t>Construcción</a:t>
            </a:r>
            <a:r>
              <a:rPr lang="en-US" sz="2000" dirty="0">
                <a:solidFill>
                  <a:schemeClr val="tx1"/>
                </a:solidFill>
              </a:rPr>
              <a:t> </a:t>
            </a:r>
            <a:r>
              <a:rPr lang="en-US" sz="2000" dirty="0"/>
              <a:t>del c</a:t>
            </a:r>
            <a:r>
              <a:rPr lang="en-US" sz="2000" dirty="0">
                <a:solidFill>
                  <a:schemeClr val="tx1"/>
                </a:solidFill>
              </a:rPr>
              <a:t>onjunto de datos de citación.</a:t>
            </a:r>
            <a:endParaRPr lang="en-US" sz="2000" dirty="0"/>
          </a:p>
          <a:p>
            <a:pPr marL="228600" indent="-228600">
              <a:spcAft>
                <a:spcPts val="1400"/>
              </a:spcAft>
              <a:buSzPct val="100000"/>
              <a:buChar char="•"/>
            </a:pPr>
            <a:r>
              <a:rPr lang="en-US" sz="2000" dirty="0" err="1">
                <a:solidFill>
                  <a:schemeClr val="tx1"/>
                </a:solidFill>
              </a:rPr>
              <a:t>Analisis</a:t>
            </a:r>
            <a:r>
              <a:rPr lang="en-US" sz="2000" dirty="0">
                <a:solidFill>
                  <a:schemeClr val="tx1"/>
                </a:solidFill>
              </a:rPr>
              <a:t> y </a:t>
            </a:r>
            <a:r>
              <a:rPr lang="en-US" sz="2000" dirty="0" err="1">
                <a:solidFill>
                  <a:schemeClr val="tx1"/>
                </a:solidFill>
              </a:rPr>
              <a:t>extracción</a:t>
            </a:r>
            <a:r>
              <a:rPr lang="en-US" sz="2000" dirty="0">
                <a:solidFill>
                  <a:schemeClr val="tx1"/>
                </a:solidFill>
              </a:rPr>
              <a:t> de </a:t>
            </a:r>
            <a:r>
              <a:rPr lang="en-US" sz="2000" dirty="0" err="1">
                <a:solidFill>
                  <a:schemeClr val="tx1"/>
                </a:solidFill>
              </a:rPr>
              <a:t>características</a:t>
            </a:r>
            <a:r>
              <a:rPr lang="en-US" sz="2000" dirty="0">
                <a:solidFill>
                  <a:schemeClr val="tx1"/>
                </a:solidFill>
              </a:rPr>
              <a:t> </a:t>
            </a:r>
            <a:r>
              <a:rPr lang="en-US" sz="2000" dirty="0" err="1">
                <a:solidFill>
                  <a:schemeClr val="tx1"/>
                </a:solidFill>
              </a:rPr>
              <a:t>principales</a:t>
            </a:r>
            <a:r>
              <a:rPr lang="en-US" sz="2000" dirty="0">
                <a:solidFill>
                  <a:schemeClr val="tx1"/>
                </a:solidFill>
              </a:rPr>
              <a:t>.</a:t>
            </a:r>
            <a:endParaRPr lang="en-US" sz="2000" dirty="0"/>
          </a:p>
          <a:p>
            <a:pPr marL="228600" indent="-228600">
              <a:spcAft>
                <a:spcPts val="1400"/>
              </a:spcAft>
              <a:buSzPct val="100000"/>
              <a:buChar char="•"/>
            </a:pPr>
            <a:r>
              <a:rPr lang="en-US" sz="2000" dirty="0">
                <a:solidFill>
                  <a:schemeClr val="tx1"/>
                </a:solidFill>
              </a:rPr>
              <a:t>Modelo de predicción de la citación.</a:t>
            </a:r>
            <a:endParaRPr lang="en-US" sz="2000" dirty="0"/>
          </a:p>
          <a:p>
            <a:pPr marL="228600" indent="-228600">
              <a:spcAft>
                <a:spcPts val="1400"/>
              </a:spcAft>
              <a:buSzPct val="100000"/>
              <a:buChar char="•"/>
            </a:pPr>
            <a:r>
              <a:rPr lang="en-US" sz="2000" dirty="0">
                <a:solidFill>
                  <a:schemeClr val="tx1"/>
                </a:solidFill>
              </a:rPr>
              <a:t>Generador de sinopsis con un LLM </a:t>
            </a:r>
            <a:r>
              <a:rPr lang="en-US" sz="2000" dirty="0" err="1">
                <a:solidFill>
                  <a:schemeClr val="tx1"/>
                </a:solidFill>
              </a:rPr>
              <a:t>comercial</a:t>
            </a:r>
            <a:r>
              <a:rPr lang="en-US" sz="2000" dirty="0">
                <a:solidFill>
                  <a:schemeClr val="tx1"/>
                </a:solidFill>
              </a:rPr>
              <a:t>.</a:t>
            </a:r>
            <a:endParaRPr lang="en-US" sz="2000" dirty="0"/>
          </a:p>
          <a:p>
            <a:pPr marL="228600" indent="-228600">
              <a:spcAft>
                <a:spcPts val="1400"/>
              </a:spcAft>
              <a:buSzPct val="100000"/>
              <a:buChar char="•"/>
            </a:pPr>
            <a:r>
              <a:rPr lang="en-US" sz="2000" dirty="0">
                <a:solidFill>
                  <a:schemeClr val="tx1"/>
                </a:solidFill>
              </a:rPr>
              <a:t>Piloto controlado con grupo de control.</a:t>
            </a:r>
            <a:endParaRPr lang="en-US" sz="2000" dirty="0"/>
          </a:p>
          <a:p>
            <a:pPr marL="228600" indent="-228600">
              <a:spcAft>
                <a:spcPts val="1400"/>
              </a:spcAft>
              <a:buSzPct val="100000"/>
              <a:buChar char="•"/>
            </a:pPr>
            <a:r>
              <a:rPr lang="en-US" sz="2000" dirty="0">
                <a:solidFill>
                  <a:schemeClr val="tx1"/>
                </a:solidFill>
              </a:rPr>
              <a:t>Documentación, código fuente y memoria.</a:t>
            </a:r>
            <a:endParaRPr lang="en-US" sz="2000" dirty="0"/>
          </a:p>
        </p:txBody>
      </p:sp>
      <p:sp>
        <p:nvSpPr>
          <p:cNvPr id="8" name="Tarjeta No incluye"/>
          <p:cNvSpPr/>
          <p:nvPr/>
        </p:nvSpPr>
        <p:spPr>
          <a:xfrm>
            <a:off x="6307752" y="1371600"/>
            <a:ext cx="5257800" cy="4770408"/>
          </a:xfrm>
          <a:prstGeom prst="roundRect">
            <a:avLst>
              <a:gd name="adj" fmla="val 2330"/>
            </a:avLst>
          </a:prstGeom>
          <a:solidFill>
            <a:schemeClr val="bg2"/>
          </a:solidFill>
          <a:ln w="12700">
            <a:solidFill>
              <a:schemeClr val="bg2"/>
            </a:solidFill>
            <a:prstDash val="solid"/>
          </a:ln>
        </p:spPr>
        <p:txBody>
          <a:bodyPr/>
          <a:lstStyle/>
          <a:p>
            <a:endParaRPr lang="es-AR"/>
          </a:p>
        </p:txBody>
      </p:sp>
      <p:sp>
        <p:nvSpPr>
          <p:cNvPr id="9" name="Ícono No incluye (círculo)"/>
          <p:cNvSpPr/>
          <p:nvPr/>
        </p:nvSpPr>
        <p:spPr>
          <a:xfrm>
            <a:off x="6501384" y="1651960"/>
            <a:ext cx="566928" cy="566928"/>
          </a:xfrm>
          <a:prstGeom prst="ellipse">
            <a:avLst/>
          </a:prstGeom>
          <a:solidFill>
            <a:schemeClr val="accent5"/>
          </a:solidFill>
          <a:ln w="12700">
            <a:solidFill>
              <a:schemeClr val="accent5"/>
            </a:solidFill>
            <a:prstDash val="solid"/>
          </a:ln>
        </p:spPr>
        <p:txBody>
          <a:bodyPr/>
          <a:lstStyle/>
          <a:p>
            <a:endParaRPr lang="es-AR"/>
          </a:p>
        </p:txBody>
      </p:sp>
      <p:pic>
        <p:nvPicPr>
          <p:cNvPr id="10" name="Ícono No incluye (ícono)" descr="preencoded.png"/>
          <p:cNvPicPr>
            <a:picLocks noChangeAspect="1"/>
          </p:cNvPicPr>
          <p:nvPr/>
        </p:nvPicPr>
        <p:blipFill>
          <a:blip r:embed="rId4"/>
          <a:stretch>
            <a:fillRect/>
          </a:stretch>
        </p:blipFill>
        <p:spPr>
          <a:xfrm>
            <a:off x="6637447" y="1788023"/>
            <a:ext cx="294803" cy="294803"/>
          </a:xfrm>
          <a:prstGeom prst="rect">
            <a:avLst/>
          </a:prstGeom>
        </p:spPr>
      </p:pic>
      <p:sp>
        <p:nvSpPr>
          <p:cNvPr id="11" name="Título No incluye"/>
          <p:cNvSpPr txBox="1"/>
          <p:nvPr/>
        </p:nvSpPr>
        <p:spPr>
          <a:xfrm>
            <a:off x="7232904" y="1651960"/>
            <a:ext cx="4114800" cy="566928"/>
          </a:xfrm>
          <a:prstGeom prst="rect">
            <a:avLst/>
          </a:prstGeom>
          <a:noFill/>
          <a:ln/>
        </p:spPr>
        <p:txBody>
          <a:bodyPr wrap="square" lIns="0" tIns="0" rIns="0" bIns="0" rtlCol="0" anchor="ctr"/>
          <a:lstStyle/>
          <a:p>
            <a:pPr marL="0" indent="0">
              <a:buNone/>
            </a:pPr>
            <a:r>
              <a:rPr lang="en-US" sz="2600" b="1" dirty="0">
                <a:solidFill>
                  <a:schemeClr val="accent5"/>
                </a:solidFill>
              </a:rPr>
              <a:t>No incluye</a:t>
            </a:r>
            <a:endParaRPr lang="en-US" sz="2600" dirty="0"/>
          </a:p>
        </p:txBody>
      </p:sp>
      <p:sp>
        <p:nvSpPr>
          <p:cNvPr id="12" name="Lista No incluye"/>
          <p:cNvSpPr txBox="1"/>
          <p:nvPr/>
        </p:nvSpPr>
        <p:spPr>
          <a:xfrm>
            <a:off x="6547104" y="2444960"/>
            <a:ext cx="4937760" cy="347472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chemeClr val="tx1"/>
                </a:solidFill>
              </a:rPr>
              <a:t>Factores de GEO distintos de la sinopsis.</a:t>
            </a:r>
            <a:endParaRPr lang="en-US" sz="2000" dirty="0"/>
          </a:p>
          <a:p>
            <a:pPr marL="228600" indent="-228600">
              <a:spcAft>
                <a:spcPts val="1400"/>
              </a:spcAft>
              <a:buSzPct val="100000"/>
              <a:buChar char="•"/>
            </a:pPr>
            <a:r>
              <a:rPr lang="en-US" sz="2000" dirty="0">
                <a:solidFill>
                  <a:schemeClr val="tx1"/>
                </a:solidFill>
              </a:rPr>
              <a:t>Respuestas generadas sin búsqueda web.</a:t>
            </a:r>
            <a:endParaRPr lang="en-US" sz="2000" dirty="0"/>
          </a:p>
          <a:p>
            <a:pPr marL="228600" indent="-228600">
              <a:spcAft>
                <a:spcPts val="1400"/>
              </a:spcAft>
              <a:buSzPct val="100000"/>
              <a:buChar char="•"/>
            </a:pPr>
            <a:r>
              <a:rPr lang="en-US" sz="2000" dirty="0">
                <a:solidFill>
                  <a:schemeClr val="tx1"/>
                </a:solidFill>
              </a:rPr>
              <a:t>Entrenamiento de un LLM propio.</a:t>
            </a:r>
            <a:endParaRPr lang="en-US" sz="2000" dirty="0"/>
          </a:p>
          <a:p>
            <a:pPr marL="228600" indent="-228600">
              <a:spcAft>
                <a:spcPts val="1400"/>
              </a:spcAft>
              <a:buSzPct val="100000"/>
              <a:buChar char="•"/>
            </a:pPr>
            <a:r>
              <a:rPr lang="en-US" sz="2000" dirty="0" err="1">
                <a:solidFill>
                  <a:schemeClr val="tx1"/>
                </a:solidFill>
              </a:rPr>
              <a:t>Despliegue</a:t>
            </a:r>
            <a:r>
              <a:rPr lang="en-US" sz="2000" dirty="0">
                <a:solidFill>
                  <a:schemeClr val="tx1"/>
                </a:solidFill>
              </a:rPr>
              <a:t> en todo el catálogo.</a:t>
            </a:r>
            <a:endParaRPr lang="en-US" sz="2000" dirty="0"/>
          </a:p>
          <a:p>
            <a:pPr marL="228600" indent="-228600">
              <a:spcAft>
                <a:spcPts val="1400"/>
              </a:spcAft>
              <a:buSzPct val="100000"/>
              <a:buChar char="•"/>
            </a:pPr>
            <a:r>
              <a:rPr lang="en-US" sz="2000" dirty="0">
                <a:solidFill>
                  <a:schemeClr val="tx1"/>
                </a:solidFill>
              </a:rPr>
              <a:t>Medición del impacto en ventas.</a:t>
            </a:r>
            <a:endParaRPr lang="en-US" sz="2000" dirty="0"/>
          </a:p>
          <a:p>
            <a:pPr marL="228600" indent="-228600">
              <a:spcAft>
                <a:spcPts val="1400"/>
              </a:spcAft>
              <a:buSzPct val="100000"/>
              <a:buChar char="•"/>
            </a:pPr>
            <a:r>
              <a:rPr lang="en-US" sz="2000" dirty="0">
                <a:solidFill>
                  <a:schemeClr val="tx1"/>
                </a:solidFill>
              </a:rPr>
              <a:t>Otros mercados u otras editoriales.</a:t>
            </a:r>
            <a:endParaRPr lang="en-US" sz="2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Requerimientos</a:t>
            </a:r>
            <a:endParaRPr lang="en-US" sz="3400" dirty="0"/>
          </a:p>
        </p:txBody>
      </p:sp>
      <p:sp>
        <p:nvSpPr>
          <p:cNvPr id="3" name="Text 1"/>
          <p:cNvSpPr>
            <a:spLocks noGrp="1"/>
          </p:cNvSpPr>
          <p:nvPr>
            <p:ph type="body" idx="102" hasCustomPrompt="1"/>
          </p:nvPr>
        </p:nvSpPr>
        <p:spPr>
          <a:xfrm>
            <a:off x="548640" y="1097280"/>
            <a:ext cx="11091672" cy="384048"/>
          </a:xfrm>
          <a:prstGeom prst="rect">
            <a:avLst/>
          </a:prstGeom>
          <a:noFill/>
          <a:ln/>
        </p:spPr>
        <p:txBody>
          <a:bodyPr wrap="square" lIns="0" tIns="0" rIns="0" bIns="0" rtlCol="0" anchor="ctr"/>
          <a:lstStyle/>
          <a:p>
            <a:pPr marL="0" indent="0">
              <a:buNone/>
            </a:pPr>
            <a:r>
              <a:rPr lang="en-US" sz="1800" i="1" dirty="0">
                <a:solidFill>
                  <a:schemeClr val="accent5"/>
                </a:solidFill>
              </a:rPr>
              <a:t>Product backlog</a:t>
            </a:r>
            <a:r>
              <a:rPr lang="en-US" sz="1800" dirty="0">
                <a:solidFill>
                  <a:schemeClr val="accent5"/>
                </a:solidFill>
              </a:rPr>
              <a:t> con 4 épicas y 8 historias de usuario (HU), que suman 115 </a:t>
            </a:r>
            <a:r>
              <a:rPr lang="en-US" sz="1800" i="1" dirty="0">
                <a:solidFill>
                  <a:schemeClr val="accent5"/>
                </a:solidFill>
              </a:rPr>
              <a:t>story points</a:t>
            </a:r>
            <a:r>
              <a:rPr lang="en-US" sz="1800" dirty="0">
                <a:solidFill>
                  <a:schemeClr val="accent5"/>
                </a:solidFill>
              </a:rPr>
              <a:t> (SP)</a:t>
            </a:r>
            <a:endParaRPr lang="en-US" sz="1800" dirty="0"/>
          </a:p>
        </p:txBody>
      </p:sp>
      <p:sp>
        <p:nvSpPr>
          <p:cNvPr id="4" name="Épica 1"/>
          <p:cNvSpPr/>
          <p:nvPr/>
        </p:nvSpPr>
        <p:spPr>
          <a:xfrm>
            <a:off x="548640" y="1691640"/>
            <a:ext cx="2635758" cy="4389120"/>
          </a:xfrm>
          <a:prstGeom prst="roundRect">
            <a:avLst>
              <a:gd name="adj" fmla="val 4163"/>
            </a:avLst>
          </a:prstGeom>
          <a:solidFill>
            <a:schemeClr val="accent2">
              <a:alpha val="14000"/>
            </a:schemeClr>
          </a:solidFill>
          <a:ln w="12700">
            <a:solidFill>
              <a:schemeClr val="accent2">
                <a:alpha val="14000"/>
              </a:schemeClr>
            </a:solidFill>
            <a:prstDash val="solid"/>
          </a:ln>
        </p:spPr>
        <p:txBody>
          <a:bodyPr/>
          <a:lstStyle/>
          <a:p>
            <a:endParaRPr lang="es-AR"/>
          </a:p>
        </p:txBody>
      </p:sp>
      <p:sp>
        <p:nvSpPr>
          <p:cNvPr id="5" name="Número épica 1"/>
          <p:cNvSpPr/>
          <p:nvPr/>
        </p:nvSpPr>
        <p:spPr>
          <a:xfrm>
            <a:off x="731520" y="1874520"/>
            <a:ext cx="457200" cy="457200"/>
          </a:xfrm>
          <a:prstGeom prst="ellipse">
            <a:avLst/>
          </a:prstGeom>
          <a:solidFill>
            <a:schemeClr val="accent2"/>
          </a:solidFill>
          <a:ln w="12700">
            <a:solidFill>
              <a:schemeClr val="accent2"/>
            </a:solidFill>
            <a:prstDash val="solid"/>
          </a:ln>
        </p:spPr>
        <p:txBody>
          <a:bodyPr/>
          <a:lstStyle/>
          <a:p>
            <a:endParaRPr lang="es-AR"/>
          </a:p>
        </p:txBody>
      </p:sp>
      <p:sp>
        <p:nvSpPr>
          <p:cNvPr id="6" name="Texto número épica 1"/>
          <p:cNvSpPr txBox="1"/>
          <p:nvPr/>
        </p:nvSpPr>
        <p:spPr>
          <a:xfrm>
            <a:off x="731520" y="18745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Rótulo épica 1"/>
          <p:cNvSpPr txBox="1"/>
          <p:nvPr/>
        </p:nvSpPr>
        <p:spPr>
          <a:xfrm>
            <a:off x="1298448" y="1874520"/>
            <a:ext cx="1645920" cy="457200"/>
          </a:xfrm>
          <a:prstGeom prst="rect">
            <a:avLst/>
          </a:prstGeom>
          <a:noFill/>
          <a:ln/>
        </p:spPr>
        <p:txBody>
          <a:bodyPr wrap="square" lIns="0" tIns="0" rIns="0" bIns="0" rtlCol="0" anchor="ctr"/>
          <a:lstStyle/>
          <a:p>
            <a:pPr marL="0" indent="0">
              <a:buNone/>
            </a:pPr>
            <a:r>
              <a:rPr lang="en-US" sz="1500" b="1" dirty="0">
                <a:solidFill>
                  <a:schemeClr val="accent5"/>
                </a:solidFill>
              </a:rPr>
              <a:t>Épica 1</a:t>
            </a:r>
            <a:endParaRPr lang="en-US" sz="1500" dirty="0"/>
          </a:p>
        </p:txBody>
      </p:sp>
      <p:sp>
        <p:nvSpPr>
          <p:cNvPr id="8" name="Nombre épica 1"/>
          <p:cNvSpPr txBox="1"/>
          <p:nvPr/>
        </p:nvSpPr>
        <p:spPr>
          <a:xfrm>
            <a:off x="685800" y="2441448"/>
            <a:ext cx="2361438" cy="777240"/>
          </a:xfrm>
          <a:prstGeom prst="rect">
            <a:avLst/>
          </a:prstGeom>
          <a:noFill/>
          <a:ln/>
        </p:spPr>
        <p:txBody>
          <a:bodyPr wrap="square" lIns="0" tIns="0" rIns="0" bIns="0" rtlCol="0" anchor="t"/>
          <a:lstStyle/>
          <a:p>
            <a:pPr marL="0" indent="0">
              <a:buNone/>
            </a:pPr>
            <a:r>
              <a:rPr lang="en-US" sz="1700" b="1" dirty="0" err="1">
                <a:solidFill>
                  <a:schemeClr val="tx1"/>
                </a:solidFill>
              </a:rPr>
              <a:t>Construcción</a:t>
            </a:r>
            <a:r>
              <a:rPr lang="en-US" sz="1700" b="1" dirty="0">
                <a:solidFill>
                  <a:schemeClr val="tx1"/>
                </a:solidFill>
              </a:rPr>
              <a:t> del </a:t>
            </a:r>
            <a:r>
              <a:rPr lang="en-US" sz="1700" b="1" dirty="0"/>
              <a:t>c</a:t>
            </a:r>
            <a:r>
              <a:rPr lang="en-US" sz="1700" b="1" dirty="0">
                <a:solidFill>
                  <a:schemeClr val="tx1"/>
                </a:solidFill>
              </a:rPr>
              <a:t>onjunto de datos de citación</a:t>
            </a:r>
            <a:endParaRPr lang="en-US" sz="1700" dirty="0"/>
          </a:p>
        </p:txBody>
      </p:sp>
      <p:sp>
        <p:nvSpPr>
          <p:cNvPr id="9" name="Tarjeta HU1"/>
          <p:cNvSpPr/>
          <p:nvPr/>
        </p:nvSpPr>
        <p:spPr>
          <a:xfrm>
            <a:off x="685800" y="32918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10" name="Etiqueta HU1"/>
          <p:cNvSpPr/>
          <p:nvPr/>
        </p:nvSpPr>
        <p:spPr>
          <a:xfrm>
            <a:off x="822960" y="34198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11" name="Texto etiqueta HU1"/>
          <p:cNvSpPr txBox="1"/>
          <p:nvPr/>
        </p:nvSpPr>
        <p:spPr>
          <a:xfrm>
            <a:off x="822960" y="34198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HU1</a:t>
            </a:r>
            <a:endParaRPr lang="en-US" sz="1300" dirty="0"/>
          </a:p>
        </p:txBody>
      </p:sp>
      <p:sp>
        <p:nvSpPr>
          <p:cNvPr id="12" name="Puntos HU1"/>
          <p:cNvSpPr txBox="1"/>
          <p:nvPr/>
        </p:nvSpPr>
        <p:spPr>
          <a:xfrm>
            <a:off x="1554480" y="34198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21 SP · alta</a:t>
            </a:r>
            <a:endParaRPr lang="en-US" sz="1300" dirty="0"/>
          </a:p>
        </p:txBody>
      </p:sp>
      <p:sp>
        <p:nvSpPr>
          <p:cNvPr id="13" name="Historia HU1"/>
          <p:cNvSpPr txBox="1"/>
          <p:nvPr/>
        </p:nvSpPr>
        <p:spPr>
          <a:xfrm>
            <a:off x="822960" y="3803904"/>
            <a:ext cx="2132838" cy="694944"/>
          </a:xfrm>
          <a:prstGeom prst="rect">
            <a:avLst/>
          </a:prstGeom>
          <a:noFill/>
          <a:ln/>
        </p:spPr>
        <p:txBody>
          <a:bodyPr wrap="square" lIns="0" tIns="0" rIns="0" bIns="0" rtlCol="0" anchor="t"/>
          <a:lstStyle/>
          <a:p>
            <a:pPr marL="0" indent="0">
              <a:buNone/>
            </a:pPr>
            <a:r>
              <a:rPr lang="en-US" sz="1500" dirty="0">
                <a:solidFill>
                  <a:schemeClr val="tx1"/>
                </a:solidFill>
              </a:rPr>
              <a:t>Medir la citación de los títulos en los motores.</a:t>
            </a:r>
            <a:endParaRPr lang="en-US" sz="1500" dirty="0"/>
          </a:p>
        </p:txBody>
      </p:sp>
      <p:sp>
        <p:nvSpPr>
          <p:cNvPr id="14" name="Tarjeta HU2"/>
          <p:cNvSpPr/>
          <p:nvPr/>
        </p:nvSpPr>
        <p:spPr>
          <a:xfrm>
            <a:off x="685800" y="46634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15" name="Etiqueta HU2"/>
          <p:cNvSpPr/>
          <p:nvPr/>
        </p:nvSpPr>
        <p:spPr>
          <a:xfrm>
            <a:off x="822960" y="47914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16" name="Texto etiqueta HU2"/>
          <p:cNvSpPr txBox="1"/>
          <p:nvPr/>
        </p:nvSpPr>
        <p:spPr>
          <a:xfrm>
            <a:off x="822960" y="47914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HU2</a:t>
            </a:r>
            <a:endParaRPr lang="en-US" sz="1300" dirty="0"/>
          </a:p>
        </p:txBody>
      </p:sp>
      <p:sp>
        <p:nvSpPr>
          <p:cNvPr id="17" name="Puntos HU2"/>
          <p:cNvSpPr txBox="1"/>
          <p:nvPr/>
        </p:nvSpPr>
        <p:spPr>
          <a:xfrm>
            <a:off x="1554480" y="47914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13 SP · alta</a:t>
            </a:r>
            <a:endParaRPr lang="en-US" sz="1300" dirty="0"/>
          </a:p>
        </p:txBody>
      </p:sp>
      <p:sp>
        <p:nvSpPr>
          <p:cNvPr id="18" name="Historia HU2"/>
          <p:cNvSpPr txBox="1"/>
          <p:nvPr/>
        </p:nvSpPr>
        <p:spPr>
          <a:xfrm>
            <a:off x="822960" y="5175504"/>
            <a:ext cx="2132838" cy="694944"/>
          </a:xfrm>
          <a:prstGeom prst="rect">
            <a:avLst/>
          </a:prstGeom>
          <a:noFill/>
          <a:ln/>
        </p:spPr>
        <p:txBody>
          <a:bodyPr wrap="square" lIns="0" tIns="0" rIns="0" bIns="0" rtlCol="0" anchor="t"/>
          <a:lstStyle/>
          <a:p>
            <a:pPr marL="0" indent="0">
              <a:buNone/>
            </a:pPr>
            <a:r>
              <a:rPr lang="en-US" sz="1500" dirty="0">
                <a:solidFill>
                  <a:schemeClr val="tx1"/>
                </a:solidFill>
              </a:rPr>
              <a:t>Consolidar la posición de las fichas y la popularidad.</a:t>
            </a:r>
            <a:endParaRPr lang="en-US" sz="1500" dirty="0"/>
          </a:p>
        </p:txBody>
      </p:sp>
      <p:sp>
        <p:nvSpPr>
          <p:cNvPr id="19" name="Épica 2"/>
          <p:cNvSpPr/>
          <p:nvPr/>
        </p:nvSpPr>
        <p:spPr>
          <a:xfrm>
            <a:off x="3367278" y="1691640"/>
            <a:ext cx="2635758" cy="4389120"/>
          </a:xfrm>
          <a:prstGeom prst="roundRect">
            <a:avLst>
              <a:gd name="adj" fmla="val 4163"/>
            </a:avLst>
          </a:prstGeom>
          <a:solidFill>
            <a:schemeClr val="accent6">
              <a:alpha val="14000"/>
            </a:schemeClr>
          </a:solidFill>
          <a:ln w="12700">
            <a:solidFill>
              <a:schemeClr val="accent6">
                <a:alpha val="14000"/>
              </a:schemeClr>
            </a:solidFill>
            <a:prstDash val="solid"/>
          </a:ln>
        </p:spPr>
        <p:txBody>
          <a:bodyPr/>
          <a:lstStyle/>
          <a:p>
            <a:endParaRPr lang="es-AR"/>
          </a:p>
        </p:txBody>
      </p:sp>
      <p:sp>
        <p:nvSpPr>
          <p:cNvPr id="20" name="Número épica 2"/>
          <p:cNvSpPr/>
          <p:nvPr/>
        </p:nvSpPr>
        <p:spPr>
          <a:xfrm>
            <a:off x="3550158" y="1874520"/>
            <a:ext cx="457200" cy="457200"/>
          </a:xfrm>
          <a:prstGeom prst="ellipse">
            <a:avLst/>
          </a:prstGeom>
          <a:solidFill>
            <a:schemeClr val="accent6"/>
          </a:solidFill>
          <a:ln w="12700">
            <a:solidFill>
              <a:schemeClr val="accent6"/>
            </a:solidFill>
            <a:prstDash val="solid"/>
          </a:ln>
        </p:spPr>
        <p:txBody>
          <a:bodyPr/>
          <a:lstStyle/>
          <a:p>
            <a:endParaRPr lang="es-AR"/>
          </a:p>
        </p:txBody>
      </p:sp>
      <p:sp>
        <p:nvSpPr>
          <p:cNvPr id="21" name="Texto número épica 2"/>
          <p:cNvSpPr txBox="1"/>
          <p:nvPr/>
        </p:nvSpPr>
        <p:spPr>
          <a:xfrm>
            <a:off x="3550158" y="18745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22" name="Rótulo épica 2"/>
          <p:cNvSpPr txBox="1"/>
          <p:nvPr/>
        </p:nvSpPr>
        <p:spPr>
          <a:xfrm>
            <a:off x="4117086" y="1874520"/>
            <a:ext cx="1645920" cy="457200"/>
          </a:xfrm>
          <a:prstGeom prst="rect">
            <a:avLst/>
          </a:prstGeom>
          <a:noFill/>
          <a:ln/>
        </p:spPr>
        <p:txBody>
          <a:bodyPr wrap="square" lIns="0" tIns="0" rIns="0" bIns="0" rtlCol="0" anchor="ctr"/>
          <a:lstStyle/>
          <a:p>
            <a:pPr marL="0" indent="0">
              <a:buNone/>
            </a:pPr>
            <a:r>
              <a:rPr lang="en-US" sz="1500" b="1" dirty="0">
                <a:solidFill>
                  <a:schemeClr val="accent5"/>
                </a:solidFill>
              </a:rPr>
              <a:t>Épica 2</a:t>
            </a:r>
            <a:endParaRPr lang="en-US" sz="1500" dirty="0"/>
          </a:p>
        </p:txBody>
      </p:sp>
      <p:sp>
        <p:nvSpPr>
          <p:cNvPr id="23" name="Nombre épica 2"/>
          <p:cNvSpPr txBox="1"/>
          <p:nvPr/>
        </p:nvSpPr>
        <p:spPr>
          <a:xfrm>
            <a:off x="3550158" y="2441448"/>
            <a:ext cx="2315718" cy="777240"/>
          </a:xfrm>
          <a:prstGeom prst="rect">
            <a:avLst/>
          </a:prstGeom>
          <a:noFill/>
          <a:ln/>
        </p:spPr>
        <p:txBody>
          <a:bodyPr wrap="square" lIns="0" tIns="0" rIns="0" bIns="0" rtlCol="0" anchor="t"/>
          <a:lstStyle/>
          <a:p>
            <a:pPr marL="0" indent="0">
              <a:buNone/>
            </a:pPr>
            <a:r>
              <a:rPr lang="en-US" sz="1700" b="1" dirty="0">
                <a:solidFill>
                  <a:schemeClr val="tx1"/>
                </a:solidFill>
              </a:rPr>
              <a:t>Predicción de la probabilidad de citación</a:t>
            </a:r>
            <a:endParaRPr lang="en-US" sz="1700" dirty="0"/>
          </a:p>
        </p:txBody>
      </p:sp>
      <p:sp>
        <p:nvSpPr>
          <p:cNvPr id="24" name="Tarjeta HU3"/>
          <p:cNvSpPr/>
          <p:nvPr/>
        </p:nvSpPr>
        <p:spPr>
          <a:xfrm>
            <a:off x="3504438" y="32918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25" name="Etiqueta HU3"/>
          <p:cNvSpPr/>
          <p:nvPr/>
        </p:nvSpPr>
        <p:spPr>
          <a:xfrm>
            <a:off x="3641598" y="34198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26" name="Texto etiqueta HU3"/>
          <p:cNvSpPr txBox="1"/>
          <p:nvPr/>
        </p:nvSpPr>
        <p:spPr>
          <a:xfrm>
            <a:off x="3641598" y="34198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HU3</a:t>
            </a:r>
            <a:endParaRPr lang="en-US" sz="1300" dirty="0"/>
          </a:p>
        </p:txBody>
      </p:sp>
      <p:sp>
        <p:nvSpPr>
          <p:cNvPr id="27" name="Puntos HU3"/>
          <p:cNvSpPr txBox="1"/>
          <p:nvPr/>
        </p:nvSpPr>
        <p:spPr>
          <a:xfrm>
            <a:off x="4373118" y="34198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13 SP · alta</a:t>
            </a:r>
            <a:endParaRPr lang="en-US" sz="1300" dirty="0"/>
          </a:p>
        </p:txBody>
      </p:sp>
      <p:sp>
        <p:nvSpPr>
          <p:cNvPr id="28" name="Historia HU3"/>
          <p:cNvSpPr txBox="1"/>
          <p:nvPr/>
        </p:nvSpPr>
        <p:spPr>
          <a:xfrm>
            <a:off x="3641598" y="3803904"/>
            <a:ext cx="2132838" cy="694944"/>
          </a:xfrm>
          <a:prstGeom prst="rect">
            <a:avLst/>
          </a:prstGeom>
          <a:noFill/>
          <a:ln/>
        </p:spPr>
        <p:txBody>
          <a:bodyPr wrap="square" lIns="0" tIns="0" rIns="0" bIns="0" rtlCol="0" anchor="t"/>
          <a:lstStyle/>
          <a:p>
            <a:pPr marL="0" indent="0">
              <a:buNone/>
            </a:pPr>
            <a:r>
              <a:rPr lang="en-US" sz="1500" dirty="0">
                <a:solidFill>
                  <a:schemeClr val="tx1"/>
                </a:solidFill>
              </a:rPr>
              <a:t>Entrenar un modelo que priorice las características.</a:t>
            </a:r>
            <a:endParaRPr lang="en-US" sz="1500" dirty="0"/>
          </a:p>
        </p:txBody>
      </p:sp>
      <p:sp>
        <p:nvSpPr>
          <p:cNvPr id="29" name="Tarjeta HU4"/>
          <p:cNvSpPr/>
          <p:nvPr/>
        </p:nvSpPr>
        <p:spPr>
          <a:xfrm>
            <a:off x="3504438" y="46634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30" name="Etiqueta HU4"/>
          <p:cNvSpPr/>
          <p:nvPr/>
        </p:nvSpPr>
        <p:spPr>
          <a:xfrm>
            <a:off x="3641598" y="47914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31" name="Texto etiqueta HU4"/>
          <p:cNvSpPr txBox="1"/>
          <p:nvPr/>
        </p:nvSpPr>
        <p:spPr>
          <a:xfrm>
            <a:off x="3641598" y="47914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HU4</a:t>
            </a:r>
            <a:endParaRPr lang="en-US" sz="1300" dirty="0"/>
          </a:p>
        </p:txBody>
      </p:sp>
      <p:sp>
        <p:nvSpPr>
          <p:cNvPr id="32" name="Puntos HU4"/>
          <p:cNvSpPr txBox="1"/>
          <p:nvPr/>
        </p:nvSpPr>
        <p:spPr>
          <a:xfrm>
            <a:off x="4373118" y="47914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13 SP · alta</a:t>
            </a:r>
            <a:endParaRPr lang="en-US" sz="1300" dirty="0"/>
          </a:p>
        </p:txBody>
      </p:sp>
      <p:sp>
        <p:nvSpPr>
          <p:cNvPr id="33" name="Historia HU4"/>
          <p:cNvSpPr txBox="1"/>
          <p:nvPr/>
        </p:nvSpPr>
        <p:spPr>
          <a:xfrm>
            <a:off x="3641598" y="5175504"/>
            <a:ext cx="2132838" cy="694944"/>
          </a:xfrm>
          <a:prstGeom prst="rect">
            <a:avLst/>
          </a:prstGeom>
          <a:noFill/>
          <a:ln/>
        </p:spPr>
        <p:txBody>
          <a:bodyPr wrap="square" lIns="0" tIns="0" rIns="0" bIns="0" rtlCol="0" anchor="t"/>
          <a:lstStyle/>
          <a:p>
            <a:pPr marL="0" indent="0">
              <a:buNone/>
            </a:pPr>
            <a:r>
              <a:rPr lang="en-US" sz="1500" dirty="0">
                <a:solidFill>
                  <a:schemeClr val="tx1"/>
                </a:solidFill>
              </a:rPr>
              <a:t>Validar el modelo con mediciones repetidas.</a:t>
            </a:r>
            <a:endParaRPr lang="en-US" sz="1500" dirty="0"/>
          </a:p>
        </p:txBody>
      </p:sp>
      <p:sp>
        <p:nvSpPr>
          <p:cNvPr id="34" name="Épica 3"/>
          <p:cNvSpPr/>
          <p:nvPr/>
        </p:nvSpPr>
        <p:spPr>
          <a:xfrm>
            <a:off x="6185916" y="1691640"/>
            <a:ext cx="2635758" cy="4389120"/>
          </a:xfrm>
          <a:prstGeom prst="roundRect">
            <a:avLst>
              <a:gd name="adj" fmla="val 4163"/>
            </a:avLst>
          </a:prstGeom>
          <a:solidFill>
            <a:schemeClr val="accent1">
              <a:alpha val="14000"/>
            </a:schemeClr>
          </a:solidFill>
          <a:ln w="12700">
            <a:solidFill>
              <a:schemeClr val="accent1">
                <a:alpha val="14000"/>
              </a:schemeClr>
            </a:solidFill>
            <a:prstDash val="solid"/>
          </a:ln>
        </p:spPr>
        <p:txBody>
          <a:bodyPr/>
          <a:lstStyle/>
          <a:p>
            <a:endParaRPr lang="es-AR"/>
          </a:p>
        </p:txBody>
      </p:sp>
      <p:sp>
        <p:nvSpPr>
          <p:cNvPr id="35" name="Número épica 3"/>
          <p:cNvSpPr/>
          <p:nvPr/>
        </p:nvSpPr>
        <p:spPr>
          <a:xfrm>
            <a:off x="6368796" y="1874520"/>
            <a:ext cx="457200" cy="457200"/>
          </a:xfrm>
          <a:prstGeom prst="ellipse">
            <a:avLst/>
          </a:prstGeom>
          <a:solidFill>
            <a:schemeClr val="accent1"/>
          </a:solidFill>
          <a:ln w="12700">
            <a:solidFill>
              <a:schemeClr val="accent1"/>
            </a:solidFill>
            <a:prstDash val="solid"/>
          </a:ln>
        </p:spPr>
        <p:txBody>
          <a:bodyPr/>
          <a:lstStyle/>
          <a:p>
            <a:endParaRPr lang="es-AR"/>
          </a:p>
        </p:txBody>
      </p:sp>
      <p:sp>
        <p:nvSpPr>
          <p:cNvPr id="36" name="Texto número épica 3"/>
          <p:cNvSpPr txBox="1"/>
          <p:nvPr/>
        </p:nvSpPr>
        <p:spPr>
          <a:xfrm>
            <a:off x="6368796" y="18745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37" name="Rótulo épica 3"/>
          <p:cNvSpPr txBox="1"/>
          <p:nvPr/>
        </p:nvSpPr>
        <p:spPr>
          <a:xfrm>
            <a:off x="6935724" y="1874520"/>
            <a:ext cx="1645920" cy="457200"/>
          </a:xfrm>
          <a:prstGeom prst="rect">
            <a:avLst/>
          </a:prstGeom>
          <a:noFill/>
          <a:ln/>
        </p:spPr>
        <p:txBody>
          <a:bodyPr wrap="square" lIns="0" tIns="0" rIns="0" bIns="0" rtlCol="0" anchor="ctr"/>
          <a:lstStyle/>
          <a:p>
            <a:pPr marL="0" indent="0">
              <a:buNone/>
            </a:pPr>
            <a:r>
              <a:rPr lang="en-US" sz="1500" b="1" dirty="0">
                <a:solidFill>
                  <a:schemeClr val="accent5"/>
                </a:solidFill>
              </a:rPr>
              <a:t>Épica 3</a:t>
            </a:r>
            <a:endParaRPr lang="en-US" sz="1500" dirty="0"/>
          </a:p>
        </p:txBody>
      </p:sp>
      <p:sp>
        <p:nvSpPr>
          <p:cNvPr id="38" name="Nombre épica 3"/>
          <p:cNvSpPr txBox="1"/>
          <p:nvPr/>
        </p:nvSpPr>
        <p:spPr>
          <a:xfrm>
            <a:off x="6368796" y="2441448"/>
            <a:ext cx="2315718" cy="777240"/>
          </a:xfrm>
          <a:prstGeom prst="rect">
            <a:avLst/>
          </a:prstGeom>
          <a:noFill/>
          <a:ln/>
        </p:spPr>
        <p:txBody>
          <a:bodyPr wrap="square" lIns="0" tIns="0" rIns="0" bIns="0" rtlCol="0" anchor="t"/>
          <a:lstStyle/>
          <a:p>
            <a:pPr marL="0" indent="0">
              <a:buNone/>
            </a:pPr>
            <a:r>
              <a:rPr lang="en-US" sz="1700" b="1" dirty="0">
                <a:solidFill>
                  <a:schemeClr val="tx1"/>
                </a:solidFill>
              </a:rPr>
              <a:t>Generación y verificación de sinopsis</a:t>
            </a:r>
            <a:endParaRPr lang="en-US" sz="1700" dirty="0"/>
          </a:p>
        </p:txBody>
      </p:sp>
      <p:sp>
        <p:nvSpPr>
          <p:cNvPr id="39" name="Tarjeta HU5"/>
          <p:cNvSpPr/>
          <p:nvPr/>
        </p:nvSpPr>
        <p:spPr>
          <a:xfrm>
            <a:off x="6323076" y="32918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40" name="Etiqueta HU5"/>
          <p:cNvSpPr/>
          <p:nvPr/>
        </p:nvSpPr>
        <p:spPr>
          <a:xfrm>
            <a:off x="6460236" y="34198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41" name="Texto etiqueta HU5"/>
          <p:cNvSpPr txBox="1"/>
          <p:nvPr/>
        </p:nvSpPr>
        <p:spPr>
          <a:xfrm>
            <a:off x="6460236" y="34198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HU5</a:t>
            </a:r>
            <a:endParaRPr lang="en-US" sz="1300" dirty="0"/>
          </a:p>
        </p:txBody>
      </p:sp>
      <p:sp>
        <p:nvSpPr>
          <p:cNvPr id="42" name="Puntos HU5"/>
          <p:cNvSpPr txBox="1"/>
          <p:nvPr/>
        </p:nvSpPr>
        <p:spPr>
          <a:xfrm>
            <a:off x="7191756" y="34198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13 SP · alta</a:t>
            </a:r>
            <a:endParaRPr lang="en-US" sz="1300" dirty="0"/>
          </a:p>
        </p:txBody>
      </p:sp>
      <p:sp>
        <p:nvSpPr>
          <p:cNvPr id="43" name="Historia HU5"/>
          <p:cNvSpPr txBox="1"/>
          <p:nvPr/>
        </p:nvSpPr>
        <p:spPr>
          <a:xfrm>
            <a:off x="6460236" y="3803904"/>
            <a:ext cx="2132838" cy="694944"/>
          </a:xfrm>
          <a:prstGeom prst="rect">
            <a:avLst/>
          </a:prstGeom>
          <a:noFill/>
          <a:ln/>
        </p:spPr>
        <p:txBody>
          <a:bodyPr wrap="square" lIns="0" tIns="0" rIns="0" bIns="0" rtlCol="0" anchor="t"/>
          <a:lstStyle/>
          <a:p>
            <a:pPr marL="0" indent="0">
              <a:buNone/>
            </a:pPr>
            <a:r>
              <a:rPr lang="en-US" sz="1500" dirty="0">
                <a:solidFill>
                  <a:schemeClr val="tx1"/>
                </a:solidFill>
              </a:rPr>
              <a:t>Sugerir una sinopsis optimizada para la citación.</a:t>
            </a:r>
            <a:endParaRPr lang="en-US" sz="1500" dirty="0"/>
          </a:p>
        </p:txBody>
      </p:sp>
      <p:sp>
        <p:nvSpPr>
          <p:cNvPr id="44" name="Tarjeta HU6"/>
          <p:cNvSpPr/>
          <p:nvPr/>
        </p:nvSpPr>
        <p:spPr>
          <a:xfrm>
            <a:off x="6323076" y="46634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45" name="Etiqueta HU6"/>
          <p:cNvSpPr/>
          <p:nvPr/>
        </p:nvSpPr>
        <p:spPr>
          <a:xfrm>
            <a:off x="6460236" y="47914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46" name="Texto etiqueta HU6"/>
          <p:cNvSpPr txBox="1"/>
          <p:nvPr/>
        </p:nvSpPr>
        <p:spPr>
          <a:xfrm>
            <a:off x="6460236" y="47914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HU6</a:t>
            </a:r>
            <a:endParaRPr lang="en-US" sz="1300" dirty="0"/>
          </a:p>
        </p:txBody>
      </p:sp>
      <p:sp>
        <p:nvSpPr>
          <p:cNvPr id="47" name="Puntos HU6"/>
          <p:cNvSpPr txBox="1"/>
          <p:nvPr/>
        </p:nvSpPr>
        <p:spPr>
          <a:xfrm>
            <a:off x="7191756" y="47914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13 SP · media</a:t>
            </a:r>
            <a:endParaRPr lang="en-US" sz="1300" dirty="0"/>
          </a:p>
        </p:txBody>
      </p:sp>
      <p:sp>
        <p:nvSpPr>
          <p:cNvPr id="48" name="Historia HU6"/>
          <p:cNvSpPr txBox="1"/>
          <p:nvPr/>
        </p:nvSpPr>
        <p:spPr>
          <a:xfrm>
            <a:off x="6460236" y="5175504"/>
            <a:ext cx="2132838" cy="694944"/>
          </a:xfrm>
          <a:prstGeom prst="rect">
            <a:avLst/>
          </a:prstGeom>
          <a:noFill/>
          <a:ln/>
        </p:spPr>
        <p:txBody>
          <a:bodyPr wrap="square" lIns="0" tIns="0" rIns="0" bIns="0" rtlCol="0" anchor="t"/>
          <a:lstStyle/>
          <a:p>
            <a:pPr marL="0" indent="0">
              <a:buNone/>
            </a:pPr>
            <a:r>
              <a:rPr lang="en-US" sz="1500" dirty="0">
                <a:solidFill>
                  <a:schemeClr val="tx1"/>
                </a:solidFill>
              </a:rPr>
              <a:t>Preservar la fidelidad de la sinopsis original.</a:t>
            </a:r>
            <a:endParaRPr lang="en-US" sz="1500" dirty="0"/>
          </a:p>
        </p:txBody>
      </p:sp>
      <p:sp>
        <p:nvSpPr>
          <p:cNvPr id="49" name="Épica 4"/>
          <p:cNvSpPr/>
          <p:nvPr/>
        </p:nvSpPr>
        <p:spPr>
          <a:xfrm>
            <a:off x="9004554" y="1691640"/>
            <a:ext cx="2635758" cy="4389120"/>
          </a:xfrm>
          <a:prstGeom prst="roundRect">
            <a:avLst>
              <a:gd name="adj" fmla="val 4163"/>
            </a:avLst>
          </a:prstGeom>
          <a:solidFill>
            <a:schemeClr val="accent3">
              <a:alpha val="14000"/>
            </a:schemeClr>
          </a:solidFill>
          <a:ln w="12700">
            <a:solidFill>
              <a:schemeClr val="accent3">
                <a:alpha val="14000"/>
              </a:schemeClr>
            </a:solidFill>
            <a:prstDash val="solid"/>
          </a:ln>
        </p:spPr>
        <p:txBody>
          <a:bodyPr/>
          <a:lstStyle/>
          <a:p>
            <a:endParaRPr lang="es-AR"/>
          </a:p>
        </p:txBody>
      </p:sp>
      <p:sp>
        <p:nvSpPr>
          <p:cNvPr id="50" name="Número épica 4"/>
          <p:cNvSpPr/>
          <p:nvPr/>
        </p:nvSpPr>
        <p:spPr>
          <a:xfrm>
            <a:off x="9187434" y="1874520"/>
            <a:ext cx="457200" cy="457200"/>
          </a:xfrm>
          <a:prstGeom prst="ellipse">
            <a:avLst/>
          </a:prstGeom>
          <a:solidFill>
            <a:schemeClr val="accent3"/>
          </a:solidFill>
          <a:ln w="12700">
            <a:solidFill>
              <a:schemeClr val="accent3"/>
            </a:solidFill>
            <a:prstDash val="solid"/>
          </a:ln>
        </p:spPr>
        <p:txBody>
          <a:bodyPr/>
          <a:lstStyle/>
          <a:p>
            <a:endParaRPr lang="es-AR"/>
          </a:p>
        </p:txBody>
      </p:sp>
      <p:sp>
        <p:nvSpPr>
          <p:cNvPr id="51" name="Texto número épica 4"/>
          <p:cNvSpPr txBox="1"/>
          <p:nvPr/>
        </p:nvSpPr>
        <p:spPr>
          <a:xfrm>
            <a:off x="9187434" y="18745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52" name="Rótulo épica 4"/>
          <p:cNvSpPr txBox="1"/>
          <p:nvPr/>
        </p:nvSpPr>
        <p:spPr>
          <a:xfrm>
            <a:off x="9754362" y="1874520"/>
            <a:ext cx="1645920" cy="457200"/>
          </a:xfrm>
          <a:prstGeom prst="rect">
            <a:avLst/>
          </a:prstGeom>
          <a:noFill/>
          <a:ln/>
        </p:spPr>
        <p:txBody>
          <a:bodyPr wrap="square" lIns="0" tIns="0" rIns="0" bIns="0" rtlCol="0" anchor="ctr"/>
          <a:lstStyle/>
          <a:p>
            <a:pPr marL="0" indent="0">
              <a:buNone/>
            </a:pPr>
            <a:r>
              <a:rPr lang="en-US" sz="1500" b="1" dirty="0">
                <a:solidFill>
                  <a:schemeClr val="accent5"/>
                </a:solidFill>
              </a:rPr>
              <a:t>Épica 4</a:t>
            </a:r>
            <a:endParaRPr lang="en-US" sz="1500" dirty="0"/>
          </a:p>
        </p:txBody>
      </p:sp>
      <p:sp>
        <p:nvSpPr>
          <p:cNvPr id="53" name="Nombre épica 4"/>
          <p:cNvSpPr txBox="1"/>
          <p:nvPr/>
        </p:nvSpPr>
        <p:spPr>
          <a:xfrm>
            <a:off x="9187434" y="2441448"/>
            <a:ext cx="2315718" cy="777240"/>
          </a:xfrm>
          <a:prstGeom prst="rect">
            <a:avLst/>
          </a:prstGeom>
          <a:noFill/>
          <a:ln/>
        </p:spPr>
        <p:txBody>
          <a:bodyPr wrap="square" lIns="0" tIns="0" rIns="0" bIns="0" rtlCol="0" anchor="t"/>
          <a:lstStyle/>
          <a:p>
            <a:pPr marL="0" indent="0">
              <a:buNone/>
            </a:pPr>
            <a:r>
              <a:rPr lang="en-US" sz="1700" b="1" dirty="0">
                <a:solidFill>
                  <a:schemeClr val="tx1"/>
                </a:solidFill>
              </a:rPr>
              <a:t>Piloto y medición de resultados</a:t>
            </a:r>
            <a:endParaRPr lang="en-US" sz="1700" dirty="0"/>
          </a:p>
        </p:txBody>
      </p:sp>
      <p:sp>
        <p:nvSpPr>
          <p:cNvPr id="54" name="Tarjeta HU7"/>
          <p:cNvSpPr/>
          <p:nvPr/>
        </p:nvSpPr>
        <p:spPr>
          <a:xfrm>
            <a:off x="9141714" y="32918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55" name="Etiqueta HU7"/>
          <p:cNvSpPr/>
          <p:nvPr/>
        </p:nvSpPr>
        <p:spPr>
          <a:xfrm>
            <a:off x="9278874" y="34198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56" name="Texto etiqueta HU7"/>
          <p:cNvSpPr txBox="1"/>
          <p:nvPr/>
        </p:nvSpPr>
        <p:spPr>
          <a:xfrm>
            <a:off x="9278874" y="34198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HU7</a:t>
            </a:r>
            <a:endParaRPr lang="en-US" sz="1300" dirty="0"/>
          </a:p>
        </p:txBody>
      </p:sp>
      <p:sp>
        <p:nvSpPr>
          <p:cNvPr id="57" name="Puntos HU7"/>
          <p:cNvSpPr txBox="1"/>
          <p:nvPr/>
        </p:nvSpPr>
        <p:spPr>
          <a:xfrm>
            <a:off x="10010394" y="34198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21 SP · alta</a:t>
            </a:r>
            <a:endParaRPr lang="en-US" sz="1300" dirty="0"/>
          </a:p>
        </p:txBody>
      </p:sp>
      <p:sp>
        <p:nvSpPr>
          <p:cNvPr id="58" name="Historia HU7"/>
          <p:cNvSpPr txBox="1"/>
          <p:nvPr/>
        </p:nvSpPr>
        <p:spPr>
          <a:xfrm>
            <a:off x="9278874" y="3803904"/>
            <a:ext cx="2132838" cy="694944"/>
          </a:xfrm>
          <a:prstGeom prst="rect">
            <a:avLst/>
          </a:prstGeom>
          <a:noFill/>
          <a:ln/>
        </p:spPr>
        <p:txBody>
          <a:bodyPr wrap="square" lIns="0" tIns="0" rIns="0" bIns="0" rtlCol="0" anchor="t"/>
          <a:lstStyle/>
          <a:p>
            <a:pPr marL="0" indent="0">
              <a:buNone/>
            </a:pPr>
            <a:r>
              <a:rPr lang="en-US" sz="1500" dirty="0">
                <a:solidFill>
                  <a:schemeClr val="tx1"/>
                </a:solidFill>
              </a:rPr>
              <a:t>Medir la mejora frente a un grupo de control.</a:t>
            </a:r>
            <a:endParaRPr lang="en-US" sz="1500" dirty="0"/>
          </a:p>
        </p:txBody>
      </p:sp>
      <p:sp>
        <p:nvSpPr>
          <p:cNvPr id="59" name="Tarjeta HU8"/>
          <p:cNvSpPr/>
          <p:nvPr/>
        </p:nvSpPr>
        <p:spPr>
          <a:xfrm>
            <a:off x="9141714" y="4663440"/>
            <a:ext cx="2361438" cy="1261872"/>
          </a:xfrm>
          <a:prstGeom prst="roundRect">
            <a:avLst>
              <a:gd name="adj" fmla="val 5797"/>
            </a:avLst>
          </a:prstGeom>
          <a:solidFill>
            <a:schemeClr val="bg1"/>
          </a:solidFill>
          <a:ln w="12700">
            <a:solidFill>
              <a:schemeClr val="bg1"/>
            </a:solidFill>
            <a:prstDash val="solid"/>
          </a:ln>
        </p:spPr>
        <p:txBody>
          <a:bodyPr/>
          <a:lstStyle/>
          <a:p>
            <a:endParaRPr lang="es-AR"/>
          </a:p>
        </p:txBody>
      </p:sp>
      <p:sp>
        <p:nvSpPr>
          <p:cNvPr id="60" name="Etiqueta HU8"/>
          <p:cNvSpPr/>
          <p:nvPr/>
        </p:nvSpPr>
        <p:spPr>
          <a:xfrm>
            <a:off x="9278874" y="4791456"/>
            <a:ext cx="658368" cy="310896"/>
          </a:xfrm>
          <a:prstGeom prst="roundRect">
            <a:avLst>
              <a:gd name="adj" fmla="val 23529"/>
            </a:avLst>
          </a:prstGeom>
          <a:solidFill>
            <a:schemeClr val="tx1"/>
          </a:solidFill>
          <a:ln w="12700">
            <a:solidFill>
              <a:schemeClr val="tx1"/>
            </a:solidFill>
            <a:prstDash val="solid"/>
          </a:ln>
        </p:spPr>
        <p:txBody>
          <a:bodyPr/>
          <a:lstStyle/>
          <a:p>
            <a:endParaRPr lang="es-AR"/>
          </a:p>
        </p:txBody>
      </p:sp>
      <p:sp>
        <p:nvSpPr>
          <p:cNvPr id="61" name="Texto etiqueta HU8"/>
          <p:cNvSpPr txBox="1"/>
          <p:nvPr/>
        </p:nvSpPr>
        <p:spPr>
          <a:xfrm>
            <a:off x="9278874" y="4791456"/>
            <a:ext cx="658368" cy="310896"/>
          </a:xfrm>
          <a:prstGeom prst="rect">
            <a:avLst/>
          </a:prstGeom>
          <a:noFill/>
          <a:ln/>
        </p:spPr>
        <p:txBody>
          <a:bodyPr wrap="square" lIns="0" tIns="0" rIns="0" bIns="0" rtlCol="0" anchor="ctr"/>
          <a:lstStyle/>
          <a:p>
            <a:pPr marL="0" indent="0" algn="ctr">
              <a:buNone/>
            </a:pPr>
            <a:r>
              <a:rPr lang="en-US" sz="1300" b="1" dirty="0">
                <a:solidFill>
                  <a:schemeClr val="bg1"/>
                </a:solidFill>
              </a:rPr>
              <a:t>HU8</a:t>
            </a:r>
            <a:endParaRPr lang="en-US" sz="1300" dirty="0"/>
          </a:p>
        </p:txBody>
      </p:sp>
      <p:sp>
        <p:nvSpPr>
          <p:cNvPr id="62" name="Puntos HU8"/>
          <p:cNvSpPr txBox="1"/>
          <p:nvPr/>
        </p:nvSpPr>
        <p:spPr>
          <a:xfrm>
            <a:off x="10010394" y="4791456"/>
            <a:ext cx="1355598" cy="310896"/>
          </a:xfrm>
          <a:prstGeom prst="rect">
            <a:avLst/>
          </a:prstGeom>
          <a:noFill/>
          <a:ln/>
        </p:spPr>
        <p:txBody>
          <a:bodyPr wrap="square" lIns="0" tIns="0" rIns="0" bIns="0" rtlCol="0" anchor="ctr"/>
          <a:lstStyle/>
          <a:p>
            <a:pPr marL="0" indent="0">
              <a:buNone/>
            </a:pPr>
            <a:r>
              <a:rPr lang="en-US" sz="1300" dirty="0">
                <a:solidFill>
                  <a:schemeClr val="accent5"/>
                </a:solidFill>
              </a:rPr>
              <a:t>8 SP · media</a:t>
            </a:r>
            <a:endParaRPr lang="en-US" sz="1300" dirty="0"/>
          </a:p>
        </p:txBody>
      </p:sp>
      <p:sp>
        <p:nvSpPr>
          <p:cNvPr id="63" name="Historia HU8"/>
          <p:cNvSpPr txBox="1"/>
          <p:nvPr/>
        </p:nvSpPr>
        <p:spPr>
          <a:xfrm>
            <a:off x="9278874" y="5175504"/>
            <a:ext cx="2132838" cy="694944"/>
          </a:xfrm>
          <a:prstGeom prst="rect">
            <a:avLst/>
          </a:prstGeom>
          <a:noFill/>
          <a:ln/>
        </p:spPr>
        <p:txBody>
          <a:bodyPr wrap="square" lIns="0" tIns="0" rIns="0" bIns="0" rtlCol="0" anchor="t"/>
          <a:lstStyle/>
          <a:p>
            <a:pPr marL="0" indent="0">
              <a:buNone/>
            </a:pPr>
            <a:r>
              <a:rPr lang="en-US" sz="1500" dirty="0">
                <a:solidFill>
                  <a:schemeClr val="tx1"/>
                </a:solidFill>
              </a:rPr>
              <a:t>Contar con un informe claro de los resultados.</a:t>
            </a:r>
            <a:endParaRPr lang="en-US" sz="1500" dirty="0"/>
          </a:p>
        </p:txBody>
      </p:sp>
      <p:sp>
        <p:nvSpPr>
          <p:cNvPr id="64"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3246983" cy="731520"/>
          </a:xfrm>
          <a:prstGeom prst="rect">
            <a:avLst/>
          </a:prstGeom>
          <a:noFill/>
          <a:ln/>
        </p:spPr>
        <p:txBody>
          <a:bodyPr wrap="square" lIns="0" tIns="0" rIns="0" bIns="0" rtlCol="0" anchor="ctr"/>
          <a:lstStyle/>
          <a:p>
            <a:pPr marL="0" indent="0" algn="l">
              <a:buNone/>
            </a:pPr>
            <a:r>
              <a:rPr lang="en-US" sz="3400" b="1" dirty="0">
                <a:solidFill>
                  <a:schemeClr val="tx1"/>
                </a:solidFill>
              </a:rPr>
              <a:t>Diagrama AON</a:t>
            </a:r>
            <a:endParaRPr lang="en-US" sz="3400" dirty="0"/>
          </a:p>
        </p:txBody>
      </p:sp>
      <p:sp>
        <p:nvSpPr>
          <p:cNvPr id="3" name="Text 1"/>
          <p:cNvSpPr>
            <a:spLocks noGrp="1"/>
          </p:cNvSpPr>
          <p:nvPr>
            <p:ph type="body" idx="102" hasCustomPrompt="1"/>
          </p:nvPr>
        </p:nvSpPr>
        <p:spPr>
          <a:xfrm>
            <a:off x="548640" y="1097280"/>
            <a:ext cx="11091672" cy="384048"/>
          </a:xfrm>
          <a:prstGeom prst="rect">
            <a:avLst/>
          </a:prstGeom>
          <a:noFill/>
          <a:ln/>
        </p:spPr>
        <p:txBody>
          <a:bodyPr wrap="square" lIns="0" tIns="0" rIns="0" bIns="0" rtlCol="0" anchor="ctr"/>
          <a:lstStyle/>
          <a:p>
            <a:pPr marL="0" indent="0">
              <a:buNone/>
            </a:pPr>
            <a:r>
              <a:rPr lang="en-US" sz="1800" dirty="0">
                <a:solidFill>
                  <a:schemeClr val="accent5"/>
                </a:solidFill>
              </a:rPr>
              <a:t>Responsable único: las actividades se encadenan y todas conforman el camino crítico (600 h)</a:t>
            </a:r>
            <a:endParaRPr lang="en-US" sz="1800" dirty="0"/>
          </a:p>
        </p:txBody>
      </p:sp>
      <p:sp>
        <p:nvSpPr>
          <p:cNvPr id="4" name="Nodo Inicio"/>
          <p:cNvSpPr/>
          <p:nvPr/>
        </p:nvSpPr>
        <p:spPr>
          <a:xfrm>
            <a:off x="853250" y="2034540"/>
            <a:ext cx="777240" cy="777240"/>
          </a:xfrm>
          <a:prstGeom prst="ellipse">
            <a:avLst/>
          </a:prstGeom>
          <a:solidFill>
            <a:schemeClr val="tx1"/>
          </a:solidFill>
          <a:ln w="12700">
            <a:solidFill>
              <a:schemeClr val="tx1"/>
            </a:solidFill>
            <a:prstDash val="solid"/>
          </a:ln>
        </p:spPr>
        <p:txBody>
          <a:bodyPr/>
          <a:lstStyle/>
          <a:p>
            <a:endParaRPr lang="es-AR"/>
          </a:p>
        </p:txBody>
      </p:sp>
      <p:sp>
        <p:nvSpPr>
          <p:cNvPr id="5" name="Texto Inicio"/>
          <p:cNvSpPr txBox="1"/>
          <p:nvPr/>
        </p:nvSpPr>
        <p:spPr>
          <a:xfrm>
            <a:off x="853250" y="2034540"/>
            <a:ext cx="777240" cy="777240"/>
          </a:xfrm>
          <a:prstGeom prst="rect">
            <a:avLst/>
          </a:prstGeom>
          <a:noFill/>
          <a:ln/>
        </p:spPr>
        <p:txBody>
          <a:bodyPr wrap="square" lIns="0" tIns="0" rIns="0" bIns="0" rtlCol="0" anchor="ctr"/>
          <a:lstStyle/>
          <a:p>
            <a:pPr marL="0" indent="0" algn="ctr">
              <a:buNone/>
            </a:pPr>
            <a:r>
              <a:rPr lang="en-US" sz="1400" b="1" dirty="0">
                <a:solidFill>
                  <a:schemeClr val="bg1"/>
                </a:solidFill>
              </a:rPr>
              <a:t>Inicio</a:t>
            </a:r>
            <a:endParaRPr lang="en-US" sz="1400" dirty="0"/>
          </a:p>
        </p:txBody>
      </p:sp>
      <p:sp>
        <p:nvSpPr>
          <p:cNvPr id="6" name="Nodo Planificación"/>
          <p:cNvSpPr/>
          <p:nvPr/>
        </p:nvSpPr>
        <p:spPr>
          <a:xfrm>
            <a:off x="2033969" y="1828800"/>
            <a:ext cx="1188720" cy="1188720"/>
          </a:xfrm>
          <a:prstGeom prst="roundRect">
            <a:avLst>
              <a:gd name="adj" fmla="val 7692"/>
            </a:avLst>
          </a:prstGeom>
          <a:solidFill>
            <a:schemeClr val="accent5">
              <a:alpha val="18000"/>
            </a:schemeClr>
          </a:solidFill>
          <a:ln w="19050">
            <a:solidFill>
              <a:schemeClr val="accent5"/>
            </a:solidFill>
            <a:prstDash val="solid"/>
          </a:ln>
        </p:spPr>
        <p:txBody>
          <a:bodyPr/>
          <a:lstStyle/>
          <a:p>
            <a:endParaRPr lang="es-AR"/>
          </a:p>
        </p:txBody>
      </p:sp>
      <p:sp>
        <p:nvSpPr>
          <p:cNvPr id="7" name="Texto nodo Planificación"/>
          <p:cNvSpPr txBox="1"/>
          <p:nvPr/>
        </p:nvSpPr>
        <p:spPr>
          <a:xfrm>
            <a:off x="2070545" y="1828800"/>
            <a:ext cx="1115568" cy="1188720"/>
          </a:xfrm>
          <a:prstGeom prst="rect">
            <a:avLst/>
          </a:prstGeom>
          <a:noFill/>
          <a:ln/>
        </p:spPr>
        <p:txBody>
          <a:bodyPr wrap="square" lIns="0" tIns="0" rIns="0" bIns="0" rtlCol="0" anchor="ctr"/>
          <a:lstStyle/>
          <a:p>
            <a:pPr marL="0" indent="0" algn="ctr">
              <a:buNone/>
            </a:pPr>
            <a:r>
              <a:rPr lang="en-US" sz="1200" b="1" dirty="0">
                <a:solidFill>
                  <a:schemeClr val="tx1"/>
                </a:solidFill>
              </a:rPr>
              <a:t>Planificación</a:t>
            </a:r>
            <a:endParaRPr lang="en-US" sz="1600" dirty="0"/>
          </a:p>
          <a:p>
            <a:pPr marL="0" indent="0" algn="ctr">
              <a:buNone/>
            </a:pPr>
            <a:r>
              <a:rPr lang="en-US" sz="1200" dirty="0">
                <a:solidFill>
                  <a:schemeClr val="tx1"/>
                </a:solidFill>
              </a:rPr>
              <a:t>sprint 0</a:t>
            </a:r>
            <a:endParaRPr lang="en-US" sz="1600" dirty="0"/>
          </a:p>
          <a:p>
            <a:pPr marL="0" indent="0" algn="ctr">
              <a:buNone/>
            </a:pPr>
            <a:r>
              <a:rPr lang="en-US" sz="1400" b="1" dirty="0">
                <a:solidFill>
                  <a:schemeClr val="accent1"/>
                </a:solidFill>
              </a:rPr>
              <a:t>48 h</a:t>
            </a:r>
            <a:endParaRPr lang="en-US" sz="1600" dirty="0"/>
          </a:p>
        </p:txBody>
      </p:sp>
      <p:sp>
        <p:nvSpPr>
          <p:cNvPr id="8" name="Nodo HU1"/>
          <p:cNvSpPr/>
          <p:nvPr/>
        </p:nvSpPr>
        <p:spPr>
          <a:xfrm>
            <a:off x="3420428" y="1828800"/>
            <a:ext cx="1188720" cy="1188720"/>
          </a:xfrm>
          <a:prstGeom prst="roundRect">
            <a:avLst>
              <a:gd name="adj" fmla="val 7692"/>
            </a:avLst>
          </a:prstGeom>
          <a:solidFill>
            <a:schemeClr val="accent2">
              <a:alpha val="18000"/>
            </a:schemeClr>
          </a:solidFill>
          <a:ln w="19050">
            <a:solidFill>
              <a:schemeClr val="accent2"/>
            </a:solidFill>
            <a:prstDash val="solid"/>
          </a:ln>
        </p:spPr>
        <p:txBody>
          <a:bodyPr/>
          <a:lstStyle/>
          <a:p>
            <a:endParaRPr lang="es-AR"/>
          </a:p>
        </p:txBody>
      </p:sp>
      <p:sp>
        <p:nvSpPr>
          <p:cNvPr id="9" name="Texto nodo HU1"/>
          <p:cNvSpPr txBox="1"/>
          <p:nvPr/>
        </p:nvSpPr>
        <p:spPr>
          <a:xfrm>
            <a:off x="3457004"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HU1</a:t>
            </a:r>
            <a:endParaRPr lang="en-US" sz="1600" dirty="0"/>
          </a:p>
          <a:p>
            <a:pPr marL="0" indent="0" algn="ctr">
              <a:buNone/>
            </a:pPr>
            <a:r>
              <a:rPr lang="en-US" sz="1200" dirty="0">
                <a:solidFill>
                  <a:schemeClr val="tx1"/>
                </a:solidFill>
              </a:rPr>
              <a:t>Medición de la citación</a:t>
            </a:r>
            <a:endParaRPr lang="en-US" sz="1600" dirty="0"/>
          </a:p>
          <a:p>
            <a:pPr marL="0" indent="0" algn="ctr">
              <a:buNone/>
            </a:pPr>
            <a:r>
              <a:rPr lang="en-US" sz="1400" b="1" dirty="0">
                <a:solidFill>
                  <a:schemeClr val="accent1"/>
                </a:solidFill>
              </a:rPr>
              <a:t>50 h</a:t>
            </a:r>
            <a:endParaRPr lang="en-US" sz="1600" dirty="0"/>
          </a:p>
        </p:txBody>
      </p:sp>
      <p:sp>
        <p:nvSpPr>
          <p:cNvPr id="10" name="Nodo HU2"/>
          <p:cNvSpPr/>
          <p:nvPr/>
        </p:nvSpPr>
        <p:spPr>
          <a:xfrm>
            <a:off x="4806887" y="1828800"/>
            <a:ext cx="1188720" cy="1188720"/>
          </a:xfrm>
          <a:prstGeom prst="roundRect">
            <a:avLst>
              <a:gd name="adj" fmla="val 7692"/>
            </a:avLst>
          </a:prstGeom>
          <a:solidFill>
            <a:schemeClr val="accent2">
              <a:alpha val="18000"/>
            </a:schemeClr>
          </a:solidFill>
          <a:ln w="19050">
            <a:solidFill>
              <a:schemeClr val="accent2"/>
            </a:solidFill>
            <a:prstDash val="solid"/>
          </a:ln>
        </p:spPr>
        <p:txBody>
          <a:bodyPr/>
          <a:lstStyle/>
          <a:p>
            <a:endParaRPr lang="es-AR"/>
          </a:p>
        </p:txBody>
      </p:sp>
      <p:sp>
        <p:nvSpPr>
          <p:cNvPr id="11" name="Texto nodo HU2"/>
          <p:cNvSpPr txBox="1"/>
          <p:nvPr/>
        </p:nvSpPr>
        <p:spPr>
          <a:xfrm>
            <a:off x="4843463"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HU2</a:t>
            </a:r>
            <a:endParaRPr lang="en-US" sz="1600" dirty="0"/>
          </a:p>
          <a:p>
            <a:pPr marL="0" indent="0" algn="ctr">
              <a:buNone/>
            </a:pPr>
            <a:r>
              <a:rPr lang="en-US" sz="1200" dirty="0">
                <a:solidFill>
                  <a:schemeClr val="tx1"/>
                </a:solidFill>
              </a:rPr>
              <a:t>Consolidación de datos</a:t>
            </a:r>
            <a:endParaRPr lang="en-US" sz="1600" dirty="0"/>
          </a:p>
          <a:p>
            <a:pPr marL="0" indent="0" algn="ctr">
              <a:buNone/>
            </a:pPr>
            <a:r>
              <a:rPr lang="en-US" sz="1400" b="1" dirty="0">
                <a:solidFill>
                  <a:schemeClr val="accent1"/>
                </a:solidFill>
              </a:rPr>
              <a:t>34 h</a:t>
            </a:r>
            <a:endParaRPr lang="en-US" sz="1600" dirty="0"/>
          </a:p>
        </p:txBody>
      </p:sp>
      <p:sp>
        <p:nvSpPr>
          <p:cNvPr id="12" name="Nodo HU3"/>
          <p:cNvSpPr/>
          <p:nvPr/>
        </p:nvSpPr>
        <p:spPr>
          <a:xfrm>
            <a:off x="6193346" y="1828800"/>
            <a:ext cx="1188720" cy="1188720"/>
          </a:xfrm>
          <a:prstGeom prst="roundRect">
            <a:avLst>
              <a:gd name="adj" fmla="val 7692"/>
            </a:avLst>
          </a:prstGeom>
          <a:solidFill>
            <a:schemeClr val="accent6">
              <a:alpha val="18000"/>
            </a:schemeClr>
          </a:solidFill>
          <a:ln w="19050">
            <a:solidFill>
              <a:schemeClr val="accent6"/>
            </a:solidFill>
            <a:prstDash val="solid"/>
          </a:ln>
        </p:spPr>
        <p:txBody>
          <a:bodyPr/>
          <a:lstStyle/>
          <a:p>
            <a:endParaRPr lang="es-AR"/>
          </a:p>
        </p:txBody>
      </p:sp>
      <p:sp>
        <p:nvSpPr>
          <p:cNvPr id="13" name="Texto nodo HU3"/>
          <p:cNvSpPr txBox="1"/>
          <p:nvPr/>
        </p:nvSpPr>
        <p:spPr>
          <a:xfrm>
            <a:off x="6229922"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HU3</a:t>
            </a:r>
            <a:endParaRPr lang="en-US" sz="1600" dirty="0"/>
          </a:p>
          <a:p>
            <a:pPr marL="0" indent="0" algn="ctr">
              <a:buNone/>
            </a:pPr>
            <a:r>
              <a:rPr lang="en-US" sz="1200" dirty="0">
                <a:solidFill>
                  <a:schemeClr val="tx1"/>
                </a:solidFill>
              </a:rPr>
              <a:t>Modelo y priorización</a:t>
            </a:r>
            <a:endParaRPr lang="en-US" sz="1600" dirty="0"/>
          </a:p>
          <a:p>
            <a:pPr marL="0" indent="0" algn="ctr">
              <a:buNone/>
            </a:pPr>
            <a:r>
              <a:rPr lang="en-US" sz="1400" b="1" dirty="0">
                <a:solidFill>
                  <a:schemeClr val="accent1"/>
                </a:solidFill>
              </a:rPr>
              <a:t>66 h</a:t>
            </a:r>
            <a:endParaRPr lang="en-US" sz="1600" dirty="0"/>
          </a:p>
        </p:txBody>
      </p:sp>
      <p:sp>
        <p:nvSpPr>
          <p:cNvPr id="14" name="Nodo HU4"/>
          <p:cNvSpPr/>
          <p:nvPr/>
        </p:nvSpPr>
        <p:spPr>
          <a:xfrm>
            <a:off x="7579805" y="1828800"/>
            <a:ext cx="1188720" cy="1188720"/>
          </a:xfrm>
          <a:prstGeom prst="roundRect">
            <a:avLst>
              <a:gd name="adj" fmla="val 7692"/>
            </a:avLst>
          </a:prstGeom>
          <a:solidFill>
            <a:schemeClr val="accent6">
              <a:alpha val="18000"/>
            </a:schemeClr>
          </a:solidFill>
          <a:ln w="19050">
            <a:solidFill>
              <a:schemeClr val="accent6"/>
            </a:solidFill>
            <a:prstDash val="solid"/>
          </a:ln>
        </p:spPr>
        <p:txBody>
          <a:bodyPr/>
          <a:lstStyle/>
          <a:p>
            <a:endParaRPr lang="es-AR"/>
          </a:p>
        </p:txBody>
      </p:sp>
      <p:sp>
        <p:nvSpPr>
          <p:cNvPr id="15" name="Texto nodo HU4"/>
          <p:cNvSpPr txBox="1"/>
          <p:nvPr/>
        </p:nvSpPr>
        <p:spPr>
          <a:xfrm>
            <a:off x="7616380"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HU4</a:t>
            </a:r>
            <a:endParaRPr lang="en-US" sz="1600" dirty="0"/>
          </a:p>
          <a:p>
            <a:pPr marL="0" indent="0" algn="ctr">
              <a:buNone/>
            </a:pPr>
            <a:r>
              <a:rPr lang="en-US" sz="1200" dirty="0">
                <a:solidFill>
                  <a:schemeClr val="tx1"/>
                </a:solidFill>
              </a:rPr>
              <a:t>Validación del modelo</a:t>
            </a:r>
            <a:endParaRPr lang="en-US" sz="1600" dirty="0"/>
          </a:p>
          <a:p>
            <a:pPr marL="0" indent="0" algn="ctr">
              <a:buNone/>
            </a:pPr>
            <a:r>
              <a:rPr lang="en-US" sz="1400" b="1" dirty="0">
                <a:solidFill>
                  <a:schemeClr val="accent1"/>
                </a:solidFill>
              </a:rPr>
              <a:t>36 h</a:t>
            </a:r>
            <a:endParaRPr lang="en-US" sz="1600" dirty="0"/>
          </a:p>
        </p:txBody>
      </p:sp>
      <p:sp>
        <p:nvSpPr>
          <p:cNvPr id="16" name="Nodo HU5"/>
          <p:cNvSpPr/>
          <p:nvPr/>
        </p:nvSpPr>
        <p:spPr>
          <a:xfrm>
            <a:off x="8966264" y="1828800"/>
            <a:ext cx="1188720" cy="1188720"/>
          </a:xfrm>
          <a:prstGeom prst="roundRect">
            <a:avLst>
              <a:gd name="adj" fmla="val 7692"/>
            </a:avLst>
          </a:prstGeom>
          <a:solidFill>
            <a:schemeClr val="accent1">
              <a:alpha val="18000"/>
            </a:schemeClr>
          </a:solidFill>
          <a:ln w="19050">
            <a:solidFill>
              <a:schemeClr val="accent1"/>
            </a:solidFill>
            <a:prstDash val="solid"/>
          </a:ln>
        </p:spPr>
        <p:txBody>
          <a:bodyPr/>
          <a:lstStyle/>
          <a:p>
            <a:endParaRPr lang="es-AR"/>
          </a:p>
        </p:txBody>
      </p:sp>
      <p:sp>
        <p:nvSpPr>
          <p:cNvPr id="17" name="Texto nodo HU5"/>
          <p:cNvSpPr txBox="1"/>
          <p:nvPr/>
        </p:nvSpPr>
        <p:spPr>
          <a:xfrm>
            <a:off x="9002839"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HU5</a:t>
            </a:r>
            <a:endParaRPr lang="en-US" sz="1600" dirty="0"/>
          </a:p>
          <a:p>
            <a:pPr marL="0" indent="0" algn="ctr">
              <a:buNone/>
            </a:pPr>
            <a:r>
              <a:rPr lang="en-US" sz="1200" dirty="0">
                <a:solidFill>
                  <a:schemeClr val="tx1"/>
                </a:solidFill>
              </a:rPr>
              <a:t>Generador de sinopsis</a:t>
            </a:r>
            <a:endParaRPr lang="en-US" sz="1600" dirty="0"/>
          </a:p>
          <a:p>
            <a:pPr marL="0" indent="0" algn="ctr">
              <a:buNone/>
            </a:pPr>
            <a:r>
              <a:rPr lang="en-US" sz="1400" b="1" dirty="0">
                <a:solidFill>
                  <a:schemeClr val="accent1"/>
                </a:solidFill>
              </a:rPr>
              <a:t>44 h</a:t>
            </a:r>
            <a:endParaRPr lang="en-US" sz="1600" dirty="0"/>
          </a:p>
        </p:txBody>
      </p:sp>
      <p:sp>
        <p:nvSpPr>
          <p:cNvPr id="18" name="Nodo HU6"/>
          <p:cNvSpPr/>
          <p:nvPr/>
        </p:nvSpPr>
        <p:spPr>
          <a:xfrm>
            <a:off x="10352723" y="1828800"/>
            <a:ext cx="1188720" cy="1188720"/>
          </a:xfrm>
          <a:prstGeom prst="roundRect">
            <a:avLst>
              <a:gd name="adj" fmla="val 7692"/>
            </a:avLst>
          </a:prstGeom>
          <a:solidFill>
            <a:schemeClr val="accent1">
              <a:alpha val="18000"/>
            </a:schemeClr>
          </a:solidFill>
          <a:ln w="19050">
            <a:solidFill>
              <a:schemeClr val="accent1"/>
            </a:solidFill>
            <a:prstDash val="solid"/>
          </a:ln>
        </p:spPr>
        <p:txBody>
          <a:bodyPr/>
          <a:lstStyle/>
          <a:p>
            <a:endParaRPr lang="es-AR"/>
          </a:p>
        </p:txBody>
      </p:sp>
      <p:sp>
        <p:nvSpPr>
          <p:cNvPr id="19" name="Texto nodo HU6"/>
          <p:cNvSpPr txBox="1"/>
          <p:nvPr/>
        </p:nvSpPr>
        <p:spPr>
          <a:xfrm>
            <a:off x="10389299" y="182880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HU6</a:t>
            </a:r>
            <a:endParaRPr lang="en-US" sz="1600" dirty="0"/>
          </a:p>
          <a:p>
            <a:pPr marL="0" indent="0" algn="ctr">
              <a:buNone/>
            </a:pPr>
            <a:r>
              <a:rPr lang="en-US" sz="1200" dirty="0">
                <a:solidFill>
                  <a:schemeClr val="tx1"/>
                </a:solidFill>
              </a:rPr>
              <a:t>Verificación y fidelidad</a:t>
            </a:r>
            <a:endParaRPr lang="en-US" sz="1600" dirty="0"/>
          </a:p>
          <a:p>
            <a:pPr marL="0" indent="0" algn="ctr">
              <a:buNone/>
            </a:pPr>
            <a:r>
              <a:rPr lang="en-US" sz="1400" b="1" dirty="0">
                <a:solidFill>
                  <a:schemeClr val="accent1"/>
                </a:solidFill>
              </a:rPr>
              <a:t>36 h</a:t>
            </a:r>
            <a:endParaRPr lang="en-US" sz="1600" dirty="0"/>
          </a:p>
        </p:txBody>
      </p:sp>
      <p:sp>
        <p:nvSpPr>
          <p:cNvPr id="20" name="Nodo Pruebas"/>
          <p:cNvSpPr/>
          <p:nvPr/>
        </p:nvSpPr>
        <p:spPr>
          <a:xfrm>
            <a:off x="10352723" y="3931920"/>
            <a:ext cx="1188720" cy="1188720"/>
          </a:xfrm>
          <a:prstGeom prst="roundRect">
            <a:avLst>
              <a:gd name="adj" fmla="val 7692"/>
            </a:avLst>
          </a:prstGeom>
          <a:solidFill>
            <a:schemeClr val="accent5">
              <a:alpha val="18000"/>
            </a:schemeClr>
          </a:solidFill>
          <a:ln w="19050">
            <a:solidFill>
              <a:schemeClr val="accent5"/>
            </a:solidFill>
            <a:prstDash val="solid"/>
          </a:ln>
        </p:spPr>
        <p:txBody>
          <a:bodyPr/>
          <a:lstStyle/>
          <a:p>
            <a:endParaRPr lang="es-AR"/>
          </a:p>
        </p:txBody>
      </p:sp>
      <p:sp>
        <p:nvSpPr>
          <p:cNvPr id="21" name="Texto nodo Pruebas"/>
          <p:cNvSpPr txBox="1"/>
          <p:nvPr/>
        </p:nvSpPr>
        <p:spPr>
          <a:xfrm>
            <a:off x="10389299" y="393192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Pruebas</a:t>
            </a:r>
            <a:endParaRPr lang="en-US" sz="1600" dirty="0"/>
          </a:p>
          <a:p>
            <a:pPr marL="0" indent="0" algn="ctr">
              <a:buNone/>
            </a:pPr>
            <a:r>
              <a:rPr lang="en-US" sz="1200" dirty="0">
                <a:solidFill>
                  <a:schemeClr val="tx1"/>
                </a:solidFill>
              </a:rPr>
              <a:t>integradas</a:t>
            </a:r>
            <a:endParaRPr lang="en-US" sz="1600" dirty="0"/>
          </a:p>
          <a:p>
            <a:pPr marL="0" indent="0" algn="ctr">
              <a:buNone/>
            </a:pPr>
            <a:r>
              <a:rPr lang="en-US" sz="1400" b="1" dirty="0">
                <a:solidFill>
                  <a:schemeClr val="accent1"/>
                </a:solidFill>
              </a:rPr>
              <a:t>58 h</a:t>
            </a:r>
            <a:endParaRPr lang="en-US" sz="1600" dirty="0"/>
          </a:p>
        </p:txBody>
      </p:sp>
      <p:sp>
        <p:nvSpPr>
          <p:cNvPr id="22" name="Nodo HU7"/>
          <p:cNvSpPr/>
          <p:nvPr/>
        </p:nvSpPr>
        <p:spPr>
          <a:xfrm>
            <a:off x="8966264" y="3931920"/>
            <a:ext cx="1188720" cy="1188720"/>
          </a:xfrm>
          <a:prstGeom prst="roundRect">
            <a:avLst>
              <a:gd name="adj" fmla="val 7692"/>
            </a:avLst>
          </a:prstGeom>
          <a:solidFill>
            <a:schemeClr val="accent3">
              <a:alpha val="18000"/>
            </a:schemeClr>
          </a:solidFill>
          <a:ln w="19050">
            <a:solidFill>
              <a:schemeClr val="accent3"/>
            </a:solidFill>
            <a:prstDash val="solid"/>
          </a:ln>
        </p:spPr>
        <p:txBody>
          <a:bodyPr/>
          <a:lstStyle/>
          <a:p>
            <a:endParaRPr lang="es-AR"/>
          </a:p>
        </p:txBody>
      </p:sp>
      <p:sp>
        <p:nvSpPr>
          <p:cNvPr id="23" name="Texto nodo HU7"/>
          <p:cNvSpPr txBox="1"/>
          <p:nvPr/>
        </p:nvSpPr>
        <p:spPr>
          <a:xfrm>
            <a:off x="9002839" y="393192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HU7</a:t>
            </a:r>
            <a:endParaRPr lang="en-US" sz="1600" dirty="0"/>
          </a:p>
          <a:p>
            <a:pPr marL="0" indent="0" algn="ctr">
              <a:buNone/>
            </a:pPr>
            <a:r>
              <a:rPr lang="en-US" sz="1200" dirty="0">
                <a:solidFill>
                  <a:schemeClr val="tx1"/>
                </a:solidFill>
              </a:rPr>
              <a:t>Piloto controlado</a:t>
            </a:r>
            <a:endParaRPr lang="en-US" sz="1600" dirty="0"/>
          </a:p>
          <a:p>
            <a:pPr marL="0" indent="0" algn="ctr">
              <a:buNone/>
            </a:pPr>
            <a:r>
              <a:rPr lang="en-US" sz="1400" b="1" dirty="0">
                <a:solidFill>
                  <a:schemeClr val="accent1"/>
                </a:solidFill>
              </a:rPr>
              <a:t>74 h</a:t>
            </a:r>
            <a:endParaRPr lang="en-US" sz="1600" dirty="0"/>
          </a:p>
        </p:txBody>
      </p:sp>
      <p:sp>
        <p:nvSpPr>
          <p:cNvPr id="24" name="Nodo Documentación"/>
          <p:cNvSpPr/>
          <p:nvPr/>
        </p:nvSpPr>
        <p:spPr>
          <a:xfrm>
            <a:off x="7579805" y="3931920"/>
            <a:ext cx="1188720" cy="1188720"/>
          </a:xfrm>
          <a:prstGeom prst="roundRect">
            <a:avLst>
              <a:gd name="adj" fmla="val 7692"/>
            </a:avLst>
          </a:prstGeom>
          <a:solidFill>
            <a:schemeClr val="accent5">
              <a:alpha val="18000"/>
            </a:schemeClr>
          </a:solidFill>
          <a:ln w="19050">
            <a:solidFill>
              <a:schemeClr val="accent5"/>
            </a:solidFill>
            <a:prstDash val="solid"/>
          </a:ln>
        </p:spPr>
        <p:txBody>
          <a:bodyPr/>
          <a:lstStyle/>
          <a:p>
            <a:endParaRPr lang="es-AR"/>
          </a:p>
        </p:txBody>
      </p:sp>
      <p:sp>
        <p:nvSpPr>
          <p:cNvPr id="25" name="Texto nodo Documentación"/>
          <p:cNvSpPr txBox="1"/>
          <p:nvPr/>
        </p:nvSpPr>
        <p:spPr>
          <a:xfrm>
            <a:off x="7616380" y="3931920"/>
            <a:ext cx="1115568" cy="1188720"/>
          </a:xfrm>
          <a:prstGeom prst="rect">
            <a:avLst/>
          </a:prstGeom>
          <a:noFill/>
          <a:ln/>
        </p:spPr>
        <p:txBody>
          <a:bodyPr wrap="square" lIns="0" tIns="0" rIns="0" bIns="0" rtlCol="0" anchor="ctr"/>
          <a:lstStyle/>
          <a:p>
            <a:pPr marL="0" indent="0" algn="ctr">
              <a:buNone/>
            </a:pPr>
            <a:r>
              <a:rPr lang="en-US" sz="1200" b="1" dirty="0">
                <a:solidFill>
                  <a:schemeClr val="tx1"/>
                </a:solidFill>
              </a:rPr>
              <a:t>Documentación</a:t>
            </a:r>
            <a:endParaRPr lang="en-US" sz="1600" dirty="0"/>
          </a:p>
          <a:p>
            <a:pPr marL="0" indent="0" algn="ctr">
              <a:buNone/>
            </a:pPr>
            <a:r>
              <a:rPr lang="en-US" sz="1200" dirty="0">
                <a:solidFill>
                  <a:schemeClr val="tx1"/>
                </a:solidFill>
              </a:rPr>
              <a:t>técnica</a:t>
            </a:r>
            <a:endParaRPr lang="en-US" sz="1600" dirty="0"/>
          </a:p>
          <a:p>
            <a:pPr marL="0" indent="0" algn="ctr">
              <a:buNone/>
            </a:pPr>
            <a:r>
              <a:rPr lang="en-US" sz="1400" b="1" dirty="0">
                <a:solidFill>
                  <a:schemeClr val="accent1"/>
                </a:solidFill>
              </a:rPr>
              <a:t>22 h</a:t>
            </a:r>
            <a:endParaRPr lang="en-US" sz="1600" dirty="0"/>
          </a:p>
        </p:txBody>
      </p:sp>
      <p:sp>
        <p:nvSpPr>
          <p:cNvPr id="26" name="Nodo HU8"/>
          <p:cNvSpPr/>
          <p:nvPr/>
        </p:nvSpPr>
        <p:spPr>
          <a:xfrm>
            <a:off x="6193346" y="3931920"/>
            <a:ext cx="1188720" cy="1188720"/>
          </a:xfrm>
          <a:prstGeom prst="roundRect">
            <a:avLst>
              <a:gd name="adj" fmla="val 7692"/>
            </a:avLst>
          </a:prstGeom>
          <a:solidFill>
            <a:schemeClr val="accent3">
              <a:alpha val="18000"/>
            </a:schemeClr>
          </a:solidFill>
          <a:ln w="19050">
            <a:solidFill>
              <a:schemeClr val="accent3"/>
            </a:solidFill>
            <a:prstDash val="solid"/>
          </a:ln>
        </p:spPr>
        <p:txBody>
          <a:bodyPr/>
          <a:lstStyle/>
          <a:p>
            <a:endParaRPr lang="es-AR"/>
          </a:p>
        </p:txBody>
      </p:sp>
      <p:sp>
        <p:nvSpPr>
          <p:cNvPr id="27" name="Texto nodo HU8"/>
          <p:cNvSpPr txBox="1"/>
          <p:nvPr/>
        </p:nvSpPr>
        <p:spPr>
          <a:xfrm>
            <a:off x="6229922" y="393192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HU8</a:t>
            </a:r>
            <a:endParaRPr lang="en-US" sz="1600" dirty="0"/>
          </a:p>
          <a:p>
            <a:pPr marL="0" indent="0" algn="ctr">
              <a:buNone/>
            </a:pPr>
            <a:r>
              <a:rPr lang="en-US" sz="1200" dirty="0">
                <a:solidFill>
                  <a:schemeClr val="tx1"/>
                </a:solidFill>
              </a:rPr>
              <a:t>Informe del piloto</a:t>
            </a:r>
            <a:endParaRPr lang="en-US" sz="1600" dirty="0"/>
          </a:p>
          <a:p>
            <a:pPr marL="0" indent="0" algn="ctr">
              <a:buNone/>
            </a:pPr>
            <a:r>
              <a:rPr lang="en-US" sz="1400" b="1" dirty="0">
                <a:solidFill>
                  <a:schemeClr val="accent1"/>
                </a:solidFill>
              </a:rPr>
              <a:t>28 h</a:t>
            </a:r>
            <a:endParaRPr lang="en-US" sz="1600" dirty="0"/>
          </a:p>
        </p:txBody>
      </p:sp>
      <p:sp>
        <p:nvSpPr>
          <p:cNvPr id="28" name="Nodo Memoria"/>
          <p:cNvSpPr/>
          <p:nvPr/>
        </p:nvSpPr>
        <p:spPr>
          <a:xfrm>
            <a:off x="4806887" y="3931920"/>
            <a:ext cx="1188720" cy="1188720"/>
          </a:xfrm>
          <a:prstGeom prst="roundRect">
            <a:avLst>
              <a:gd name="adj" fmla="val 7692"/>
            </a:avLst>
          </a:prstGeom>
          <a:solidFill>
            <a:schemeClr val="accent5">
              <a:alpha val="18000"/>
            </a:schemeClr>
          </a:solidFill>
          <a:ln w="19050">
            <a:solidFill>
              <a:schemeClr val="accent5"/>
            </a:solidFill>
            <a:prstDash val="solid"/>
          </a:ln>
        </p:spPr>
        <p:txBody>
          <a:bodyPr/>
          <a:lstStyle/>
          <a:p>
            <a:endParaRPr lang="es-AR"/>
          </a:p>
        </p:txBody>
      </p:sp>
      <p:sp>
        <p:nvSpPr>
          <p:cNvPr id="29" name="Texto nodo Memoria"/>
          <p:cNvSpPr txBox="1"/>
          <p:nvPr/>
        </p:nvSpPr>
        <p:spPr>
          <a:xfrm>
            <a:off x="4843463" y="393192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Memoria</a:t>
            </a:r>
            <a:endParaRPr lang="en-US" sz="1600" dirty="0"/>
          </a:p>
          <a:p>
            <a:pPr marL="0" indent="0" algn="ctr">
              <a:buNone/>
            </a:pPr>
            <a:r>
              <a:rPr lang="en-US" sz="1200" dirty="0" err="1">
                <a:solidFill>
                  <a:schemeClr val="tx1"/>
                </a:solidFill>
              </a:rPr>
              <a:t>Escritura</a:t>
            </a:r>
            <a:endParaRPr lang="en-US" sz="1600" dirty="0"/>
          </a:p>
          <a:p>
            <a:pPr marL="0" indent="0" algn="ctr">
              <a:buNone/>
            </a:pPr>
            <a:r>
              <a:rPr lang="en-US" sz="1400" b="1" dirty="0">
                <a:solidFill>
                  <a:schemeClr val="accent1"/>
                </a:solidFill>
              </a:rPr>
              <a:t>84 h</a:t>
            </a:r>
            <a:endParaRPr lang="en-US" sz="1600" dirty="0"/>
          </a:p>
        </p:txBody>
      </p:sp>
      <p:sp>
        <p:nvSpPr>
          <p:cNvPr id="30" name="Nodo Defensa"/>
          <p:cNvSpPr/>
          <p:nvPr/>
        </p:nvSpPr>
        <p:spPr>
          <a:xfrm>
            <a:off x="3420428" y="3931920"/>
            <a:ext cx="1188720" cy="1188720"/>
          </a:xfrm>
          <a:prstGeom prst="roundRect">
            <a:avLst>
              <a:gd name="adj" fmla="val 7692"/>
            </a:avLst>
          </a:prstGeom>
          <a:solidFill>
            <a:schemeClr val="accent5">
              <a:alpha val="18000"/>
            </a:schemeClr>
          </a:solidFill>
          <a:ln w="19050">
            <a:solidFill>
              <a:schemeClr val="accent5"/>
            </a:solidFill>
            <a:prstDash val="solid"/>
          </a:ln>
        </p:spPr>
        <p:txBody>
          <a:bodyPr/>
          <a:lstStyle/>
          <a:p>
            <a:endParaRPr lang="es-AR"/>
          </a:p>
        </p:txBody>
      </p:sp>
      <p:sp>
        <p:nvSpPr>
          <p:cNvPr id="31" name="Texto nodo Defensa"/>
          <p:cNvSpPr txBox="1"/>
          <p:nvPr/>
        </p:nvSpPr>
        <p:spPr>
          <a:xfrm>
            <a:off x="3457004" y="3931920"/>
            <a:ext cx="1115568" cy="1188720"/>
          </a:xfrm>
          <a:prstGeom prst="rect">
            <a:avLst/>
          </a:prstGeom>
          <a:noFill/>
          <a:ln/>
        </p:spPr>
        <p:txBody>
          <a:bodyPr wrap="square" lIns="0" tIns="0" rIns="0" bIns="0" rtlCol="0" anchor="ctr"/>
          <a:lstStyle/>
          <a:p>
            <a:pPr marL="0" indent="0" algn="ctr">
              <a:buNone/>
            </a:pPr>
            <a:r>
              <a:rPr lang="en-US" sz="1400" b="1" dirty="0">
                <a:solidFill>
                  <a:schemeClr val="tx1"/>
                </a:solidFill>
              </a:rPr>
              <a:t>Defensa</a:t>
            </a:r>
            <a:endParaRPr lang="en-US" sz="1600" dirty="0"/>
          </a:p>
          <a:p>
            <a:pPr marL="0" indent="0" algn="ctr">
              <a:buNone/>
            </a:pPr>
            <a:r>
              <a:rPr lang="en-US" sz="1200" dirty="0" err="1">
                <a:solidFill>
                  <a:schemeClr val="tx1"/>
                </a:solidFill>
              </a:rPr>
              <a:t>Ensayo</a:t>
            </a:r>
            <a:endParaRPr lang="en-US" sz="1600" dirty="0"/>
          </a:p>
          <a:p>
            <a:pPr marL="0" indent="0" algn="ctr">
              <a:buNone/>
            </a:pPr>
            <a:r>
              <a:rPr lang="en-US" sz="1400" b="1" dirty="0">
                <a:solidFill>
                  <a:schemeClr val="accent1"/>
                </a:solidFill>
              </a:rPr>
              <a:t>20 h</a:t>
            </a:r>
            <a:endParaRPr lang="en-US" sz="1600" dirty="0"/>
          </a:p>
        </p:txBody>
      </p:sp>
      <p:sp>
        <p:nvSpPr>
          <p:cNvPr id="32" name="Nodo Fin"/>
          <p:cNvSpPr/>
          <p:nvPr/>
        </p:nvSpPr>
        <p:spPr>
          <a:xfrm>
            <a:off x="2239709" y="4137660"/>
            <a:ext cx="777240" cy="777240"/>
          </a:xfrm>
          <a:prstGeom prst="ellipse">
            <a:avLst/>
          </a:prstGeom>
          <a:solidFill>
            <a:schemeClr val="tx1"/>
          </a:solidFill>
          <a:ln w="12700">
            <a:solidFill>
              <a:schemeClr val="tx1"/>
            </a:solidFill>
            <a:prstDash val="solid"/>
          </a:ln>
        </p:spPr>
        <p:txBody>
          <a:bodyPr/>
          <a:lstStyle/>
          <a:p>
            <a:endParaRPr lang="es-AR"/>
          </a:p>
        </p:txBody>
      </p:sp>
      <p:sp>
        <p:nvSpPr>
          <p:cNvPr id="33" name="Texto Fin"/>
          <p:cNvSpPr txBox="1"/>
          <p:nvPr/>
        </p:nvSpPr>
        <p:spPr>
          <a:xfrm>
            <a:off x="2239709" y="4137660"/>
            <a:ext cx="777240" cy="777240"/>
          </a:xfrm>
          <a:prstGeom prst="rect">
            <a:avLst/>
          </a:prstGeom>
          <a:noFill/>
          <a:ln/>
        </p:spPr>
        <p:txBody>
          <a:bodyPr wrap="square" lIns="0" tIns="0" rIns="0" bIns="0" rtlCol="0" anchor="ctr"/>
          <a:lstStyle/>
          <a:p>
            <a:pPr marL="0" indent="0" algn="ctr">
              <a:buNone/>
            </a:pPr>
            <a:r>
              <a:rPr lang="en-US" sz="1400" b="1" dirty="0">
                <a:solidFill>
                  <a:schemeClr val="bg1"/>
                </a:solidFill>
              </a:rPr>
              <a:t>Fin</a:t>
            </a:r>
            <a:endParaRPr lang="en-US" sz="1400" dirty="0"/>
          </a:p>
        </p:txBody>
      </p:sp>
      <p:sp>
        <p:nvSpPr>
          <p:cNvPr id="34" name="Conector"/>
          <p:cNvSpPr/>
          <p:nvPr/>
        </p:nvSpPr>
        <p:spPr>
          <a:xfrm>
            <a:off x="1630490" y="2423160"/>
            <a:ext cx="403479" cy="0"/>
          </a:xfrm>
          <a:prstGeom prst="line">
            <a:avLst/>
          </a:prstGeom>
          <a:noFill/>
          <a:ln w="28575">
            <a:solidFill>
              <a:schemeClr val="accent1"/>
            </a:solidFill>
            <a:prstDash val="solid"/>
            <a:tailEnd type="triangle"/>
          </a:ln>
        </p:spPr>
        <p:txBody>
          <a:bodyPr/>
          <a:lstStyle/>
          <a:p>
            <a:endParaRPr lang="es-AR"/>
          </a:p>
        </p:txBody>
      </p:sp>
      <p:sp>
        <p:nvSpPr>
          <p:cNvPr id="35" name="Conector"/>
          <p:cNvSpPr/>
          <p:nvPr/>
        </p:nvSpPr>
        <p:spPr>
          <a:xfrm>
            <a:off x="3222689" y="2423160"/>
            <a:ext cx="197739" cy="0"/>
          </a:xfrm>
          <a:prstGeom prst="line">
            <a:avLst/>
          </a:prstGeom>
          <a:noFill/>
          <a:ln w="28575">
            <a:solidFill>
              <a:schemeClr val="accent1"/>
            </a:solidFill>
            <a:prstDash val="solid"/>
            <a:tailEnd type="triangle"/>
          </a:ln>
        </p:spPr>
        <p:txBody>
          <a:bodyPr/>
          <a:lstStyle/>
          <a:p>
            <a:endParaRPr lang="es-AR"/>
          </a:p>
        </p:txBody>
      </p:sp>
      <p:sp>
        <p:nvSpPr>
          <p:cNvPr id="36" name="Conector"/>
          <p:cNvSpPr/>
          <p:nvPr/>
        </p:nvSpPr>
        <p:spPr>
          <a:xfrm>
            <a:off x="4609148" y="2423160"/>
            <a:ext cx="197739" cy="0"/>
          </a:xfrm>
          <a:prstGeom prst="line">
            <a:avLst/>
          </a:prstGeom>
          <a:noFill/>
          <a:ln w="28575">
            <a:solidFill>
              <a:schemeClr val="accent1"/>
            </a:solidFill>
            <a:prstDash val="solid"/>
            <a:tailEnd type="triangle"/>
          </a:ln>
        </p:spPr>
        <p:txBody>
          <a:bodyPr/>
          <a:lstStyle/>
          <a:p>
            <a:endParaRPr lang="es-AR"/>
          </a:p>
        </p:txBody>
      </p:sp>
      <p:sp>
        <p:nvSpPr>
          <p:cNvPr id="37" name="Conector"/>
          <p:cNvSpPr/>
          <p:nvPr/>
        </p:nvSpPr>
        <p:spPr>
          <a:xfrm>
            <a:off x="5995607" y="2423160"/>
            <a:ext cx="197739" cy="0"/>
          </a:xfrm>
          <a:prstGeom prst="line">
            <a:avLst/>
          </a:prstGeom>
          <a:noFill/>
          <a:ln w="28575">
            <a:solidFill>
              <a:schemeClr val="accent1"/>
            </a:solidFill>
            <a:prstDash val="solid"/>
            <a:tailEnd type="triangle"/>
          </a:ln>
        </p:spPr>
        <p:txBody>
          <a:bodyPr/>
          <a:lstStyle/>
          <a:p>
            <a:endParaRPr lang="es-AR"/>
          </a:p>
        </p:txBody>
      </p:sp>
      <p:sp>
        <p:nvSpPr>
          <p:cNvPr id="38" name="Conector"/>
          <p:cNvSpPr/>
          <p:nvPr/>
        </p:nvSpPr>
        <p:spPr>
          <a:xfrm>
            <a:off x="7382066" y="2423160"/>
            <a:ext cx="197739" cy="0"/>
          </a:xfrm>
          <a:prstGeom prst="line">
            <a:avLst/>
          </a:prstGeom>
          <a:noFill/>
          <a:ln w="28575">
            <a:solidFill>
              <a:schemeClr val="accent1"/>
            </a:solidFill>
            <a:prstDash val="solid"/>
            <a:tailEnd type="triangle"/>
          </a:ln>
        </p:spPr>
        <p:txBody>
          <a:bodyPr/>
          <a:lstStyle/>
          <a:p>
            <a:endParaRPr lang="es-AR"/>
          </a:p>
        </p:txBody>
      </p:sp>
      <p:sp>
        <p:nvSpPr>
          <p:cNvPr id="39" name="Conector"/>
          <p:cNvSpPr/>
          <p:nvPr/>
        </p:nvSpPr>
        <p:spPr>
          <a:xfrm>
            <a:off x="8768525" y="2423160"/>
            <a:ext cx="197739" cy="0"/>
          </a:xfrm>
          <a:prstGeom prst="line">
            <a:avLst/>
          </a:prstGeom>
          <a:noFill/>
          <a:ln w="28575">
            <a:solidFill>
              <a:schemeClr val="accent1"/>
            </a:solidFill>
            <a:prstDash val="solid"/>
            <a:tailEnd type="triangle"/>
          </a:ln>
        </p:spPr>
        <p:txBody>
          <a:bodyPr/>
          <a:lstStyle/>
          <a:p>
            <a:endParaRPr lang="es-AR"/>
          </a:p>
        </p:txBody>
      </p:sp>
      <p:sp>
        <p:nvSpPr>
          <p:cNvPr id="40" name="Conector"/>
          <p:cNvSpPr/>
          <p:nvPr/>
        </p:nvSpPr>
        <p:spPr>
          <a:xfrm>
            <a:off x="10154984" y="2423160"/>
            <a:ext cx="197739" cy="0"/>
          </a:xfrm>
          <a:prstGeom prst="line">
            <a:avLst/>
          </a:prstGeom>
          <a:noFill/>
          <a:ln w="28575">
            <a:solidFill>
              <a:schemeClr val="accent1"/>
            </a:solidFill>
            <a:prstDash val="solid"/>
            <a:tailEnd type="triangle"/>
          </a:ln>
        </p:spPr>
        <p:txBody>
          <a:bodyPr/>
          <a:lstStyle/>
          <a:p>
            <a:endParaRPr lang="es-AR"/>
          </a:p>
        </p:txBody>
      </p:sp>
      <p:sp>
        <p:nvSpPr>
          <p:cNvPr id="41" name="Conector"/>
          <p:cNvSpPr/>
          <p:nvPr/>
        </p:nvSpPr>
        <p:spPr>
          <a:xfrm>
            <a:off x="10947083" y="3017520"/>
            <a:ext cx="0" cy="914400"/>
          </a:xfrm>
          <a:prstGeom prst="line">
            <a:avLst/>
          </a:prstGeom>
          <a:noFill/>
          <a:ln w="28575">
            <a:solidFill>
              <a:schemeClr val="accent1"/>
            </a:solidFill>
            <a:prstDash val="solid"/>
            <a:tailEnd type="triangle"/>
          </a:ln>
        </p:spPr>
        <p:txBody>
          <a:bodyPr/>
          <a:lstStyle/>
          <a:p>
            <a:endParaRPr lang="es-AR"/>
          </a:p>
        </p:txBody>
      </p:sp>
      <p:sp>
        <p:nvSpPr>
          <p:cNvPr id="42" name="Conector"/>
          <p:cNvSpPr/>
          <p:nvPr/>
        </p:nvSpPr>
        <p:spPr>
          <a:xfrm>
            <a:off x="10154984" y="4526280"/>
            <a:ext cx="197739" cy="0"/>
          </a:xfrm>
          <a:prstGeom prst="line">
            <a:avLst/>
          </a:prstGeom>
          <a:noFill/>
          <a:ln w="28575">
            <a:solidFill>
              <a:schemeClr val="accent1"/>
            </a:solidFill>
            <a:prstDash val="solid"/>
            <a:headEnd type="triangle"/>
          </a:ln>
        </p:spPr>
        <p:txBody>
          <a:bodyPr/>
          <a:lstStyle/>
          <a:p>
            <a:endParaRPr lang="es-AR"/>
          </a:p>
        </p:txBody>
      </p:sp>
      <p:sp>
        <p:nvSpPr>
          <p:cNvPr id="43" name="Conector"/>
          <p:cNvSpPr/>
          <p:nvPr/>
        </p:nvSpPr>
        <p:spPr>
          <a:xfrm>
            <a:off x="8768525" y="4526280"/>
            <a:ext cx="197739" cy="0"/>
          </a:xfrm>
          <a:prstGeom prst="line">
            <a:avLst/>
          </a:prstGeom>
          <a:noFill/>
          <a:ln w="28575">
            <a:solidFill>
              <a:schemeClr val="accent1"/>
            </a:solidFill>
            <a:prstDash val="solid"/>
            <a:headEnd type="triangle"/>
          </a:ln>
        </p:spPr>
        <p:txBody>
          <a:bodyPr/>
          <a:lstStyle/>
          <a:p>
            <a:endParaRPr lang="es-AR"/>
          </a:p>
        </p:txBody>
      </p:sp>
      <p:sp>
        <p:nvSpPr>
          <p:cNvPr id="44" name="Conector"/>
          <p:cNvSpPr/>
          <p:nvPr/>
        </p:nvSpPr>
        <p:spPr>
          <a:xfrm>
            <a:off x="7382066" y="4526280"/>
            <a:ext cx="197739" cy="0"/>
          </a:xfrm>
          <a:prstGeom prst="line">
            <a:avLst/>
          </a:prstGeom>
          <a:noFill/>
          <a:ln w="28575">
            <a:solidFill>
              <a:schemeClr val="accent1"/>
            </a:solidFill>
            <a:prstDash val="solid"/>
            <a:headEnd type="triangle"/>
          </a:ln>
        </p:spPr>
        <p:txBody>
          <a:bodyPr/>
          <a:lstStyle/>
          <a:p>
            <a:endParaRPr lang="es-AR"/>
          </a:p>
        </p:txBody>
      </p:sp>
      <p:sp>
        <p:nvSpPr>
          <p:cNvPr id="45" name="Conector"/>
          <p:cNvSpPr/>
          <p:nvPr/>
        </p:nvSpPr>
        <p:spPr>
          <a:xfrm>
            <a:off x="5995607" y="4526280"/>
            <a:ext cx="197739" cy="0"/>
          </a:xfrm>
          <a:prstGeom prst="line">
            <a:avLst/>
          </a:prstGeom>
          <a:noFill/>
          <a:ln w="28575">
            <a:solidFill>
              <a:schemeClr val="accent1"/>
            </a:solidFill>
            <a:prstDash val="solid"/>
            <a:headEnd type="triangle"/>
          </a:ln>
        </p:spPr>
        <p:txBody>
          <a:bodyPr/>
          <a:lstStyle/>
          <a:p>
            <a:endParaRPr lang="es-AR"/>
          </a:p>
        </p:txBody>
      </p:sp>
      <p:sp>
        <p:nvSpPr>
          <p:cNvPr id="46" name="Conector"/>
          <p:cNvSpPr/>
          <p:nvPr/>
        </p:nvSpPr>
        <p:spPr>
          <a:xfrm>
            <a:off x="4609148" y="4526280"/>
            <a:ext cx="197739" cy="0"/>
          </a:xfrm>
          <a:prstGeom prst="line">
            <a:avLst/>
          </a:prstGeom>
          <a:noFill/>
          <a:ln w="28575">
            <a:solidFill>
              <a:schemeClr val="accent1"/>
            </a:solidFill>
            <a:prstDash val="solid"/>
            <a:headEnd type="triangle"/>
          </a:ln>
        </p:spPr>
        <p:txBody>
          <a:bodyPr/>
          <a:lstStyle/>
          <a:p>
            <a:endParaRPr lang="es-AR"/>
          </a:p>
        </p:txBody>
      </p:sp>
      <p:sp>
        <p:nvSpPr>
          <p:cNvPr id="47" name="Conector"/>
          <p:cNvSpPr/>
          <p:nvPr/>
        </p:nvSpPr>
        <p:spPr>
          <a:xfrm>
            <a:off x="3016949" y="4526280"/>
            <a:ext cx="403479" cy="0"/>
          </a:xfrm>
          <a:prstGeom prst="line">
            <a:avLst/>
          </a:prstGeom>
          <a:noFill/>
          <a:ln w="28575">
            <a:solidFill>
              <a:schemeClr val="accent1"/>
            </a:solidFill>
            <a:prstDash val="solid"/>
            <a:headEnd type="triangle"/>
          </a:ln>
        </p:spPr>
        <p:txBody>
          <a:bodyPr/>
          <a:lstStyle/>
          <a:p>
            <a:endParaRPr lang="es-AR"/>
          </a:p>
        </p:txBody>
      </p:sp>
      <p:sp>
        <p:nvSpPr>
          <p:cNvPr id="48" name="Leyenda Épica 1: datos"/>
          <p:cNvSpPr/>
          <p:nvPr/>
        </p:nvSpPr>
        <p:spPr>
          <a:xfrm>
            <a:off x="548640" y="5650992"/>
            <a:ext cx="274320" cy="274320"/>
          </a:xfrm>
          <a:prstGeom prst="roundRect">
            <a:avLst>
              <a:gd name="adj" fmla="val 16667"/>
            </a:avLst>
          </a:prstGeom>
          <a:solidFill>
            <a:schemeClr val="accent2">
              <a:alpha val="18000"/>
            </a:schemeClr>
          </a:solidFill>
          <a:ln w="15875">
            <a:solidFill>
              <a:schemeClr val="accent2"/>
            </a:solidFill>
            <a:prstDash val="solid"/>
          </a:ln>
        </p:spPr>
        <p:txBody>
          <a:bodyPr/>
          <a:lstStyle/>
          <a:p>
            <a:endParaRPr lang="es-AR"/>
          </a:p>
        </p:txBody>
      </p:sp>
      <p:sp>
        <p:nvSpPr>
          <p:cNvPr id="49" name="Texto leyenda Épica 1: datos"/>
          <p:cNvSpPr txBox="1"/>
          <p:nvPr/>
        </p:nvSpPr>
        <p:spPr>
          <a:xfrm>
            <a:off x="932688" y="5605272"/>
            <a:ext cx="1143000" cy="365760"/>
          </a:xfrm>
          <a:prstGeom prst="rect">
            <a:avLst/>
          </a:prstGeom>
          <a:noFill/>
          <a:ln/>
        </p:spPr>
        <p:txBody>
          <a:bodyPr wrap="square" lIns="0" tIns="0" rIns="0" bIns="0" rtlCol="0" anchor="ctr"/>
          <a:lstStyle/>
          <a:p>
            <a:pPr marL="0" indent="0">
              <a:buNone/>
            </a:pPr>
            <a:r>
              <a:rPr lang="en-US" sz="1400" dirty="0">
                <a:solidFill>
                  <a:schemeClr val="tx1"/>
                </a:solidFill>
              </a:rPr>
              <a:t>Épica 1: datos</a:t>
            </a:r>
            <a:endParaRPr lang="en-US" sz="1400" dirty="0"/>
          </a:p>
        </p:txBody>
      </p:sp>
      <p:sp>
        <p:nvSpPr>
          <p:cNvPr id="50" name="Leyenda Épica 2: modelo"/>
          <p:cNvSpPr/>
          <p:nvPr/>
        </p:nvSpPr>
        <p:spPr>
          <a:xfrm>
            <a:off x="2296973" y="5650992"/>
            <a:ext cx="274320" cy="274320"/>
          </a:xfrm>
          <a:prstGeom prst="roundRect">
            <a:avLst>
              <a:gd name="adj" fmla="val 16667"/>
            </a:avLst>
          </a:prstGeom>
          <a:solidFill>
            <a:schemeClr val="accent6">
              <a:alpha val="18000"/>
            </a:schemeClr>
          </a:solidFill>
          <a:ln w="15875">
            <a:solidFill>
              <a:schemeClr val="accent6"/>
            </a:solidFill>
            <a:prstDash val="solid"/>
          </a:ln>
        </p:spPr>
        <p:txBody>
          <a:bodyPr/>
          <a:lstStyle/>
          <a:p>
            <a:endParaRPr lang="es-AR"/>
          </a:p>
        </p:txBody>
      </p:sp>
      <p:sp>
        <p:nvSpPr>
          <p:cNvPr id="51" name="Texto leyenda Épica 2: modelo"/>
          <p:cNvSpPr txBox="1"/>
          <p:nvPr/>
        </p:nvSpPr>
        <p:spPr>
          <a:xfrm>
            <a:off x="2681021" y="5605272"/>
            <a:ext cx="1280160" cy="365760"/>
          </a:xfrm>
          <a:prstGeom prst="rect">
            <a:avLst/>
          </a:prstGeom>
          <a:noFill/>
          <a:ln/>
        </p:spPr>
        <p:txBody>
          <a:bodyPr wrap="square" lIns="0" tIns="0" rIns="0" bIns="0" rtlCol="0" anchor="ctr"/>
          <a:lstStyle/>
          <a:p>
            <a:pPr marL="0" indent="0">
              <a:buNone/>
            </a:pPr>
            <a:r>
              <a:rPr lang="en-US" sz="1400" dirty="0">
                <a:solidFill>
                  <a:schemeClr val="tx1"/>
                </a:solidFill>
              </a:rPr>
              <a:t>Épica 2: modelo</a:t>
            </a:r>
            <a:endParaRPr lang="en-US" sz="1400" dirty="0"/>
          </a:p>
        </p:txBody>
      </p:sp>
      <p:sp>
        <p:nvSpPr>
          <p:cNvPr id="52" name="Leyenda Épica 3: sinopsis"/>
          <p:cNvSpPr/>
          <p:nvPr/>
        </p:nvSpPr>
        <p:spPr>
          <a:xfrm>
            <a:off x="4182466" y="5650992"/>
            <a:ext cx="274320" cy="274320"/>
          </a:xfrm>
          <a:prstGeom prst="roundRect">
            <a:avLst>
              <a:gd name="adj" fmla="val 16667"/>
            </a:avLst>
          </a:prstGeom>
          <a:solidFill>
            <a:schemeClr val="accent1">
              <a:alpha val="18000"/>
            </a:schemeClr>
          </a:solidFill>
          <a:ln w="15875">
            <a:solidFill>
              <a:schemeClr val="accent1"/>
            </a:solidFill>
            <a:prstDash val="solid"/>
          </a:ln>
        </p:spPr>
        <p:txBody>
          <a:bodyPr/>
          <a:lstStyle/>
          <a:p>
            <a:endParaRPr lang="es-AR"/>
          </a:p>
        </p:txBody>
      </p:sp>
      <p:sp>
        <p:nvSpPr>
          <p:cNvPr id="53" name="Texto leyenda Épica 3: sinopsis"/>
          <p:cNvSpPr txBox="1"/>
          <p:nvPr/>
        </p:nvSpPr>
        <p:spPr>
          <a:xfrm>
            <a:off x="4566514" y="5605272"/>
            <a:ext cx="1325880" cy="365760"/>
          </a:xfrm>
          <a:prstGeom prst="rect">
            <a:avLst/>
          </a:prstGeom>
          <a:noFill/>
          <a:ln/>
        </p:spPr>
        <p:txBody>
          <a:bodyPr wrap="square" lIns="0" tIns="0" rIns="0" bIns="0" rtlCol="0" anchor="ctr"/>
          <a:lstStyle/>
          <a:p>
            <a:pPr marL="0" indent="0">
              <a:buNone/>
            </a:pPr>
            <a:r>
              <a:rPr lang="en-US" sz="1400" dirty="0">
                <a:solidFill>
                  <a:schemeClr val="tx1"/>
                </a:solidFill>
              </a:rPr>
              <a:t>Épica 3: sinopsis</a:t>
            </a:r>
            <a:endParaRPr lang="en-US" sz="1400" dirty="0"/>
          </a:p>
        </p:txBody>
      </p:sp>
      <p:sp>
        <p:nvSpPr>
          <p:cNvPr id="54" name="Leyenda Épica 4: piloto"/>
          <p:cNvSpPr/>
          <p:nvPr/>
        </p:nvSpPr>
        <p:spPr>
          <a:xfrm>
            <a:off x="6113678" y="5650992"/>
            <a:ext cx="274320" cy="274320"/>
          </a:xfrm>
          <a:prstGeom prst="roundRect">
            <a:avLst>
              <a:gd name="adj" fmla="val 16667"/>
            </a:avLst>
          </a:prstGeom>
          <a:solidFill>
            <a:schemeClr val="accent3">
              <a:alpha val="18000"/>
            </a:schemeClr>
          </a:solidFill>
          <a:ln w="15875">
            <a:solidFill>
              <a:schemeClr val="accent3"/>
            </a:solidFill>
            <a:prstDash val="solid"/>
          </a:ln>
        </p:spPr>
        <p:txBody>
          <a:bodyPr/>
          <a:lstStyle/>
          <a:p>
            <a:endParaRPr lang="es-AR"/>
          </a:p>
        </p:txBody>
      </p:sp>
      <p:sp>
        <p:nvSpPr>
          <p:cNvPr id="55" name="Texto leyenda Épica 4: piloto"/>
          <p:cNvSpPr txBox="1"/>
          <p:nvPr/>
        </p:nvSpPr>
        <p:spPr>
          <a:xfrm>
            <a:off x="6497726" y="5605272"/>
            <a:ext cx="1234440" cy="365760"/>
          </a:xfrm>
          <a:prstGeom prst="rect">
            <a:avLst/>
          </a:prstGeom>
          <a:noFill/>
          <a:ln/>
        </p:spPr>
        <p:txBody>
          <a:bodyPr wrap="square" lIns="0" tIns="0" rIns="0" bIns="0" rtlCol="0" anchor="ctr"/>
          <a:lstStyle/>
          <a:p>
            <a:pPr marL="0" indent="0">
              <a:buNone/>
            </a:pPr>
            <a:r>
              <a:rPr lang="en-US" sz="1400" dirty="0">
                <a:solidFill>
                  <a:schemeClr val="tx1"/>
                </a:solidFill>
              </a:rPr>
              <a:t>Épica 4: piloto</a:t>
            </a:r>
            <a:endParaRPr lang="en-US" sz="1400" dirty="0"/>
          </a:p>
        </p:txBody>
      </p:sp>
      <p:sp>
        <p:nvSpPr>
          <p:cNvPr id="56" name="Leyenda Otras actividades"/>
          <p:cNvSpPr/>
          <p:nvPr/>
        </p:nvSpPr>
        <p:spPr>
          <a:xfrm>
            <a:off x="7953451" y="5650992"/>
            <a:ext cx="274320" cy="274320"/>
          </a:xfrm>
          <a:prstGeom prst="roundRect">
            <a:avLst>
              <a:gd name="adj" fmla="val 16667"/>
            </a:avLst>
          </a:prstGeom>
          <a:solidFill>
            <a:schemeClr val="accent5">
              <a:alpha val="18000"/>
            </a:schemeClr>
          </a:solidFill>
          <a:ln w="15875">
            <a:solidFill>
              <a:schemeClr val="accent5"/>
            </a:solidFill>
            <a:prstDash val="solid"/>
          </a:ln>
        </p:spPr>
        <p:txBody>
          <a:bodyPr/>
          <a:lstStyle/>
          <a:p>
            <a:endParaRPr lang="es-AR"/>
          </a:p>
        </p:txBody>
      </p:sp>
      <p:sp>
        <p:nvSpPr>
          <p:cNvPr id="57" name="Texto leyenda Otras actividades"/>
          <p:cNvSpPr txBox="1"/>
          <p:nvPr/>
        </p:nvSpPr>
        <p:spPr>
          <a:xfrm>
            <a:off x="8337499" y="5605272"/>
            <a:ext cx="1371600" cy="365760"/>
          </a:xfrm>
          <a:prstGeom prst="rect">
            <a:avLst/>
          </a:prstGeom>
          <a:noFill/>
          <a:ln/>
        </p:spPr>
        <p:txBody>
          <a:bodyPr wrap="square" lIns="0" tIns="0" rIns="0" bIns="0" rtlCol="0" anchor="ctr"/>
          <a:lstStyle/>
          <a:p>
            <a:pPr marL="0" indent="0">
              <a:buNone/>
            </a:pPr>
            <a:r>
              <a:rPr lang="en-US" sz="1400" dirty="0">
                <a:solidFill>
                  <a:schemeClr val="tx1"/>
                </a:solidFill>
              </a:rPr>
              <a:t>Otras actividades</a:t>
            </a:r>
            <a:endParaRPr lang="en-US" sz="1400" dirty="0"/>
          </a:p>
        </p:txBody>
      </p:sp>
      <p:sp>
        <p:nvSpPr>
          <p:cNvPr id="58" name="Leyenda camino crítico"/>
          <p:cNvSpPr/>
          <p:nvPr/>
        </p:nvSpPr>
        <p:spPr>
          <a:xfrm>
            <a:off x="9930384" y="5788152"/>
            <a:ext cx="457200" cy="0"/>
          </a:xfrm>
          <a:prstGeom prst="line">
            <a:avLst/>
          </a:prstGeom>
          <a:noFill/>
          <a:ln w="28575">
            <a:solidFill>
              <a:schemeClr val="accent1"/>
            </a:solidFill>
            <a:prstDash val="solid"/>
            <a:tailEnd type="triangle"/>
          </a:ln>
        </p:spPr>
        <p:txBody>
          <a:bodyPr/>
          <a:lstStyle/>
          <a:p>
            <a:endParaRPr lang="es-AR"/>
          </a:p>
        </p:txBody>
      </p:sp>
      <p:sp>
        <p:nvSpPr>
          <p:cNvPr id="59" name="Texto leyenda Camino crítico"/>
          <p:cNvSpPr txBox="1"/>
          <p:nvPr/>
        </p:nvSpPr>
        <p:spPr>
          <a:xfrm>
            <a:off x="10497312" y="5605272"/>
            <a:ext cx="1143000" cy="365760"/>
          </a:xfrm>
          <a:prstGeom prst="rect">
            <a:avLst/>
          </a:prstGeom>
          <a:noFill/>
          <a:ln/>
        </p:spPr>
        <p:txBody>
          <a:bodyPr wrap="square" lIns="0" tIns="0" rIns="0" bIns="0" rtlCol="0" anchor="ctr"/>
          <a:lstStyle/>
          <a:p>
            <a:pPr marL="0" indent="0">
              <a:buNone/>
            </a:pPr>
            <a:r>
              <a:rPr lang="en-US" sz="1400" dirty="0">
                <a:solidFill>
                  <a:schemeClr val="tx1"/>
                </a:solidFill>
              </a:rPr>
              <a:t>Camino crítico</a:t>
            </a:r>
            <a:endParaRPr lang="en-US" sz="1400" dirty="0"/>
          </a:p>
        </p:txBody>
      </p:sp>
      <p:sp>
        <p:nvSpPr>
          <p:cNvPr id="60"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Diagrama de Gantt</a:t>
            </a:r>
            <a:endParaRPr lang="en-US" sz="3400" dirty="0"/>
          </a:p>
        </p:txBody>
      </p:sp>
      <p:sp>
        <p:nvSpPr>
          <p:cNvPr id="3" name="Text 1"/>
          <p:cNvSpPr>
            <a:spLocks noGrp="1"/>
          </p:cNvSpPr>
          <p:nvPr>
            <p:ph type="body" idx="102" hasCustomPrompt="1"/>
          </p:nvPr>
        </p:nvSpPr>
        <p:spPr>
          <a:xfrm>
            <a:off x="548640" y="1097280"/>
            <a:ext cx="11091672" cy="384048"/>
          </a:xfrm>
          <a:prstGeom prst="rect">
            <a:avLst/>
          </a:prstGeom>
          <a:noFill/>
          <a:ln/>
        </p:spPr>
        <p:txBody>
          <a:bodyPr wrap="square" lIns="0" tIns="0" rIns="0" bIns="0" rtlCol="0" anchor="ctr"/>
          <a:lstStyle/>
          <a:p>
            <a:pPr marL="0" indent="0">
              <a:buNone/>
            </a:pPr>
            <a:r>
              <a:rPr lang="en-US" sz="1800" dirty="0">
                <a:solidFill>
                  <a:schemeClr val="accent5"/>
                </a:solidFill>
              </a:rPr>
              <a:t>Del 08/08/2026 al 30/04/2027 · 600 h</a:t>
            </a:r>
            <a:endParaRPr lang="en-US" sz="1800" dirty="0"/>
          </a:p>
        </p:txBody>
      </p:sp>
      <p:sp>
        <p:nvSpPr>
          <p:cNvPr id="4" name="Leyenda Gantt Planificación"/>
          <p:cNvSpPr/>
          <p:nvPr/>
        </p:nvSpPr>
        <p:spPr>
          <a:xfrm>
            <a:off x="6071616" y="1188720"/>
            <a:ext cx="237744" cy="201168"/>
          </a:xfrm>
          <a:prstGeom prst="rect">
            <a:avLst/>
          </a:prstGeom>
          <a:solidFill>
            <a:schemeClr val="accent5"/>
          </a:solidFill>
          <a:ln w="12700">
            <a:solidFill>
              <a:schemeClr val="accent5"/>
            </a:solidFill>
            <a:prstDash val="solid"/>
          </a:ln>
        </p:spPr>
        <p:txBody>
          <a:bodyPr/>
          <a:lstStyle/>
          <a:p>
            <a:endParaRPr lang="es-AR"/>
          </a:p>
        </p:txBody>
      </p:sp>
      <p:sp>
        <p:nvSpPr>
          <p:cNvPr id="5" name="Texto leyenda Gantt Planificación"/>
          <p:cNvSpPr txBox="1"/>
          <p:nvPr/>
        </p:nvSpPr>
        <p:spPr>
          <a:xfrm>
            <a:off x="6400800" y="1124712"/>
            <a:ext cx="1188720" cy="329184"/>
          </a:xfrm>
          <a:prstGeom prst="rect">
            <a:avLst/>
          </a:prstGeom>
          <a:noFill/>
          <a:ln/>
        </p:spPr>
        <p:txBody>
          <a:bodyPr wrap="square" lIns="0" tIns="0" rIns="0" bIns="0" rtlCol="0" anchor="ctr"/>
          <a:lstStyle/>
          <a:p>
            <a:pPr marL="0" indent="0">
              <a:buNone/>
            </a:pPr>
            <a:r>
              <a:rPr lang="en-US" sz="1400" dirty="0">
                <a:solidFill>
                  <a:schemeClr val="tx1"/>
                </a:solidFill>
              </a:rPr>
              <a:t>Planificación</a:t>
            </a:r>
            <a:endParaRPr lang="en-US" sz="1400" dirty="0"/>
          </a:p>
        </p:txBody>
      </p:sp>
      <p:sp>
        <p:nvSpPr>
          <p:cNvPr id="6" name="Leyenda Gantt Desarrollo"/>
          <p:cNvSpPr/>
          <p:nvPr/>
        </p:nvSpPr>
        <p:spPr>
          <a:xfrm>
            <a:off x="7818120" y="1188720"/>
            <a:ext cx="237744" cy="201168"/>
          </a:xfrm>
          <a:prstGeom prst="rect">
            <a:avLst/>
          </a:prstGeom>
          <a:solidFill>
            <a:schemeClr val="accent2"/>
          </a:solidFill>
          <a:ln w="12700">
            <a:solidFill>
              <a:schemeClr val="accent2"/>
            </a:solidFill>
            <a:prstDash val="solid"/>
          </a:ln>
        </p:spPr>
        <p:txBody>
          <a:bodyPr/>
          <a:lstStyle/>
          <a:p>
            <a:endParaRPr lang="es-AR"/>
          </a:p>
        </p:txBody>
      </p:sp>
      <p:sp>
        <p:nvSpPr>
          <p:cNvPr id="7" name="Texto leyenda Gantt Desarrollo"/>
          <p:cNvSpPr txBox="1"/>
          <p:nvPr/>
        </p:nvSpPr>
        <p:spPr>
          <a:xfrm>
            <a:off x="8147304" y="1124712"/>
            <a:ext cx="1005840" cy="329184"/>
          </a:xfrm>
          <a:prstGeom prst="rect">
            <a:avLst/>
          </a:prstGeom>
          <a:noFill/>
          <a:ln/>
        </p:spPr>
        <p:txBody>
          <a:bodyPr wrap="square" lIns="0" tIns="0" rIns="0" bIns="0" rtlCol="0" anchor="ctr"/>
          <a:lstStyle/>
          <a:p>
            <a:pPr marL="0" indent="0">
              <a:buNone/>
            </a:pPr>
            <a:r>
              <a:rPr lang="en-US" sz="1400" dirty="0">
                <a:solidFill>
                  <a:schemeClr val="tx1"/>
                </a:solidFill>
              </a:rPr>
              <a:t>Desarrollo</a:t>
            </a:r>
            <a:endParaRPr lang="en-US" sz="1400" dirty="0"/>
          </a:p>
        </p:txBody>
      </p:sp>
      <p:sp>
        <p:nvSpPr>
          <p:cNvPr id="8" name="Leyenda Gantt Escritura"/>
          <p:cNvSpPr/>
          <p:nvPr/>
        </p:nvSpPr>
        <p:spPr>
          <a:xfrm>
            <a:off x="9381744" y="1188720"/>
            <a:ext cx="237744" cy="201168"/>
          </a:xfrm>
          <a:prstGeom prst="rect">
            <a:avLst/>
          </a:prstGeom>
          <a:solidFill>
            <a:schemeClr val="accent1"/>
          </a:solidFill>
          <a:ln w="12700">
            <a:solidFill>
              <a:schemeClr val="accent1"/>
            </a:solidFill>
            <a:prstDash val="solid"/>
          </a:ln>
        </p:spPr>
        <p:txBody>
          <a:bodyPr/>
          <a:lstStyle/>
          <a:p>
            <a:endParaRPr lang="es-AR"/>
          </a:p>
        </p:txBody>
      </p:sp>
      <p:sp>
        <p:nvSpPr>
          <p:cNvPr id="9" name="Texto leyenda Gantt Escritura"/>
          <p:cNvSpPr txBox="1"/>
          <p:nvPr/>
        </p:nvSpPr>
        <p:spPr>
          <a:xfrm>
            <a:off x="9710928" y="1124712"/>
            <a:ext cx="914400" cy="329184"/>
          </a:xfrm>
          <a:prstGeom prst="rect">
            <a:avLst/>
          </a:prstGeom>
          <a:noFill/>
          <a:ln/>
        </p:spPr>
        <p:txBody>
          <a:bodyPr wrap="square" lIns="0" tIns="0" rIns="0" bIns="0" rtlCol="0" anchor="ctr"/>
          <a:lstStyle/>
          <a:p>
            <a:pPr marL="0" indent="0">
              <a:buNone/>
            </a:pPr>
            <a:r>
              <a:rPr lang="en-US" sz="1400" dirty="0">
                <a:solidFill>
                  <a:schemeClr val="tx1"/>
                </a:solidFill>
              </a:rPr>
              <a:t>Escritura</a:t>
            </a:r>
            <a:endParaRPr lang="en-US" sz="1400" dirty="0"/>
          </a:p>
        </p:txBody>
      </p:sp>
      <p:sp>
        <p:nvSpPr>
          <p:cNvPr id="10" name="Leyenda Gantt Hito"/>
          <p:cNvSpPr/>
          <p:nvPr/>
        </p:nvSpPr>
        <p:spPr>
          <a:xfrm>
            <a:off x="10853928" y="1170432"/>
            <a:ext cx="237744" cy="237744"/>
          </a:xfrm>
          <a:prstGeom prst="diamond">
            <a:avLst/>
          </a:prstGeom>
          <a:solidFill>
            <a:schemeClr val="tx1"/>
          </a:solidFill>
          <a:ln w="12700">
            <a:solidFill>
              <a:schemeClr val="tx1"/>
            </a:solidFill>
            <a:prstDash val="solid"/>
          </a:ln>
        </p:spPr>
        <p:txBody>
          <a:bodyPr/>
          <a:lstStyle/>
          <a:p>
            <a:endParaRPr lang="es-AR"/>
          </a:p>
        </p:txBody>
      </p:sp>
      <p:sp>
        <p:nvSpPr>
          <p:cNvPr id="11" name="Texto leyenda Gantt Hito"/>
          <p:cNvSpPr txBox="1"/>
          <p:nvPr/>
        </p:nvSpPr>
        <p:spPr>
          <a:xfrm>
            <a:off x="11183112" y="1124712"/>
            <a:ext cx="457200" cy="329184"/>
          </a:xfrm>
          <a:prstGeom prst="rect">
            <a:avLst/>
          </a:prstGeom>
          <a:noFill/>
          <a:ln/>
        </p:spPr>
        <p:txBody>
          <a:bodyPr wrap="square" lIns="0" tIns="0" rIns="0" bIns="0" rtlCol="0" anchor="ctr"/>
          <a:lstStyle/>
          <a:p>
            <a:pPr marL="0" indent="0">
              <a:buNone/>
            </a:pPr>
            <a:r>
              <a:rPr lang="en-US" sz="1400" dirty="0">
                <a:solidFill>
                  <a:schemeClr val="tx1"/>
                </a:solidFill>
              </a:rPr>
              <a:t>Hito</a:t>
            </a:r>
            <a:endParaRPr lang="en-US" sz="1400" dirty="0"/>
          </a:p>
        </p:txBody>
      </p:sp>
      <p:sp>
        <p:nvSpPr>
          <p:cNvPr id="12" name="Año 2026"/>
          <p:cNvSpPr/>
          <p:nvPr/>
        </p:nvSpPr>
        <p:spPr>
          <a:xfrm>
            <a:off x="3611880" y="1600200"/>
            <a:ext cx="4022858" cy="246888"/>
          </a:xfrm>
          <a:prstGeom prst="rect">
            <a:avLst/>
          </a:prstGeom>
          <a:solidFill>
            <a:schemeClr val="tx1"/>
          </a:solidFill>
          <a:ln w="12700">
            <a:solidFill>
              <a:schemeClr val="bg1"/>
            </a:solidFill>
            <a:prstDash val="solid"/>
          </a:ln>
        </p:spPr>
        <p:txBody>
          <a:bodyPr/>
          <a:lstStyle/>
          <a:p>
            <a:endParaRPr lang="es-AR"/>
          </a:p>
        </p:txBody>
      </p:sp>
      <p:sp>
        <p:nvSpPr>
          <p:cNvPr id="13" name="Texto año 2026"/>
          <p:cNvSpPr txBox="1"/>
          <p:nvPr/>
        </p:nvSpPr>
        <p:spPr>
          <a:xfrm>
            <a:off x="3611880" y="1600200"/>
            <a:ext cx="4022858" cy="246888"/>
          </a:xfrm>
          <a:prstGeom prst="rect">
            <a:avLst/>
          </a:prstGeom>
          <a:noFill/>
          <a:ln/>
        </p:spPr>
        <p:txBody>
          <a:bodyPr wrap="square" lIns="0" tIns="0" rIns="0" bIns="0" rtlCol="0" anchor="ctr"/>
          <a:lstStyle/>
          <a:p>
            <a:pPr marL="0" indent="0" algn="ctr">
              <a:buNone/>
            </a:pPr>
            <a:r>
              <a:rPr lang="en-US" sz="1200" b="1" dirty="0">
                <a:solidFill>
                  <a:schemeClr val="bg1"/>
                </a:solidFill>
              </a:rPr>
              <a:t>2026</a:t>
            </a:r>
            <a:endParaRPr lang="en-US" sz="1200" dirty="0"/>
          </a:p>
        </p:txBody>
      </p:sp>
      <p:sp>
        <p:nvSpPr>
          <p:cNvPr id="14" name="Año 2027"/>
          <p:cNvSpPr/>
          <p:nvPr/>
        </p:nvSpPr>
        <p:spPr>
          <a:xfrm>
            <a:off x="7634738" y="1600200"/>
            <a:ext cx="3155182" cy="246888"/>
          </a:xfrm>
          <a:prstGeom prst="rect">
            <a:avLst/>
          </a:prstGeom>
          <a:solidFill>
            <a:schemeClr val="tx1"/>
          </a:solidFill>
          <a:ln w="12700">
            <a:solidFill>
              <a:schemeClr val="bg1"/>
            </a:solidFill>
            <a:prstDash val="solid"/>
          </a:ln>
        </p:spPr>
        <p:txBody>
          <a:bodyPr/>
          <a:lstStyle/>
          <a:p>
            <a:endParaRPr lang="es-AR"/>
          </a:p>
        </p:txBody>
      </p:sp>
      <p:sp>
        <p:nvSpPr>
          <p:cNvPr id="15" name="Texto año 2027"/>
          <p:cNvSpPr txBox="1"/>
          <p:nvPr/>
        </p:nvSpPr>
        <p:spPr>
          <a:xfrm>
            <a:off x="7634738" y="1600200"/>
            <a:ext cx="3155182" cy="246888"/>
          </a:xfrm>
          <a:prstGeom prst="rect">
            <a:avLst/>
          </a:prstGeom>
          <a:noFill/>
          <a:ln/>
        </p:spPr>
        <p:txBody>
          <a:bodyPr wrap="square" lIns="0" tIns="0" rIns="0" bIns="0" rtlCol="0" anchor="ctr"/>
          <a:lstStyle/>
          <a:p>
            <a:pPr marL="0" indent="0" algn="ctr">
              <a:buNone/>
            </a:pPr>
            <a:r>
              <a:rPr lang="en-US" sz="1200" b="1" dirty="0">
                <a:solidFill>
                  <a:schemeClr val="bg1"/>
                </a:solidFill>
              </a:rPr>
              <a:t>2027</a:t>
            </a:r>
            <a:endParaRPr lang="en-US" sz="1200" dirty="0"/>
          </a:p>
        </p:txBody>
      </p:sp>
      <p:sp>
        <p:nvSpPr>
          <p:cNvPr id="16" name="Mes ago"/>
          <p:cNvSpPr/>
          <p:nvPr/>
        </p:nvSpPr>
        <p:spPr>
          <a:xfrm>
            <a:off x="3611880" y="1847088"/>
            <a:ext cx="815089" cy="246888"/>
          </a:xfrm>
          <a:prstGeom prst="rect">
            <a:avLst/>
          </a:prstGeom>
          <a:solidFill>
            <a:schemeClr val="bg2"/>
          </a:solidFill>
          <a:ln w="12700">
            <a:solidFill>
              <a:schemeClr val="bg1"/>
            </a:solidFill>
            <a:prstDash val="solid"/>
          </a:ln>
        </p:spPr>
        <p:txBody>
          <a:bodyPr/>
          <a:lstStyle/>
          <a:p>
            <a:endParaRPr lang="es-AR"/>
          </a:p>
        </p:txBody>
      </p:sp>
      <p:sp>
        <p:nvSpPr>
          <p:cNvPr id="17" name="Texto mes ago"/>
          <p:cNvSpPr txBox="1"/>
          <p:nvPr/>
        </p:nvSpPr>
        <p:spPr>
          <a:xfrm>
            <a:off x="3611880" y="1847088"/>
            <a:ext cx="815089" cy="246888"/>
          </a:xfrm>
          <a:prstGeom prst="rect">
            <a:avLst/>
          </a:prstGeom>
          <a:noFill/>
          <a:ln/>
        </p:spPr>
        <p:txBody>
          <a:bodyPr wrap="square" lIns="0" tIns="0" rIns="0" bIns="0" rtlCol="0" anchor="ctr"/>
          <a:lstStyle/>
          <a:p>
            <a:pPr marL="0" indent="0" algn="ctr">
              <a:buNone/>
            </a:pPr>
            <a:r>
              <a:rPr lang="en-US" sz="1200" dirty="0">
                <a:solidFill>
                  <a:schemeClr val="tx1"/>
                </a:solidFill>
              </a:rPr>
              <a:t>ago</a:t>
            </a:r>
            <a:endParaRPr lang="en-US" sz="1200" dirty="0"/>
          </a:p>
        </p:txBody>
      </p:sp>
      <p:sp>
        <p:nvSpPr>
          <p:cNvPr id="18" name="Mes sep"/>
          <p:cNvSpPr/>
          <p:nvPr/>
        </p:nvSpPr>
        <p:spPr>
          <a:xfrm>
            <a:off x="4426969" y="1847088"/>
            <a:ext cx="788796" cy="246888"/>
          </a:xfrm>
          <a:prstGeom prst="rect">
            <a:avLst/>
          </a:prstGeom>
          <a:solidFill>
            <a:schemeClr val="bg2"/>
          </a:solidFill>
          <a:ln w="12700">
            <a:solidFill>
              <a:schemeClr val="bg1"/>
            </a:solidFill>
            <a:prstDash val="solid"/>
          </a:ln>
        </p:spPr>
        <p:txBody>
          <a:bodyPr/>
          <a:lstStyle/>
          <a:p>
            <a:endParaRPr lang="es-AR"/>
          </a:p>
        </p:txBody>
      </p:sp>
      <p:sp>
        <p:nvSpPr>
          <p:cNvPr id="19" name="Texto mes sep"/>
          <p:cNvSpPr txBox="1"/>
          <p:nvPr/>
        </p:nvSpPr>
        <p:spPr>
          <a:xfrm>
            <a:off x="4426969" y="1847088"/>
            <a:ext cx="788796" cy="246888"/>
          </a:xfrm>
          <a:prstGeom prst="rect">
            <a:avLst/>
          </a:prstGeom>
          <a:noFill/>
          <a:ln/>
        </p:spPr>
        <p:txBody>
          <a:bodyPr wrap="square" lIns="0" tIns="0" rIns="0" bIns="0" rtlCol="0" anchor="ctr"/>
          <a:lstStyle/>
          <a:p>
            <a:pPr marL="0" indent="0" algn="ctr">
              <a:buNone/>
            </a:pPr>
            <a:r>
              <a:rPr lang="en-US" sz="1200" dirty="0">
                <a:solidFill>
                  <a:schemeClr val="tx1"/>
                </a:solidFill>
              </a:rPr>
              <a:t>sep</a:t>
            </a:r>
            <a:endParaRPr lang="en-US" sz="1200" dirty="0"/>
          </a:p>
        </p:txBody>
      </p:sp>
      <p:sp>
        <p:nvSpPr>
          <p:cNvPr id="20" name="Mes oct"/>
          <p:cNvSpPr/>
          <p:nvPr/>
        </p:nvSpPr>
        <p:spPr>
          <a:xfrm>
            <a:off x="5215764" y="1847088"/>
            <a:ext cx="815089" cy="246888"/>
          </a:xfrm>
          <a:prstGeom prst="rect">
            <a:avLst/>
          </a:prstGeom>
          <a:solidFill>
            <a:schemeClr val="bg2"/>
          </a:solidFill>
          <a:ln w="12700">
            <a:solidFill>
              <a:schemeClr val="bg1"/>
            </a:solidFill>
            <a:prstDash val="solid"/>
          </a:ln>
        </p:spPr>
        <p:txBody>
          <a:bodyPr/>
          <a:lstStyle/>
          <a:p>
            <a:endParaRPr lang="es-AR"/>
          </a:p>
        </p:txBody>
      </p:sp>
      <p:sp>
        <p:nvSpPr>
          <p:cNvPr id="21" name="Texto mes oct"/>
          <p:cNvSpPr txBox="1"/>
          <p:nvPr/>
        </p:nvSpPr>
        <p:spPr>
          <a:xfrm>
            <a:off x="5215764" y="1847088"/>
            <a:ext cx="815089" cy="246888"/>
          </a:xfrm>
          <a:prstGeom prst="rect">
            <a:avLst/>
          </a:prstGeom>
          <a:noFill/>
          <a:ln/>
        </p:spPr>
        <p:txBody>
          <a:bodyPr wrap="square" lIns="0" tIns="0" rIns="0" bIns="0" rtlCol="0" anchor="ctr"/>
          <a:lstStyle/>
          <a:p>
            <a:pPr marL="0" indent="0" algn="ctr">
              <a:buNone/>
            </a:pPr>
            <a:r>
              <a:rPr lang="en-US" sz="1200" dirty="0">
                <a:solidFill>
                  <a:schemeClr val="tx1"/>
                </a:solidFill>
              </a:rPr>
              <a:t>oct</a:t>
            </a:r>
            <a:endParaRPr lang="en-US" sz="1200" dirty="0"/>
          </a:p>
        </p:txBody>
      </p:sp>
      <p:sp>
        <p:nvSpPr>
          <p:cNvPr id="22" name="Mes nov"/>
          <p:cNvSpPr/>
          <p:nvPr/>
        </p:nvSpPr>
        <p:spPr>
          <a:xfrm>
            <a:off x="6030853" y="1847088"/>
            <a:ext cx="788796" cy="246888"/>
          </a:xfrm>
          <a:prstGeom prst="rect">
            <a:avLst/>
          </a:prstGeom>
          <a:solidFill>
            <a:schemeClr val="bg2"/>
          </a:solidFill>
          <a:ln w="12700">
            <a:solidFill>
              <a:schemeClr val="bg1"/>
            </a:solidFill>
            <a:prstDash val="solid"/>
          </a:ln>
        </p:spPr>
        <p:txBody>
          <a:bodyPr/>
          <a:lstStyle/>
          <a:p>
            <a:endParaRPr lang="es-AR"/>
          </a:p>
        </p:txBody>
      </p:sp>
      <p:sp>
        <p:nvSpPr>
          <p:cNvPr id="23" name="Texto mes nov"/>
          <p:cNvSpPr txBox="1"/>
          <p:nvPr/>
        </p:nvSpPr>
        <p:spPr>
          <a:xfrm>
            <a:off x="6030853" y="1847088"/>
            <a:ext cx="788796" cy="246888"/>
          </a:xfrm>
          <a:prstGeom prst="rect">
            <a:avLst/>
          </a:prstGeom>
          <a:noFill/>
          <a:ln/>
        </p:spPr>
        <p:txBody>
          <a:bodyPr wrap="square" lIns="0" tIns="0" rIns="0" bIns="0" rtlCol="0" anchor="ctr"/>
          <a:lstStyle/>
          <a:p>
            <a:pPr marL="0" indent="0" algn="ctr">
              <a:buNone/>
            </a:pPr>
            <a:r>
              <a:rPr lang="en-US" sz="1200" dirty="0">
                <a:solidFill>
                  <a:schemeClr val="tx1"/>
                </a:solidFill>
              </a:rPr>
              <a:t>nov</a:t>
            </a:r>
            <a:endParaRPr lang="en-US" sz="1200" dirty="0"/>
          </a:p>
        </p:txBody>
      </p:sp>
      <p:sp>
        <p:nvSpPr>
          <p:cNvPr id="24" name="Mes dic"/>
          <p:cNvSpPr/>
          <p:nvPr/>
        </p:nvSpPr>
        <p:spPr>
          <a:xfrm>
            <a:off x="6819649" y="1847088"/>
            <a:ext cx="815089" cy="246888"/>
          </a:xfrm>
          <a:prstGeom prst="rect">
            <a:avLst/>
          </a:prstGeom>
          <a:solidFill>
            <a:schemeClr val="bg2"/>
          </a:solidFill>
          <a:ln w="12700">
            <a:solidFill>
              <a:schemeClr val="bg1"/>
            </a:solidFill>
            <a:prstDash val="solid"/>
          </a:ln>
        </p:spPr>
        <p:txBody>
          <a:bodyPr/>
          <a:lstStyle/>
          <a:p>
            <a:endParaRPr lang="es-AR"/>
          </a:p>
        </p:txBody>
      </p:sp>
      <p:sp>
        <p:nvSpPr>
          <p:cNvPr id="25" name="Texto mes dic"/>
          <p:cNvSpPr txBox="1"/>
          <p:nvPr/>
        </p:nvSpPr>
        <p:spPr>
          <a:xfrm>
            <a:off x="6819649" y="1847088"/>
            <a:ext cx="815089" cy="246888"/>
          </a:xfrm>
          <a:prstGeom prst="rect">
            <a:avLst/>
          </a:prstGeom>
          <a:noFill/>
          <a:ln/>
        </p:spPr>
        <p:txBody>
          <a:bodyPr wrap="square" lIns="0" tIns="0" rIns="0" bIns="0" rtlCol="0" anchor="ctr"/>
          <a:lstStyle/>
          <a:p>
            <a:pPr marL="0" indent="0" algn="ctr">
              <a:buNone/>
            </a:pPr>
            <a:r>
              <a:rPr lang="en-US" sz="1200" dirty="0">
                <a:solidFill>
                  <a:schemeClr val="tx1"/>
                </a:solidFill>
              </a:rPr>
              <a:t>dic</a:t>
            </a:r>
            <a:endParaRPr lang="en-US" sz="1200" dirty="0"/>
          </a:p>
        </p:txBody>
      </p:sp>
      <p:sp>
        <p:nvSpPr>
          <p:cNvPr id="26" name="Mes ene"/>
          <p:cNvSpPr/>
          <p:nvPr/>
        </p:nvSpPr>
        <p:spPr>
          <a:xfrm>
            <a:off x="7634738" y="1847088"/>
            <a:ext cx="815089" cy="246888"/>
          </a:xfrm>
          <a:prstGeom prst="rect">
            <a:avLst/>
          </a:prstGeom>
          <a:solidFill>
            <a:schemeClr val="bg2"/>
          </a:solidFill>
          <a:ln w="12700">
            <a:solidFill>
              <a:schemeClr val="bg1"/>
            </a:solidFill>
            <a:prstDash val="solid"/>
          </a:ln>
        </p:spPr>
        <p:txBody>
          <a:bodyPr/>
          <a:lstStyle/>
          <a:p>
            <a:endParaRPr lang="es-AR"/>
          </a:p>
        </p:txBody>
      </p:sp>
      <p:sp>
        <p:nvSpPr>
          <p:cNvPr id="27" name="Texto mes ene"/>
          <p:cNvSpPr txBox="1"/>
          <p:nvPr/>
        </p:nvSpPr>
        <p:spPr>
          <a:xfrm>
            <a:off x="7634738" y="1847088"/>
            <a:ext cx="815089" cy="246888"/>
          </a:xfrm>
          <a:prstGeom prst="rect">
            <a:avLst/>
          </a:prstGeom>
          <a:noFill/>
          <a:ln/>
        </p:spPr>
        <p:txBody>
          <a:bodyPr wrap="square" lIns="0" tIns="0" rIns="0" bIns="0" rtlCol="0" anchor="ctr"/>
          <a:lstStyle/>
          <a:p>
            <a:pPr marL="0" indent="0" algn="ctr">
              <a:buNone/>
            </a:pPr>
            <a:r>
              <a:rPr lang="en-US" sz="1200" dirty="0">
                <a:solidFill>
                  <a:schemeClr val="tx1"/>
                </a:solidFill>
              </a:rPr>
              <a:t>ene</a:t>
            </a:r>
            <a:endParaRPr lang="en-US" sz="1200" dirty="0"/>
          </a:p>
        </p:txBody>
      </p:sp>
      <p:sp>
        <p:nvSpPr>
          <p:cNvPr id="28" name="Mes feb"/>
          <p:cNvSpPr/>
          <p:nvPr/>
        </p:nvSpPr>
        <p:spPr>
          <a:xfrm>
            <a:off x="8449826" y="1847088"/>
            <a:ext cx="736209" cy="246888"/>
          </a:xfrm>
          <a:prstGeom prst="rect">
            <a:avLst/>
          </a:prstGeom>
          <a:solidFill>
            <a:schemeClr val="bg2"/>
          </a:solidFill>
          <a:ln w="12700">
            <a:solidFill>
              <a:schemeClr val="bg1"/>
            </a:solidFill>
            <a:prstDash val="solid"/>
          </a:ln>
        </p:spPr>
        <p:txBody>
          <a:bodyPr/>
          <a:lstStyle/>
          <a:p>
            <a:endParaRPr lang="es-AR"/>
          </a:p>
        </p:txBody>
      </p:sp>
      <p:sp>
        <p:nvSpPr>
          <p:cNvPr id="29" name="Texto mes feb"/>
          <p:cNvSpPr txBox="1"/>
          <p:nvPr/>
        </p:nvSpPr>
        <p:spPr>
          <a:xfrm>
            <a:off x="8449826" y="1847088"/>
            <a:ext cx="736209" cy="246888"/>
          </a:xfrm>
          <a:prstGeom prst="rect">
            <a:avLst/>
          </a:prstGeom>
          <a:noFill/>
          <a:ln/>
        </p:spPr>
        <p:txBody>
          <a:bodyPr wrap="square" lIns="0" tIns="0" rIns="0" bIns="0" rtlCol="0" anchor="ctr"/>
          <a:lstStyle/>
          <a:p>
            <a:pPr marL="0" indent="0" algn="ctr">
              <a:buNone/>
            </a:pPr>
            <a:r>
              <a:rPr lang="en-US" sz="1200" dirty="0">
                <a:solidFill>
                  <a:schemeClr val="tx1"/>
                </a:solidFill>
              </a:rPr>
              <a:t>feb</a:t>
            </a:r>
            <a:endParaRPr lang="en-US" sz="1200" dirty="0"/>
          </a:p>
        </p:txBody>
      </p:sp>
      <p:sp>
        <p:nvSpPr>
          <p:cNvPr id="30" name="Mes mar"/>
          <p:cNvSpPr/>
          <p:nvPr/>
        </p:nvSpPr>
        <p:spPr>
          <a:xfrm>
            <a:off x="9186036" y="1847088"/>
            <a:ext cx="815089" cy="246888"/>
          </a:xfrm>
          <a:prstGeom prst="rect">
            <a:avLst/>
          </a:prstGeom>
          <a:solidFill>
            <a:schemeClr val="bg2"/>
          </a:solidFill>
          <a:ln w="12700">
            <a:solidFill>
              <a:schemeClr val="bg1"/>
            </a:solidFill>
            <a:prstDash val="solid"/>
          </a:ln>
        </p:spPr>
        <p:txBody>
          <a:bodyPr/>
          <a:lstStyle/>
          <a:p>
            <a:endParaRPr lang="es-AR"/>
          </a:p>
        </p:txBody>
      </p:sp>
      <p:sp>
        <p:nvSpPr>
          <p:cNvPr id="31" name="Texto mes mar"/>
          <p:cNvSpPr txBox="1"/>
          <p:nvPr/>
        </p:nvSpPr>
        <p:spPr>
          <a:xfrm>
            <a:off x="9186036" y="1847088"/>
            <a:ext cx="815089" cy="246888"/>
          </a:xfrm>
          <a:prstGeom prst="rect">
            <a:avLst/>
          </a:prstGeom>
          <a:noFill/>
          <a:ln/>
        </p:spPr>
        <p:txBody>
          <a:bodyPr wrap="square" lIns="0" tIns="0" rIns="0" bIns="0" rtlCol="0" anchor="ctr"/>
          <a:lstStyle/>
          <a:p>
            <a:pPr marL="0" indent="0" algn="ctr">
              <a:buNone/>
            </a:pPr>
            <a:r>
              <a:rPr lang="en-US" sz="1200" dirty="0">
                <a:solidFill>
                  <a:schemeClr val="tx1"/>
                </a:solidFill>
              </a:rPr>
              <a:t>mar</a:t>
            </a:r>
            <a:endParaRPr lang="en-US" sz="1200" dirty="0"/>
          </a:p>
        </p:txBody>
      </p:sp>
      <p:sp>
        <p:nvSpPr>
          <p:cNvPr id="32" name="Mes abr"/>
          <p:cNvSpPr/>
          <p:nvPr/>
        </p:nvSpPr>
        <p:spPr>
          <a:xfrm>
            <a:off x="10001124" y="1847088"/>
            <a:ext cx="788796" cy="246888"/>
          </a:xfrm>
          <a:prstGeom prst="rect">
            <a:avLst/>
          </a:prstGeom>
          <a:solidFill>
            <a:schemeClr val="bg2"/>
          </a:solidFill>
          <a:ln w="12700">
            <a:solidFill>
              <a:schemeClr val="bg1"/>
            </a:solidFill>
            <a:prstDash val="solid"/>
          </a:ln>
        </p:spPr>
        <p:txBody>
          <a:bodyPr/>
          <a:lstStyle/>
          <a:p>
            <a:endParaRPr lang="es-AR"/>
          </a:p>
        </p:txBody>
      </p:sp>
      <p:sp>
        <p:nvSpPr>
          <p:cNvPr id="33" name="Texto mes abr"/>
          <p:cNvSpPr txBox="1"/>
          <p:nvPr/>
        </p:nvSpPr>
        <p:spPr>
          <a:xfrm>
            <a:off x="10001124" y="1847088"/>
            <a:ext cx="788796" cy="246888"/>
          </a:xfrm>
          <a:prstGeom prst="rect">
            <a:avLst/>
          </a:prstGeom>
          <a:noFill/>
          <a:ln/>
        </p:spPr>
        <p:txBody>
          <a:bodyPr wrap="square" lIns="0" tIns="0" rIns="0" bIns="0" rtlCol="0" anchor="ctr"/>
          <a:lstStyle/>
          <a:p>
            <a:pPr marL="0" indent="0" algn="ctr">
              <a:buNone/>
            </a:pPr>
            <a:r>
              <a:rPr lang="en-US" sz="1200" dirty="0">
                <a:solidFill>
                  <a:schemeClr val="tx1"/>
                </a:solidFill>
              </a:rPr>
              <a:t>abr</a:t>
            </a:r>
            <a:endParaRPr lang="en-US" sz="1200" dirty="0"/>
          </a:p>
        </p:txBody>
      </p:sp>
      <p:sp>
        <p:nvSpPr>
          <p:cNvPr id="34" name="Encabezado tareas"/>
          <p:cNvSpPr txBox="1"/>
          <p:nvPr/>
        </p:nvSpPr>
        <p:spPr>
          <a:xfrm>
            <a:off x="548640" y="1847088"/>
            <a:ext cx="2926080" cy="246888"/>
          </a:xfrm>
          <a:prstGeom prst="rect">
            <a:avLst/>
          </a:prstGeom>
          <a:noFill/>
          <a:ln/>
        </p:spPr>
        <p:txBody>
          <a:bodyPr wrap="square" lIns="0" tIns="0" rIns="0" bIns="0" rtlCol="0" anchor="ctr"/>
          <a:lstStyle/>
          <a:p>
            <a:pPr marL="0" indent="0">
              <a:buNone/>
            </a:pPr>
            <a:r>
              <a:rPr lang="en-US" sz="1200" b="1" dirty="0">
                <a:solidFill>
                  <a:schemeClr val="accent5"/>
                </a:solidFill>
              </a:rPr>
              <a:t>Sprint y contenido</a:t>
            </a:r>
            <a:endParaRPr lang="en-US" sz="1200" dirty="0"/>
          </a:p>
        </p:txBody>
      </p:sp>
      <p:sp>
        <p:nvSpPr>
          <p:cNvPr id="35" name="Encabezado horas"/>
          <p:cNvSpPr txBox="1"/>
          <p:nvPr/>
        </p:nvSpPr>
        <p:spPr>
          <a:xfrm>
            <a:off x="11018520" y="1847088"/>
            <a:ext cx="621792" cy="246888"/>
          </a:xfrm>
          <a:prstGeom prst="rect">
            <a:avLst/>
          </a:prstGeom>
          <a:noFill/>
          <a:ln/>
        </p:spPr>
        <p:txBody>
          <a:bodyPr wrap="square" lIns="0" tIns="0" rIns="0" bIns="0" rtlCol="0" anchor="ctr"/>
          <a:lstStyle/>
          <a:p>
            <a:pPr marL="0" indent="0" algn="r">
              <a:buNone/>
            </a:pPr>
            <a:r>
              <a:rPr lang="en-US" sz="1200" b="1" dirty="0">
                <a:solidFill>
                  <a:schemeClr val="accent5"/>
                </a:solidFill>
              </a:rPr>
              <a:t>Horas</a:t>
            </a:r>
            <a:endParaRPr lang="en-US" sz="1200" dirty="0"/>
          </a:p>
        </p:txBody>
      </p:sp>
      <p:sp>
        <p:nvSpPr>
          <p:cNvPr id="36" name="Banda fila 1"/>
          <p:cNvSpPr/>
          <p:nvPr/>
        </p:nvSpPr>
        <p:spPr>
          <a:xfrm>
            <a:off x="548640" y="2121408"/>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37" name="Banda fila 3"/>
          <p:cNvSpPr/>
          <p:nvPr/>
        </p:nvSpPr>
        <p:spPr>
          <a:xfrm>
            <a:off x="548640" y="2587752"/>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38" name="Banda fila 5"/>
          <p:cNvSpPr/>
          <p:nvPr/>
        </p:nvSpPr>
        <p:spPr>
          <a:xfrm>
            <a:off x="548640" y="3054096"/>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39" name="Banda fila 7"/>
          <p:cNvSpPr/>
          <p:nvPr/>
        </p:nvSpPr>
        <p:spPr>
          <a:xfrm>
            <a:off x="548640" y="3520440"/>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0" name="Banda fila 9"/>
          <p:cNvSpPr/>
          <p:nvPr/>
        </p:nvSpPr>
        <p:spPr>
          <a:xfrm>
            <a:off x="548640" y="3986784"/>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1" name="Banda fila 11"/>
          <p:cNvSpPr/>
          <p:nvPr/>
        </p:nvSpPr>
        <p:spPr>
          <a:xfrm>
            <a:off x="548640" y="4453128"/>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2" name="Banda fila 13"/>
          <p:cNvSpPr/>
          <p:nvPr/>
        </p:nvSpPr>
        <p:spPr>
          <a:xfrm>
            <a:off x="548640" y="4919472"/>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3" name="Banda fila 15"/>
          <p:cNvSpPr/>
          <p:nvPr/>
        </p:nvSpPr>
        <p:spPr>
          <a:xfrm>
            <a:off x="548640" y="5385816"/>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4" name="Banda fila 17"/>
          <p:cNvSpPr/>
          <p:nvPr/>
        </p:nvSpPr>
        <p:spPr>
          <a:xfrm>
            <a:off x="548640" y="5852160"/>
            <a:ext cx="11091672" cy="233172"/>
          </a:xfrm>
          <a:prstGeom prst="rect">
            <a:avLst/>
          </a:prstGeom>
          <a:solidFill>
            <a:schemeClr val="bg2">
              <a:alpha val="55000"/>
            </a:schemeClr>
          </a:solidFill>
          <a:ln w="12700">
            <a:solidFill>
              <a:schemeClr val="bg2">
                <a:alpha val="55000"/>
              </a:schemeClr>
            </a:solidFill>
            <a:prstDash val="solid"/>
          </a:ln>
        </p:spPr>
        <p:txBody>
          <a:bodyPr/>
          <a:lstStyle/>
          <a:p>
            <a:endParaRPr lang="es-AR"/>
          </a:p>
        </p:txBody>
      </p:sp>
      <p:sp>
        <p:nvSpPr>
          <p:cNvPr id="45" name="Línea de mes 1"/>
          <p:cNvSpPr/>
          <p:nvPr/>
        </p:nvSpPr>
        <p:spPr>
          <a:xfrm>
            <a:off x="4426969" y="2121408"/>
            <a:ext cx="0" cy="3963924"/>
          </a:xfrm>
          <a:prstGeom prst="line">
            <a:avLst/>
          </a:prstGeom>
          <a:noFill/>
          <a:ln w="6350">
            <a:solidFill>
              <a:schemeClr val="accent5">
                <a:alpha val="30000"/>
              </a:schemeClr>
            </a:solidFill>
            <a:prstDash val="solid"/>
          </a:ln>
        </p:spPr>
        <p:txBody>
          <a:bodyPr/>
          <a:lstStyle/>
          <a:p>
            <a:endParaRPr lang="es-AR"/>
          </a:p>
        </p:txBody>
      </p:sp>
      <p:sp>
        <p:nvSpPr>
          <p:cNvPr id="46" name="Línea de mes 2"/>
          <p:cNvSpPr/>
          <p:nvPr/>
        </p:nvSpPr>
        <p:spPr>
          <a:xfrm>
            <a:off x="5215764" y="2121408"/>
            <a:ext cx="0" cy="3963924"/>
          </a:xfrm>
          <a:prstGeom prst="line">
            <a:avLst/>
          </a:prstGeom>
          <a:noFill/>
          <a:ln w="6350">
            <a:solidFill>
              <a:schemeClr val="accent5">
                <a:alpha val="30000"/>
              </a:schemeClr>
            </a:solidFill>
            <a:prstDash val="solid"/>
          </a:ln>
        </p:spPr>
        <p:txBody>
          <a:bodyPr/>
          <a:lstStyle/>
          <a:p>
            <a:endParaRPr lang="es-AR"/>
          </a:p>
        </p:txBody>
      </p:sp>
      <p:sp>
        <p:nvSpPr>
          <p:cNvPr id="47" name="Línea de mes 3"/>
          <p:cNvSpPr/>
          <p:nvPr/>
        </p:nvSpPr>
        <p:spPr>
          <a:xfrm>
            <a:off x="6030853" y="2121408"/>
            <a:ext cx="0" cy="3963924"/>
          </a:xfrm>
          <a:prstGeom prst="line">
            <a:avLst/>
          </a:prstGeom>
          <a:noFill/>
          <a:ln w="6350">
            <a:solidFill>
              <a:schemeClr val="accent5">
                <a:alpha val="30000"/>
              </a:schemeClr>
            </a:solidFill>
            <a:prstDash val="solid"/>
          </a:ln>
        </p:spPr>
        <p:txBody>
          <a:bodyPr/>
          <a:lstStyle/>
          <a:p>
            <a:endParaRPr lang="es-AR"/>
          </a:p>
        </p:txBody>
      </p:sp>
      <p:sp>
        <p:nvSpPr>
          <p:cNvPr id="48" name="Línea de mes 4"/>
          <p:cNvSpPr/>
          <p:nvPr/>
        </p:nvSpPr>
        <p:spPr>
          <a:xfrm>
            <a:off x="6819649" y="2121408"/>
            <a:ext cx="0" cy="3963924"/>
          </a:xfrm>
          <a:prstGeom prst="line">
            <a:avLst/>
          </a:prstGeom>
          <a:noFill/>
          <a:ln w="6350">
            <a:solidFill>
              <a:schemeClr val="accent5">
                <a:alpha val="30000"/>
              </a:schemeClr>
            </a:solidFill>
            <a:prstDash val="solid"/>
          </a:ln>
        </p:spPr>
        <p:txBody>
          <a:bodyPr/>
          <a:lstStyle/>
          <a:p>
            <a:endParaRPr lang="es-AR"/>
          </a:p>
        </p:txBody>
      </p:sp>
      <p:sp>
        <p:nvSpPr>
          <p:cNvPr id="49" name="Línea de mes 5"/>
          <p:cNvSpPr/>
          <p:nvPr/>
        </p:nvSpPr>
        <p:spPr>
          <a:xfrm>
            <a:off x="7634738" y="2121408"/>
            <a:ext cx="0" cy="3963924"/>
          </a:xfrm>
          <a:prstGeom prst="line">
            <a:avLst/>
          </a:prstGeom>
          <a:noFill/>
          <a:ln w="6350">
            <a:solidFill>
              <a:schemeClr val="accent5">
                <a:alpha val="30000"/>
              </a:schemeClr>
            </a:solidFill>
            <a:prstDash val="solid"/>
          </a:ln>
        </p:spPr>
        <p:txBody>
          <a:bodyPr/>
          <a:lstStyle/>
          <a:p>
            <a:endParaRPr lang="es-AR"/>
          </a:p>
        </p:txBody>
      </p:sp>
      <p:sp>
        <p:nvSpPr>
          <p:cNvPr id="50" name="Línea de mes 6"/>
          <p:cNvSpPr/>
          <p:nvPr/>
        </p:nvSpPr>
        <p:spPr>
          <a:xfrm>
            <a:off x="8449826" y="2121408"/>
            <a:ext cx="0" cy="3963924"/>
          </a:xfrm>
          <a:prstGeom prst="line">
            <a:avLst/>
          </a:prstGeom>
          <a:noFill/>
          <a:ln w="6350">
            <a:solidFill>
              <a:schemeClr val="accent5">
                <a:alpha val="30000"/>
              </a:schemeClr>
            </a:solidFill>
            <a:prstDash val="solid"/>
          </a:ln>
        </p:spPr>
        <p:txBody>
          <a:bodyPr/>
          <a:lstStyle/>
          <a:p>
            <a:endParaRPr lang="es-AR"/>
          </a:p>
        </p:txBody>
      </p:sp>
      <p:sp>
        <p:nvSpPr>
          <p:cNvPr id="51" name="Línea de mes 7"/>
          <p:cNvSpPr/>
          <p:nvPr/>
        </p:nvSpPr>
        <p:spPr>
          <a:xfrm>
            <a:off x="9186036" y="2121408"/>
            <a:ext cx="0" cy="3963924"/>
          </a:xfrm>
          <a:prstGeom prst="line">
            <a:avLst/>
          </a:prstGeom>
          <a:noFill/>
          <a:ln w="6350">
            <a:solidFill>
              <a:schemeClr val="accent5">
                <a:alpha val="30000"/>
              </a:schemeClr>
            </a:solidFill>
            <a:prstDash val="solid"/>
          </a:ln>
        </p:spPr>
        <p:txBody>
          <a:bodyPr/>
          <a:lstStyle/>
          <a:p>
            <a:endParaRPr lang="es-AR"/>
          </a:p>
        </p:txBody>
      </p:sp>
      <p:sp>
        <p:nvSpPr>
          <p:cNvPr id="52" name="Línea de mes 8"/>
          <p:cNvSpPr/>
          <p:nvPr/>
        </p:nvSpPr>
        <p:spPr>
          <a:xfrm>
            <a:off x="10001124" y="2121408"/>
            <a:ext cx="0" cy="3963924"/>
          </a:xfrm>
          <a:prstGeom prst="line">
            <a:avLst/>
          </a:prstGeom>
          <a:noFill/>
          <a:ln w="6350">
            <a:solidFill>
              <a:schemeClr val="accent5">
                <a:alpha val="30000"/>
              </a:schemeClr>
            </a:solidFill>
            <a:prstDash val="solid"/>
          </a:ln>
        </p:spPr>
        <p:txBody>
          <a:bodyPr/>
          <a:lstStyle/>
          <a:p>
            <a:endParaRPr lang="es-AR"/>
          </a:p>
        </p:txBody>
      </p:sp>
      <p:sp>
        <p:nvSpPr>
          <p:cNvPr id="53" name="Etiqueta fila 1"/>
          <p:cNvSpPr txBox="1"/>
          <p:nvPr/>
        </p:nvSpPr>
        <p:spPr>
          <a:xfrm>
            <a:off x="548640" y="2121408"/>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0 · Planificación</a:t>
            </a:r>
            <a:endParaRPr lang="en-US" sz="1200" dirty="0"/>
          </a:p>
        </p:txBody>
      </p:sp>
      <p:sp>
        <p:nvSpPr>
          <p:cNvPr id="54" name="Barra Sprint 0 · Planificación"/>
          <p:cNvSpPr/>
          <p:nvPr/>
        </p:nvSpPr>
        <p:spPr>
          <a:xfrm>
            <a:off x="3795932" y="2162556"/>
            <a:ext cx="1761644" cy="150876"/>
          </a:xfrm>
          <a:prstGeom prst="rect">
            <a:avLst/>
          </a:prstGeom>
          <a:solidFill>
            <a:schemeClr val="accent5"/>
          </a:solidFill>
          <a:ln w="12700">
            <a:solidFill>
              <a:schemeClr val="accent5"/>
            </a:solidFill>
            <a:prstDash val="solid"/>
          </a:ln>
        </p:spPr>
        <p:txBody>
          <a:bodyPr/>
          <a:lstStyle/>
          <a:p>
            <a:endParaRPr lang="es-AR"/>
          </a:p>
        </p:txBody>
      </p:sp>
      <p:sp>
        <p:nvSpPr>
          <p:cNvPr id="55" name="Horas fila 1"/>
          <p:cNvSpPr txBox="1"/>
          <p:nvPr/>
        </p:nvSpPr>
        <p:spPr>
          <a:xfrm>
            <a:off x="11018520" y="2121408"/>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48 h</a:t>
            </a:r>
            <a:endParaRPr lang="en-US" sz="1200" dirty="0"/>
          </a:p>
        </p:txBody>
      </p:sp>
      <p:sp>
        <p:nvSpPr>
          <p:cNvPr id="56" name="Etiqueta fila 2"/>
          <p:cNvSpPr txBox="1"/>
          <p:nvPr/>
        </p:nvSpPr>
        <p:spPr>
          <a:xfrm>
            <a:off x="685800" y="2354580"/>
            <a:ext cx="2971800" cy="233172"/>
          </a:xfrm>
          <a:prstGeom prst="rect">
            <a:avLst/>
          </a:prstGeom>
          <a:noFill/>
          <a:ln/>
        </p:spPr>
        <p:txBody>
          <a:bodyPr wrap="square" lIns="0" tIns="0" rIns="0" bIns="0" rtlCol="0" anchor="ctr"/>
          <a:lstStyle/>
          <a:p>
            <a:pPr marL="0" indent="0">
              <a:buNone/>
            </a:pPr>
            <a:r>
              <a:rPr lang="en-US" sz="1200" i="1" dirty="0">
                <a:solidFill>
                  <a:schemeClr val="accent5"/>
                </a:solidFill>
              </a:rPr>
              <a:t>Hito: entrega del plan</a:t>
            </a:r>
            <a:endParaRPr lang="en-US" sz="1200" dirty="0"/>
          </a:p>
        </p:txBody>
      </p:sp>
      <p:sp>
        <p:nvSpPr>
          <p:cNvPr id="57" name="Hito 2"/>
          <p:cNvSpPr/>
          <p:nvPr/>
        </p:nvSpPr>
        <p:spPr>
          <a:xfrm>
            <a:off x="5443845" y="2370582"/>
            <a:ext cx="201168" cy="201168"/>
          </a:xfrm>
          <a:prstGeom prst="diamond">
            <a:avLst/>
          </a:prstGeom>
          <a:solidFill>
            <a:schemeClr val="tx1"/>
          </a:solidFill>
          <a:ln w="12700">
            <a:solidFill>
              <a:schemeClr val="tx1"/>
            </a:solidFill>
            <a:prstDash val="solid"/>
          </a:ln>
        </p:spPr>
        <p:txBody>
          <a:bodyPr/>
          <a:lstStyle/>
          <a:p>
            <a:endParaRPr lang="es-AR"/>
          </a:p>
        </p:txBody>
      </p:sp>
      <p:sp>
        <p:nvSpPr>
          <p:cNvPr id="58" name="Fecha hito 2"/>
          <p:cNvSpPr txBox="1"/>
          <p:nvPr/>
        </p:nvSpPr>
        <p:spPr>
          <a:xfrm>
            <a:off x="10652760" y="2354580"/>
            <a:ext cx="987552" cy="233172"/>
          </a:xfrm>
          <a:prstGeom prst="rect">
            <a:avLst/>
          </a:prstGeom>
          <a:noFill/>
          <a:ln/>
        </p:spPr>
        <p:txBody>
          <a:bodyPr wrap="square" lIns="0" tIns="0" rIns="0" bIns="0" rtlCol="0" anchor="ctr"/>
          <a:lstStyle/>
          <a:p>
            <a:pPr marL="0" indent="0" algn="r">
              <a:buNone/>
            </a:pPr>
            <a:r>
              <a:rPr lang="en-US" sz="1100" dirty="0">
                <a:solidFill>
                  <a:schemeClr val="accent5"/>
                </a:solidFill>
              </a:rPr>
              <a:t>13/10/2026</a:t>
            </a:r>
            <a:endParaRPr lang="en-US" sz="1100" dirty="0"/>
          </a:p>
        </p:txBody>
      </p:sp>
      <p:sp>
        <p:nvSpPr>
          <p:cNvPr id="59" name="Etiqueta fila 3"/>
          <p:cNvSpPr txBox="1"/>
          <p:nvPr/>
        </p:nvSpPr>
        <p:spPr>
          <a:xfrm>
            <a:off x="548640" y="2587752"/>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1 · HU1</a:t>
            </a:r>
            <a:endParaRPr lang="en-US" sz="1200" dirty="0"/>
          </a:p>
        </p:txBody>
      </p:sp>
      <p:sp>
        <p:nvSpPr>
          <p:cNvPr id="60" name="Barra Sprint 1 · HU1"/>
          <p:cNvSpPr/>
          <p:nvPr/>
        </p:nvSpPr>
        <p:spPr>
          <a:xfrm>
            <a:off x="5557576" y="2628900"/>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61" name="Horas fila 3"/>
          <p:cNvSpPr txBox="1"/>
          <p:nvPr/>
        </p:nvSpPr>
        <p:spPr>
          <a:xfrm>
            <a:off x="11018520" y="2587752"/>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50 h</a:t>
            </a:r>
            <a:endParaRPr lang="en-US" sz="1200" dirty="0"/>
          </a:p>
        </p:txBody>
      </p:sp>
      <p:sp>
        <p:nvSpPr>
          <p:cNvPr id="62" name="Etiqueta fila 4"/>
          <p:cNvSpPr txBox="1"/>
          <p:nvPr/>
        </p:nvSpPr>
        <p:spPr>
          <a:xfrm>
            <a:off x="548640" y="2820924"/>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2 · HU2 y HU3</a:t>
            </a:r>
            <a:endParaRPr lang="en-US" sz="1200" dirty="0"/>
          </a:p>
        </p:txBody>
      </p:sp>
      <p:sp>
        <p:nvSpPr>
          <p:cNvPr id="63" name="Barra Sprint 2 · HU2 y HU3"/>
          <p:cNvSpPr/>
          <p:nvPr/>
        </p:nvSpPr>
        <p:spPr>
          <a:xfrm>
            <a:off x="5925680" y="2862072"/>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64" name="Horas fila 4"/>
          <p:cNvSpPr txBox="1"/>
          <p:nvPr/>
        </p:nvSpPr>
        <p:spPr>
          <a:xfrm>
            <a:off x="11018520" y="2820924"/>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50 h</a:t>
            </a:r>
            <a:endParaRPr lang="en-US" sz="1200" dirty="0"/>
          </a:p>
        </p:txBody>
      </p:sp>
      <p:sp>
        <p:nvSpPr>
          <p:cNvPr id="65" name="Etiqueta fila 5"/>
          <p:cNvSpPr txBox="1"/>
          <p:nvPr/>
        </p:nvSpPr>
        <p:spPr>
          <a:xfrm>
            <a:off x="548640" y="3054096"/>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3 · HU3</a:t>
            </a:r>
            <a:endParaRPr lang="en-US" sz="1200" dirty="0"/>
          </a:p>
        </p:txBody>
      </p:sp>
      <p:sp>
        <p:nvSpPr>
          <p:cNvPr id="66" name="Barra Sprint 3 · HU3"/>
          <p:cNvSpPr/>
          <p:nvPr/>
        </p:nvSpPr>
        <p:spPr>
          <a:xfrm>
            <a:off x="6293785" y="3095244"/>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67" name="Horas fila 5"/>
          <p:cNvSpPr txBox="1"/>
          <p:nvPr/>
        </p:nvSpPr>
        <p:spPr>
          <a:xfrm>
            <a:off x="11018520" y="3054096"/>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50 h</a:t>
            </a:r>
            <a:endParaRPr lang="en-US" sz="1200" dirty="0"/>
          </a:p>
        </p:txBody>
      </p:sp>
      <p:sp>
        <p:nvSpPr>
          <p:cNvPr id="68" name="Etiqueta fila 6"/>
          <p:cNvSpPr txBox="1"/>
          <p:nvPr/>
        </p:nvSpPr>
        <p:spPr>
          <a:xfrm>
            <a:off x="548640" y="3287268"/>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4 · HU4 y HU5</a:t>
            </a:r>
            <a:endParaRPr lang="en-US" sz="1200" dirty="0"/>
          </a:p>
        </p:txBody>
      </p:sp>
      <p:sp>
        <p:nvSpPr>
          <p:cNvPr id="69" name="Barra Sprint 4 · HU4 y HU5"/>
          <p:cNvSpPr/>
          <p:nvPr/>
        </p:nvSpPr>
        <p:spPr>
          <a:xfrm>
            <a:off x="6661890" y="3328416"/>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70" name="Horas fila 6"/>
          <p:cNvSpPr txBox="1"/>
          <p:nvPr/>
        </p:nvSpPr>
        <p:spPr>
          <a:xfrm>
            <a:off x="11018520" y="3287268"/>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48 h</a:t>
            </a:r>
            <a:endParaRPr lang="en-US" sz="1200" dirty="0"/>
          </a:p>
        </p:txBody>
      </p:sp>
      <p:sp>
        <p:nvSpPr>
          <p:cNvPr id="71" name="Etiqueta fila 7"/>
          <p:cNvSpPr txBox="1"/>
          <p:nvPr/>
        </p:nvSpPr>
        <p:spPr>
          <a:xfrm>
            <a:off x="548640" y="3520440"/>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5 · HU5 y HU6</a:t>
            </a:r>
            <a:endParaRPr lang="en-US" sz="1200" dirty="0"/>
          </a:p>
        </p:txBody>
      </p:sp>
      <p:sp>
        <p:nvSpPr>
          <p:cNvPr id="72" name="Barra Sprint 5 · HU5 y HU6"/>
          <p:cNvSpPr/>
          <p:nvPr/>
        </p:nvSpPr>
        <p:spPr>
          <a:xfrm>
            <a:off x="7029994" y="3561588"/>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73" name="Horas fila 7"/>
          <p:cNvSpPr txBox="1"/>
          <p:nvPr/>
        </p:nvSpPr>
        <p:spPr>
          <a:xfrm>
            <a:off x="11018520" y="3520440"/>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48 h</a:t>
            </a:r>
            <a:endParaRPr lang="en-US" sz="1200" dirty="0"/>
          </a:p>
        </p:txBody>
      </p:sp>
      <p:sp>
        <p:nvSpPr>
          <p:cNvPr id="74" name="Etiqueta fila 8"/>
          <p:cNvSpPr txBox="1"/>
          <p:nvPr/>
        </p:nvSpPr>
        <p:spPr>
          <a:xfrm>
            <a:off x="548640" y="3753612"/>
            <a:ext cx="2971800" cy="233172"/>
          </a:xfrm>
          <a:prstGeom prst="rect">
            <a:avLst/>
          </a:prstGeom>
          <a:noFill/>
          <a:ln/>
        </p:spPr>
        <p:txBody>
          <a:bodyPr wrap="square" lIns="0" tIns="0" rIns="0" bIns="0" rtlCol="0" anchor="ctr"/>
          <a:lstStyle/>
          <a:p>
            <a:pPr marL="0" indent="0">
              <a:buNone/>
            </a:pPr>
            <a:r>
              <a:rPr lang="en-US" sz="1200" dirty="0">
                <a:solidFill>
                  <a:schemeClr val="tx1"/>
                </a:solidFill>
              </a:rPr>
              <a:t>Receso de fin de año</a:t>
            </a:r>
            <a:endParaRPr lang="en-US" sz="1200" dirty="0"/>
          </a:p>
        </p:txBody>
      </p:sp>
      <p:sp>
        <p:nvSpPr>
          <p:cNvPr id="75" name="Barra Receso de fin de año"/>
          <p:cNvSpPr/>
          <p:nvPr/>
        </p:nvSpPr>
        <p:spPr>
          <a:xfrm>
            <a:off x="7398099" y="3794760"/>
            <a:ext cx="184052" cy="150876"/>
          </a:xfrm>
          <a:prstGeom prst="rect">
            <a:avLst/>
          </a:prstGeom>
          <a:solidFill>
            <a:schemeClr val="bg2"/>
          </a:solidFill>
          <a:ln w="9525">
            <a:solidFill>
              <a:schemeClr val="accent5"/>
            </a:solidFill>
            <a:prstDash val="solid"/>
          </a:ln>
        </p:spPr>
        <p:txBody>
          <a:bodyPr/>
          <a:lstStyle/>
          <a:p>
            <a:endParaRPr lang="es-AR"/>
          </a:p>
        </p:txBody>
      </p:sp>
      <p:sp>
        <p:nvSpPr>
          <p:cNvPr id="76" name="Horas fila 8"/>
          <p:cNvSpPr txBox="1"/>
          <p:nvPr/>
        </p:nvSpPr>
        <p:spPr>
          <a:xfrm>
            <a:off x="11018520" y="3753612"/>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a:t>
            </a:r>
            <a:endParaRPr lang="en-US" sz="1200" dirty="0"/>
          </a:p>
        </p:txBody>
      </p:sp>
      <p:sp>
        <p:nvSpPr>
          <p:cNvPr id="77" name="Etiqueta fila 9"/>
          <p:cNvSpPr txBox="1"/>
          <p:nvPr/>
        </p:nvSpPr>
        <p:spPr>
          <a:xfrm>
            <a:off x="548640" y="3986784"/>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6 · HU6 y pruebas</a:t>
            </a:r>
            <a:endParaRPr lang="en-US" sz="1200" dirty="0"/>
          </a:p>
        </p:txBody>
      </p:sp>
      <p:sp>
        <p:nvSpPr>
          <p:cNvPr id="78" name="Barra Sprint 6 · HU6 y pruebas"/>
          <p:cNvSpPr/>
          <p:nvPr/>
        </p:nvSpPr>
        <p:spPr>
          <a:xfrm>
            <a:off x="7582151" y="4027932"/>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79" name="Horas fila 9"/>
          <p:cNvSpPr txBox="1"/>
          <p:nvPr/>
        </p:nvSpPr>
        <p:spPr>
          <a:xfrm>
            <a:off x="11018520" y="3986784"/>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50 h</a:t>
            </a:r>
            <a:endParaRPr lang="en-US" sz="1200" dirty="0"/>
          </a:p>
        </p:txBody>
      </p:sp>
      <p:sp>
        <p:nvSpPr>
          <p:cNvPr id="80" name="Etiqueta fila 10"/>
          <p:cNvSpPr txBox="1"/>
          <p:nvPr/>
        </p:nvSpPr>
        <p:spPr>
          <a:xfrm>
            <a:off x="548640" y="4219956"/>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7 · Pruebas y HU7</a:t>
            </a:r>
            <a:endParaRPr lang="en-US" sz="1200" dirty="0"/>
          </a:p>
        </p:txBody>
      </p:sp>
      <p:sp>
        <p:nvSpPr>
          <p:cNvPr id="81" name="Barra Sprint 7 · Pruebas y HU7"/>
          <p:cNvSpPr/>
          <p:nvPr/>
        </p:nvSpPr>
        <p:spPr>
          <a:xfrm>
            <a:off x="7950256" y="4261104"/>
            <a:ext cx="368105" cy="150876"/>
          </a:xfrm>
          <a:prstGeom prst="rect">
            <a:avLst/>
          </a:prstGeom>
          <a:solidFill>
            <a:schemeClr val="accent2"/>
          </a:solidFill>
          <a:ln w="12700">
            <a:solidFill>
              <a:schemeClr val="accent2"/>
            </a:solidFill>
            <a:prstDash val="solid"/>
          </a:ln>
        </p:spPr>
        <p:txBody>
          <a:bodyPr/>
          <a:lstStyle/>
          <a:p>
            <a:endParaRPr lang="es-AR"/>
          </a:p>
        </p:txBody>
      </p:sp>
      <p:sp>
        <p:nvSpPr>
          <p:cNvPr id="82" name="Horas fila 10"/>
          <p:cNvSpPr txBox="1"/>
          <p:nvPr/>
        </p:nvSpPr>
        <p:spPr>
          <a:xfrm>
            <a:off x="11018520" y="4219956"/>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50 h</a:t>
            </a:r>
            <a:endParaRPr lang="en-US" sz="1200" dirty="0"/>
          </a:p>
        </p:txBody>
      </p:sp>
      <p:sp>
        <p:nvSpPr>
          <p:cNvPr id="83" name="Etiqueta fila 11"/>
          <p:cNvSpPr txBox="1"/>
          <p:nvPr/>
        </p:nvSpPr>
        <p:spPr>
          <a:xfrm>
            <a:off x="685800" y="4453128"/>
            <a:ext cx="2971800" cy="233172"/>
          </a:xfrm>
          <a:prstGeom prst="rect">
            <a:avLst/>
          </a:prstGeom>
          <a:noFill/>
          <a:ln/>
        </p:spPr>
        <p:txBody>
          <a:bodyPr wrap="square" lIns="0" tIns="0" rIns="0" bIns="0" rtlCol="0" anchor="ctr"/>
          <a:lstStyle/>
          <a:p>
            <a:pPr marL="0" indent="0">
              <a:buNone/>
            </a:pPr>
            <a:r>
              <a:rPr lang="en-US" sz="1200" i="1" dirty="0">
                <a:solidFill>
                  <a:schemeClr val="accent5"/>
                </a:solidFill>
              </a:rPr>
              <a:t>Hito: publicación de las sinopsis</a:t>
            </a:r>
            <a:endParaRPr lang="en-US" sz="1200" dirty="0"/>
          </a:p>
        </p:txBody>
      </p:sp>
      <p:sp>
        <p:nvSpPr>
          <p:cNvPr id="84" name="Hito 11"/>
          <p:cNvSpPr/>
          <p:nvPr/>
        </p:nvSpPr>
        <p:spPr>
          <a:xfrm>
            <a:off x="8230923" y="4469130"/>
            <a:ext cx="201168" cy="201168"/>
          </a:xfrm>
          <a:prstGeom prst="diamond">
            <a:avLst/>
          </a:prstGeom>
          <a:solidFill>
            <a:schemeClr val="tx1"/>
          </a:solidFill>
          <a:ln w="12700">
            <a:solidFill>
              <a:schemeClr val="tx1"/>
            </a:solidFill>
            <a:prstDash val="solid"/>
          </a:ln>
        </p:spPr>
        <p:txBody>
          <a:bodyPr/>
          <a:lstStyle/>
          <a:p>
            <a:endParaRPr lang="es-AR"/>
          </a:p>
        </p:txBody>
      </p:sp>
      <p:sp>
        <p:nvSpPr>
          <p:cNvPr id="85" name="Fecha hito 11"/>
          <p:cNvSpPr txBox="1"/>
          <p:nvPr/>
        </p:nvSpPr>
        <p:spPr>
          <a:xfrm>
            <a:off x="10652760" y="4453128"/>
            <a:ext cx="987552" cy="233172"/>
          </a:xfrm>
          <a:prstGeom prst="rect">
            <a:avLst/>
          </a:prstGeom>
          <a:noFill/>
          <a:ln/>
        </p:spPr>
        <p:txBody>
          <a:bodyPr wrap="square" lIns="0" tIns="0" rIns="0" bIns="0" rtlCol="0" anchor="ctr"/>
          <a:lstStyle/>
          <a:p>
            <a:pPr marL="0" indent="0" algn="r">
              <a:buNone/>
            </a:pPr>
            <a:r>
              <a:rPr lang="en-US" sz="1100" dirty="0">
                <a:solidFill>
                  <a:schemeClr val="accent5"/>
                </a:solidFill>
              </a:rPr>
              <a:t>27/01/2027</a:t>
            </a:r>
            <a:endParaRPr lang="en-US" sz="1100" dirty="0"/>
          </a:p>
        </p:txBody>
      </p:sp>
      <p:sp>
        <p:nvSpPr>
          <p:cNvPr id="86" name="Etiqueta fila 12"/>
          <p:cNvSpPr txBox="1"/>
          <p:nvPr/>
        </p:nvSpPr>
        <p:spPr>
          <a:xfrm>
            <a:off x="548640" y="4686300"/>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8 · HU7 y documentación</a:t>
            </a:r>
            <a:endParaRPr lang="en-US" sz="1200" dirty="0"/>
          </a:p>
        </p:txBody>
      </p:sp>
      <p:sp>
        <p:nvSpPr>
          <p:cNvPr id="87" name="Barra Sprint 8 · HU7 y documentación"/>
          <p:cNvSpPr/>
          <p:nvPr/>
        </p:nvSpPr>
        <p:spPr>
          <a:xfrm>
            <a:off x="8318360" y="4727448"/>
            <a:ext cx="736209" cy="150876"/>
          </a:xfrm>
          <a:prstGeom prst="rect">
            <a:avLst/>
          </a:prstGeom>
          <a:solidFill>
            <a:schemeClr val="accent2"/>
          </a:solidFill>
          <a:ln w="12700">
            <a:solidFill>
              <a:schemeClr val="accent2"/>
            </a:solidFill>
            <a:prstDash val="solid"/>
          </a:ln>
        </p:spPr>
        <p:txBody>
          <a:bodyPr/>
          <a:lstStyle/>
          <a:p>
            <a:endParaRPr lang="es-AR"/>
          </a:p>
        </p:txBody>
      </p:sp>
      <p:sp>
        <p:nvSpPr>
          <p:cNvPr id="88" name="Horas fila 12"/>
          <p:cNvSpPr txBox="1"/>
          <p:nvPr/>
        </p:nvSpPr>
        <p:spPr>
          <a:xfrm>
            <a:off x="11018520" y="4686300"/>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74 h</a:t>
            </a:r>
            <a:endParaRPr lang="en-US" sz="1200" dirty="0"/>
          </a:p>
        </p:txBody>
      </p:sp>
      <p:sp>
        <p:nvSpPr>
          <p:cNvPr id="89" name="Etiqueta fila 13"/>
          <p:cNvSpPr txBox="1"/>
          <p:nvPr/>
        </p:nvSpPr>
        <p:spPr>
          <a:xfrm>
            <a:off x="548640" y="4919472"/>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9 · HU8</a:t>
            </a:r>
            <a:endParaRPr lang="en-US" sz="1200" dirty="0"/>
          </a:p>
        </p:txBody>
      </p:sp>
      <p:sp>
        <p:nvSpPr>
          <p:cNvPr id="90" name="Barra Sprint 9 · HU8"/>
          <p:cNvSpPr/>
          <p:nvPr/>
        </p:nvSpPr>
        <p:spPr>
          <a:xfrm>
            <a:off x="9054570" y="4960620"/>
            <a:ext cx="184052" cy="150876"/>
          </a:xfrm>
          <a:prstGeom prst="rect">
            <a:avLst/>
          </a:prstGeom>
          <a:solidFill>
            <a:schemeClr val="accent2"/>
          </a:solidFill>
          <a:ln w="12700">
            <a:solidFill>
              <a:schemeClr val="accent2"/>
            </a:solidFill>
            <a:prstDash val="solid"/>
          </a:ln>
        </p:spPr>
        <p:txBody>
          <a:bodyPr/>
          <a:lstStyle/>
          <a:p>
            <a:endParaRPr lang="es-AR"/>
          </a:p>
        </p:txBody>
      </p:sp>
      <p:sp>
        <p:nvSpPr>
          <p:cNvPr id="91" name="Horas fila 13"/>
          <p:cNvSpPr txBox="1"/>
          <p:nvPr/>
        </p:nvSpPr>
        <p:spPr>
          <a:xfrm>
            <a:off x="11018520" y="4919472"/>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28 h</a:t>
            </a:r>
            <a:endParaRPr lang="en-US" sz="1200" dirty="0"/>
          </a:p>
        </p:txBody>
      </p:sp>
      <p:sp>
        <p:nvSpPr>
          <p:cNvPr id="92" name="Etiqueta fila 14"/>
          <p:cNvSpPr txBox="1"/>
          <p:nvPr/>
        </p:nvSpPr>
        <p:spPr>
          <a:xfrm>
            <a:off x="685800" y="5152644"/>
            <a:ext cx="2971800" cy="233172"/>
          </a:xfrm>
          <a:prstGeom prst="rect">
            <a:avLst/>
          </a:prstGeom>
          <a:noFill/>
          <a:ln/>
        </p:spPr>
        <p:txBody>
          <a:bodyPr wrap="square" lIns="0" tIns="0" rIns="0" bIns="0" rtlCol="0" anchor="ctr"/>
          <a:lstStyle/>
          <a:p>
            <a:pPr marL="0" indent="0">
              <a:buNone/>
            </a:pPr>
            <a:r>
              <a:rPr lang="en-US" sz="1200" i="1" dirty="0">
                <a:solidFill>
                  <a:schemeClr val="accent5"/>
                </a:solidFill>
              </a:rPr>
              <a:t>Hito: fin de la etapa técnica</a:t>
            </a:r>
            <a:endParaRPr lang="en-US" sz="1200" dirty="0"/>
          </a:p>
        </p:txBody>
      </p:sp>
      <p:sp>
        <p:nvSpPr>
          <p:cNvPr id="93" name="Hito 14"/>
          <p:cNvSpPr/>
          <p:nvPr/>
        </p:nvSpPr>
        <p:spPr>
          <a:xfrm>
            <a:off x="9124891" y="5168646"/>
            <a:ext cx="201168" cy="201168"/>
          </a:xfrm>
          <a:prstGeom prst="diamond">
            <a:avLst/>
          </a:prstGeom>
          <a:solidFill>
            <a:schemeClr val="tx1"/>
          </a:solidFill>
          <a:ln w="12700">
            <a:solidFill>
              <a:schemeClr val="tx1"/>
            </a:solidFill>
            <a:prstDash val="solid"/>
          </a:ln>
        </p:spPr>
        <p:txBody>
          <a:bodyPr/>
          <a:lstStyle/>
          <a:p>
            <a:endParaRPr lang="es-AR"/>
          </a:p>
        </p:txBody>
      </p:sp>
      <p:sp>
        <p:nvSpPr>
          <p:cNvPr id="94" name="Fecha hito 14"/>
          <p:cNvSpPr txBox="1"/>
          <p:nvPr/>
        </p:nvSpPr>
        <p:spPr>
          <a:xfrm>
            <a:off x="10652760" y="5152644"/>
            <a:ext cx="987552" cy="233172"/>
          </a:xfrm>
          <a:prstGeom prst="rect">
            <a:avLst/>
          </a:prstGeom>
          <a:noFill/>
          <a:ln/>
        </p:spPr>
        <p:txBody>
          <a:bodyPr wrap="square" lIns="0" tIns="0" rIns="0" bIns="0" rtlCol="0" anchor="ctr"/>
          <a:lstStyle/>
          <a:p>
            <a:pPr marL="0" indent="0" algn="r">
              <a:buNone/>
            </a:pPr>
            <a:r>
              <a:rPr lang="en-US" sz="1100" dirty="0">
                <a:solidFill>
                  <a:schemeClr val="accent5"/>
                </a:solidFill>
              </a:rPr>
              <a:t>02/03/2027</a:t>
            </a:r>
            <a:endParaRPr lang="en-US" sz="1100" dirty="0"/>
          </a:p>
        </p:txBody>
      </p:sp>
      <p:sp>
        <p:nvSpPr>
          <p:cNvPr id="95" name="Etiqueta fila 15"/>
          <p:cNvSpPr txBox="1"/>
          <p:nvPr/>
        </p:nvSpPr>
        <p:spPr>
          <a:xfrm>
            <a:off x="548640" y="5385816"/>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10 · Escritura</a:t>
            </a:r>
            <a:endParaRPr lang="en-US" sz="1200" dirty="0"/>
          </a:p>
        </p:txBody>
      </p:sp>
      <p:sp>
        <p:nvSpPr>
          <p:cNvPr id="96" name="Barra Sprint 10 · Escritura"/>
          <p:cNvSpPr/>
          <p:nvPr/>
        </p:nvSpPr>
        <p:spPr>
          <a:xfrm>
            <a:off x="9238622" y="5426964"/>
            <a:ext cx="920262" cy="150876"/>
          </a:xfrm>
          <a:prstGeom prst="rect">
            <a:avLst/>
          </a:prstGeom>
          <a:solidFill>
            <a:schemeClr val="accent1"/>
          </a:solidFill>
          <a:ln w="12700">
            <a:solidFill>
              <a:schemeClr val="accent1"/>
            </a:solidFill>
            <a:prstDash val="solid"/>
          </a:ln>
        </p:spPr>
        <p:txBody>
          <a:bodyPr/>
          <a:lstStyle/>
          <a:p>
            <a:endParaRPr lang="es-AR"/>
          </a:p>
        </p:txBody>
      </p:sp>
      <p:sp>
        <p:nvSpPr>
          <p:cNvPr id="97" name="Horas fila 15"/>
          <p:cNvSpPr txBox="1"/>
          <p:nvPr/>
        </p:nvSpPr>
        <p:spPr>
          <a:xfrm>
            <a:off x="11018520" y="5385816"/>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62 h</a:t>
            </a:r>
            <a:endParaRPr lang="en-US" sz="1200" dirty="0"/>
          </a:p>
        </p:txBody>
      </p:sp>
      <p:sp>
        <p:nvSpPr>
          <p:cNvPr id="98" name="Etiqueta fila 16"/>
          <p:cNvSpPr txBox="1"/>
          <p:nvPr/>
        </p:nvSpPr>
        <p:spPr>
          <a:xfrm>
            <a:off x="548640" y="5618988"/>
            <a:ext cx="2971800" cy="233172"/>
          </a:xfrm>
          <a:prstGeom prst="rect">
            <a:avLst/>
          </a:prstGeom>
          <a:noFill/>
          <a:ln/>
        </p:spPr>
        <p:txBody>
          <a:bodyPr wrap="square" lIns="0" tIns="0" rIns="0" bIns="0" rtlCol="0" anchor="ctr"/>
          <a:lstStyle/>
          <a:p>
            <a:pPr marL="0" indent="0">
              <a:buNone/>
            </a:pPr>
            <a:r>
              <a:rPr lang="en-US" sz="1200" dirty="0">
                <a:solidFill>
                  <a:schemeClr val="tx1"/>
                </a:solidFill>
              </a:rPr>
              <a:t>Sprint 11 · Escritura y defensa</a:t>
            </a:r>
            <a:endParaRPr lang="en-US" sz="1200" dirty="0"/>
          </a:p>
        </p:txBody>
      </p:sp>
      <p:sp>
        <p:nvSpPr>
          <p:cNvPr id="99" name="Barra Sprint 11 · Escritura y defensa"/>
          <p:cNvSpPr/>
          <p:nvPr/>
        </p:nvSpPr>
        <p:spPr>
          <a:xfrm>
            <a:off x="10158884" y="5660136"/>
            <a:ext cx="631036" cy="150876"/>
          </a:xfrm>
          <a:prstGeom prst="rect">
            <a:avLst/>
          </a:prstGeom>
          <a:solidFill>
            <a:schemeClr val="accent1"/>
          </a:solidFill>
          <a:ln w="12700">
            <a:solidFill>
              <a:schemeClr val="accent1"/>
            </a:solidFill>
            <a:prstDash val="solid"/>
          </a:ln>
        </p:spPr>
        <p:txBody>
          <a:bodyPr/>
          <a:lstStyle/>
          <a:p>
            <a:endParaRPr lang="es-AR"/>
          </a:p>
        </p:txBody>
      </p:sp>
      <p:sp>
        <p:nvSpPr>
          <p:cNvPr id="100" name="Horas fila 16"/>
          <p:cNvSpPr txBox="1"/>
          <p:nvPr/>
        </p:nvSpPr>
        <p:spPr>
          <a:xfrm>
            <a:off x="11018520" y="5618988"/>
            <a:ext cx="621792" cy="233172"/>
          </a:xfrm>
          <a:prstGeom prst="rect">
            <a:avLst/>
          </a:prstGeom>
          <a:noFill/>
          <a:ln/>
        </p:spPr>
        <p:txBody>
          <a:bodyPr wrap="square" lIns="0" tIns="0" rIns="0" bIns="0" rtlCol="0" anchor="ctr"/>
          <a:lstStyle/>
          <a:p>
            <a:pPr marL="0" indent="0" algn="r">
              <a:buNone/>
            </a:pPr>
            <a:r>
              <a:rPr lang="en-US" sz="1200" dirty="0">
                <a:solidFill>
                  <a:schemeClr val="tx1"/>
                </a:solidFill>
              </a:rPr>
              <a:t>42 h</a:t>
            </a:r>
            <a:endParaRPr lang="en-US" sz="1200" dirty="0"/>
          </a:p>
        </p:txBody>
      </p:sp>
      <p:sp>
        <p:nvSpPr>
          <p:cNvPr id="101" name="Etiqueta fila 17"/>
          <p:cNvSpPr txBox="1"/>
          <p:nvPr/>
        </p:nvSpPr>
        <p:spPr>
          <a:xfrm>
            <a:off x="685800" y="5852160"/>
            <a:ext cx="2971800" cy="233172"/>
          </a:xfrm>
          <a:prstGeom prst="rect">
            <a:avLst/>
          </a:prstGeom>
          <a:noFill/>
          <a:ln/>
        </p:spPr>
        <p:txBody>
          <a:bodyPr wrap="square" lIns="0" tIns="0" rIns="0" bIns="0" rtlCol="0" anchor="ctr"/>
          <a:lstStyle/>
          <a:p>
            <a:pPr marL="0" indent="0">
              <a:buNone/>
            </a:pPr>
            <a:r>
              <a:rPr lang="en-US" sz="1200" i="1" dirty="0">
                <a:solidFill>
                  <a:schemeClr val="accent5"/>
                </a:solidFill>
              </a:rPr>
              <a:t>Hito: defensa pública</a:t>
            </a:r>
            <a:endParaRPr lang="en-US" sz="1200" dirty="0"/>
          </a:p>
        </p:txBody>
      </p:sp>
      <p:sp>
        <p:nvSpPr>
          <p:cNvPr id="102" name="Hito 17"/>
          <p:cNvSpPr/>
          <p:nvPr/>
        </p:nvSpPr>
        <p:spPr>
          <a:xfrm>
            <a:off x="10588752" y="5868162"/>
            <a:ext cx="201168" cy="201168"/>
          </a:xfrm>
          <a:prstGeom prst="diamond">
            <a:avLst/>
          </a:prstGeom>
          <a:solidFill>
            <a:schemeClr val="tx1"/>
          </a:solidFill>
          <a:ln w="12700">
            <a:solidFill>
              <a:schemeClr val="tx1"/>
            </a:solidFill>
            <a:prstDash val="solid"/>
          </a:ln>
        </p:spPr>
        <p:txBody>
          <a:bodyPr/>
          <a:lstStyle/>
          <a:p>
            <a:endParaRPr lang="es-AR"/>
          </a:p>
        </p:txBody>
      </p:sp>
      <p:sp>
        <p:nvSpPr>
          <p:cNvPr id="103" name="Fecha hito 17"/>
          <p:cNvSpPr txBox="1"/>
          <p:nvPr/>
        </p:nvSpPr>
        <p:spPr>
          <a:xfrm>
            <a:off x="10652760" y="5852160"/>
            <a:ext cx="987552" cy="233172"/>
          </a:xfrm>
          <a:prstGeom prst="rect">
            <a:avLst/>
          </a:prstGeom>
          <a:noFill/>
          <a:ln/>
        </p:spPr>
        <p:txBody>
          <a:bodyPr wrap="square" lIns="0" tIns="0" rIns="0" bIns="0" rtlCol="0" anchor="ctr"/>
          <a:lstStyle/>
          <a:p>
            <a:pPr marL="0" indent="0" algn="r">
              <a:buNone/>
            </a:pPr>
            <a:r>
              <a:rPr lang="en-US" sz="1100" dirty="0">
                <a:solidFill>
                  <a:schemeClr val="accent5"/>
                </a:solidFill>
              </a:rPr>
              <a:t>30/04/2027</a:t>
            </a:r>
            <a:endParaRPr lang="en-US" sz="1100" dirty="0"/>
          </a:p>
        </p:txBody>
      </p:sp>
      <p:sp>
        <p:nvSpPr>
          <p:cNvPr id="104"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4049239" cy="731520"/>
          </a:xfrm>
          <a:prstGeom prst="rect">
            <a:avLst/>
          </a:prstGeom>
          <a:noFill/>
          <a:ln/>
        </p:spPr>
        <p:txBody>
          <a:bodyPr wrap="square" lIns="0" tIns="0" rIns="0" bIns="0" rtlCol="0" anchor="ctr"/>
          <a:lstStyle/>
          <a:p>
            <a:pPr marL="0" indent="0" algn="l">
              <a:buNone/>
            </a:pPr>
            <a:r>
              <a:rPr lang="en-US" sz="3400" b="1" dirty="0">
                <a:solidFill>
                  <a:schemeClr val="tx1"/>
                </a:solidFill>
              </a:rPr>
              <a:t>Gestión de riesgos</a:t>
            </a:r>
            <a:endParaRPr lang="en-US" sz="3400" dirty="0"/>
          </a:p>
        </p:txBody>
      </p:sp>
      <p:sp>
        <p:nvSpPr>
          <p:cNvPr id="3" name="Text 1"/>
          <p:cNvSpPr>
            <a:spLocks noGrp="1"/>
          </p:cNvSpPr>
          <p:nvPr>
            <p:ph type="body" idx="102" hasCustomPrompt="1"/>
          </p:nvPr>
        </p:nvSpPr>
        <p:spPr>
          <a:xfrm>
            <a:off x="548640" y="1097280"/>
            <a:ext cx="11091672" cy="384048"/>
          </a:xfrm>
          <a:prstGeom prst="rect">
            <a:avLst/>
          </a:prstGeom>
          <a:noFill/>
          <a:ln/>
        </p:spPr>
        <p:txBody>
          <a:bodyPr wrap="square" lIns="0" tIns="0" rIns="0" bIns="0" rtlCol="0" anchor="ctr"/>
          <a:lstStyle/>
          <a:p>
            <a:pPr marL="0" indent="0">
              <a:buNone/>
            </a:pPr>
            <a:r>
              <a:rPr lang="en-US" sz="1800" dirty="0">
                <a:solidFill>
                  <a:schemeClr val="accent5"/>
                </a:solidFill>
              </a:rPr>
              <a:t>Severidad (S) y ocurrencia (O) de 1 a 10 · se mitigan los riesgos con RPN = S × O mayor que 25</a:t>
            </a:r>
            <a:endParaRPr lang="en-US" sz="1800" dirty="0"/>
          </a:p>
        </p:txBody>
      </p:sp>
      <p:graphicFrame>
        <p:nvGraphicFramePr>
          <p:cNvPr id="11" name="Tabla de riesgos"/>
          <p:cNvGraphicFramePr>
            <a:graphicFrameLocks noGrp="1"/>
          </p:cNvGraphicFramePr>
          <p:nvPr>
            <p:extLst>
              <p:ext uri="{D42A27DB-BD31-4B8C-83A1-F6EECF244321}">
                <p14:modId xmlns:p14="http://schemas.microsoft.com/office/powerpoint/2010/main" val="1579011935"/>
              </p:ext>
            </p:extLst>
          </p:nvPr>
        </p:nvGraphicFramePr>
        <p:xfrm>
          <a:off x="630936" y="1691640"/>
          <a:ext cx="10927080" cy="4273296"/>
        </p:xfrm>
        <a:graphic>
          <a:graphicData uri="http://schemas.openxmlformats.org/drawingml/2006/table">
            <a:tbl>
              <a:tblPr/>
              <a:tblGrid>
                <a:gridCol w="502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384048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457200">
                <a:tc>
                  <a:txBody>
                    <a:bodyPr/>
                    <a:lstStyle/>
                    <a:p>
                      <a:pPr marL="0" indent="0" algn="ctr">
                        <a:buNone/>
                      </a:pPr>
                      <a:r>
                        <a:rPr lang="en-US" sz="1400" b="1" dirty="0">
                          <a:solidFill>
                            <a:schemeClr val="bg1"/>
                          </a:solidFill>
                        </a:rPr>
                        <a:t>N.°</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Riesgo</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S</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O</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RPN</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Mitigación</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S*</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O*</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tc>
                  <a:txBody>
                    <a:bodyPr/>
                    <a:lstStyle/>
                    <a:p>
                      <a:pPr marL="0" indent="0" algn="ctr">
                        <a:buNone/>
                      </a:pPr>
                      <a:r>
                        <a:rPr lang="en-US" sz="1400" b="1" dirty="0">
                          <a:solidFill>
                            <a:schemeClr val="bg1"/>
                          </a:solidFill>
                        </a:rPr>
                        <a:t>RPN*</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ctr">
                        <a:buNone/>
                      </a:pPr>
                      <a:r>
                        <a:rPr lang="en-US" sz="1500" dirty="0">
                          <a:solidFill>
                            <a:schemeClr val="tx1"/>
                          </a:solidFill>
                        </a:rPr>
                        <a:t>1</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Escasez de citas de las fichas</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9</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bg1"/>
                          </a:solidFill>
                        </a:rPr>
                        <a:t>54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Medición exploratoria en el </a:t>
                      </a:r>
                      <a:r>
                        <a:rPr lang="en-US" sz="1400" i="1" dirty="0">
                          <a:solidFill>
                            <a:schemeClr val="tx1"/>
                          </a:solidFill>
                        </a:rPr>
                        <a:t>sprint</a:t>
                      </a:r>
                      <a:r>
                        <a:rPr lang="en-US" sz="1400" dirty="0">
                          <a:solidFill>
                            <a:schemeClr val="tx1"/>
                          </a:solidFill>
                        </a:rPr>
                        <a:t> 1 y señal auxiliar de DataForSEO.</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24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ctr">
                        <a:buNone/>
                      </a:pPr>
                      <a:r>
                        <a:rPr lang="en-US" sz="1500" dirty="0">
                          <a:solidFill>
                            <a:schemeClr val="tx1"/>
                          </a:solidFill>
                        </a:rPr>
                        <a:t>2</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Cambios en los motores o en sus API</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8</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bg1"/>
                          </a:solidFill>
                        </a:rPr>
                        <a:t>48</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Versión fija del modelo, un módulo por motor y grupo de control.</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5</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3"/>
                          </a:solidFill>
                        </a:rPr>
                        <a:t>20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500" dirty="0">
                          <a:solidFill>
                            <a:schemeClr val="tx1"/>
                          </a:solidFill>
                        </a:rPr>
                        <a:t>3</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Costo de las API superior al previsto</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5</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bg1"/>
                          </a:solidFill>
                        </a:rPr>
                        <a:t>30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Presupuesto por ronda, alertas de consumo y respuestas almacenadas.</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3</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12</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ctr">
                        <a:buNone/>
                      </a:pPr>
                      <a:r>
                        <a:rPr lang="en-US" sz="1500" dirty="0">
                          <a:solidFill>
                            <a:schemeClr val="tx1"/>
                          </a:solidFill>
                        </a:rPr>
                        <a:t>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Demoras en la revisión o en la publicación del piloto</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8</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5</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bg1"/>
                          </a:solidFill>
                        </a:rPr>
                        <a:t>40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Fecha acordada al cierre del </a:t>
                      </a:r>
                      <a:r>
                        <a:rPr lang="en-US" sz="1400" i="1" dirty="0">
                          <a:solidFill>
                            <a:schemeClr val="tx1"/>
                          </a:solidFill>
                        </a:rPr>
                        <a:t>sprint</a:t>
                      </a:r>
                      <a:r>
                        <a:rPr lang="en-US" sz="1400" dirty="0">
                          <a:solidFill>
                            <a:schemeClr val="tx1"/>
                          </a:solidFill>
                        </a:rPr>
                        <a:t> 0 y respaldo del codirector.</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3</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3"/>
                          </a:solidFill>
                        </a:rPr>
                        <a:t>18</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lgn="ctr">
                        <a:buNone/>
                      </a:pPr>
                      <a:r>
                        <a:rPr lang="en-US" sz="1500" dirty="0">
                          <a:solidFill>
                            <a:schemeClr val="tx1"/>
                          </a:solidFill>
                        </a:rPr>
                        <a:t>5</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Resultados no concluyentes del piloto</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7</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bg1"/>
                          </a:solidFill>
                        </a:rPr>
                        <a:t>42</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rPr>
                        <a:t>Análisis de potencia, asignación estratificada y métrica secundaria.</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5</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4</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20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7200">
                <a:tc>
                  <a:txBody>
                    <a:bodyPr/>
                    <a:lstStyle/>
                    <a:p>
                      <a:pPr marL="0" indent="0" algn="ctr">
                        <a:buNone/>
                      </a:pPr>
                      <a:r>
                        <a:rPr lang="en-US" sz="1500" dirty="0">
                          <a:solidFill>
                            <a:schemeClr val="tx1"/>
                          </a:solidFill>
                        </a:rPr>
                        <a:t>6</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Caída de la posición orgánica</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7</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3</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21</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buNone/>
                      </a:pPr>
                      <a:r>
                        <a:rPr lang="en-US" sz="1400" dirty="0">
                          <a:solidFill>
                            <a:schemeClr val="accent5"/>
                          </a:solidFill>
                        </a:rPr>
                        <a:t>Bajo el umbral: se registra la posición en cada ronda.</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3"/>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57200">
                <a:tc>
                  <a:txBody>
                    <a:bodyPr/>
                    <a:lstStyle/>
                    <a:p>
                      <a:pPr marL="0" indent="0" algn="ctr">
                        <a:buNone/>
                      </a:pPr>
                      <a:r>
                        <a:rPr lang="en-US" sz="1500" dirty="0">
                          <a:solidFill>
                            <a:schemeClr val="tx1"/>
                          </a:solidFill>
                        </a:rPr>
                        <a:t>7</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Retiro de la autorización de uso de los datos</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10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2</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rPr>
                        <a:t>20</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rPr>
                        <a:t>Bajo el umbral: autorización escrita de la editorial.</a:t>
                      </a:r>
                      <a:endParaRPr lang="en-US" sz="14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a:t>
                      </a:r>
                      <a:endParaRPr lang="en-US" sz="1500" dirty="0"/>
                    </a:p>
                  </a:txBody>
                  <a:tcPr marL="73152" marR="73152" marT="54864" marB="54864" anchor="ctr">
                    <a:lnL w="9525" cap="flat" cmpd="sng" algn="ctr">
                      <a:solidFill>
                        <a:srgbClr val="EEF2F7"/>
                      </a:solidFill>
                      <a:prstDash val="solid"/>
                      <a:round/>
                      <a:headEnd type="none" w="med" len="med"/>
                      <a:tailEnd type="none" w="med" len="med"/>
                    </a:lnL>
                    <a:lnR w="9525" cap="flat" cmpd="sng" algn="ctr">
                      <a:solidFill>
                        <a:srgbClr val="EEF2F7"/>
                      </a:solidFill>
                      <a:prstDash val="solid"/>
                      <a:round/>
                      <a:headEnd type="none" w="med" len="med"/>
                      <a:tailEnd type="none" w="med" len="med"/>
                    </a:lnR>
                    <a:lnT w="9525" cap="flat" cmpd="sng" algn="ctr">
                      <a:solidFill>
                        <a:srgbClr val="EEF2F7"/>
                      </a:solidFill>
                      <a:prstDash val="solid"/>
                      <a:round/>
                      <a:headEnd type="none" w="med" len="med"/>
                      <a:tailEnd type="none" w="med" len="med"/>
                    </a:lnT>
                    <a:lnB w="9525" cap="flat" cmpd="sng" algn="ctr">
                      <a:solidFill>
                        <a:srgbClr val="EEF2F7"/>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400" b="1" dirty="0">
                <a:solidFill>
                  <a:schemeClr val="tx1"/>
                </a:solidFill>
              </a:rPr>
              <a:t>Gestión de calidad</a:t>
            </a:r>
            <a:endParaRPr lang="en-US" sz="3400" dirty="0"/>
          </a:p>
        </p:txBody>
      </p:sp>
      <p:sp>
        <p:nvSpPr>
          <p:cNvPr id="3" name="Rótulo métricas"/>
          <p:cNvSpPr txBox="1"/>
          <p:nvPr/>
        </p:nvSpPr>
        <p:spPr>
          <a:xfrm>
            <a:off x="548640" y="1234440"/>
            <a:ext cx="6317986" cy="365760"/>
          </a:xfrm>
          <a:prstGeom prst="rect">
            <a:avLst/>
          </a:prstGeom>
          <a:noFill/>
          <a:ln/>
        </p:spPr>
        <p:txBody>
          <a:bodyPr wrap="square" lIns="0" tIns="0" rIns="0" bIns="0" rtlCol="0" anchor="ctr"/>
          <a:lstStyle/>
          <a:p>
            <a:pPr marL="0" indent="0">
              <a:buNone/>
            </a:pPr>
            <a:r>
              <a:rPr lang="en-US" sz="1800" b="1" dirty="0">
                <a:solidFill>
                  <a:schemeClr val="tx1"/>
                </a:solidFill>
              </a:rPr>
              <a:t>Métricas de éxito del negocio</a:t>
            </a:r>
            <a:r>
              <a:rPr lang="en-US" sz="1800" dirty="0">
                <a:solidFill>
                  <a:schemeClr val="accent5"/>
                </a:solidFill>
              </a:rPr>
              <a:t>  ·  valores a consensuar con el cliente</a:t>
            </a:r>
            <a:endParaRPr lang="en-US" sz="1800" dirty="0"/>
          </a:p>
        </p:txBody>
      </p:sp>
      <p:sp>
        <p:nvSpPr>
          <p:cNvPr id="4" name="Indicador 1"/>
          <p:cNvSpPr/>
          <p:nvPr/>
        </p:nvSpPr>
        <p:spPr>
          <a:xfrm>
            <a:off x="548640" y="1691640"/>
            <a:ext cx="3514344" cy="1691640"/>
          </a:xfrm>
          <a:prstGeom prst="roundRect">
            <a:avLst>
              <a:gd name="adj" fmla="val 6486"/>
            </a:avLst>
          </a:prstGeom>
          <a:solidFill>
            <a:schemeClr val="accent2">
              <a:alpha val="12000"/>
            </a:schemeClr>
          </a:solidFill>
          <a:ln w="12700">
            <a:solidFill>
              <a:schemeClr val="accent2">
                <a:alpha val="12000"/>
              </a:schemeClr>
            </a:solidFill>
            <a:prstDash val="solid"/>
          </a:ln>
        </p:spPr>
        <p:txBody>
          <a:bodyPr/>
          <a:lstStyle/>
          <a:p>
            <a:endParaRPr lang="es-AR"/>
          </a:p>
        </p:txBody>
      </p:sp>
      <p:sp>
        <p:nvSpPr>
          <p:cNvPr id="5" name="Valor indicador 1"/>
          <p:cNvSpPr txBox="1"/>
          <p:nvPr/>
        </p:nvSpPr>
        <p:spPr>
          <a:xfrm>
            <a:off x="822960" y="1810512"/>
            <a:ext cx="2965704" cy="685800"/>
          </a:xfrm>
          <a:prstGeom prst="rect">
            <a:avLst/>
          </a:prstGeom>
          <a:noFill/>
          <a:ln/>
        </p:spPr>
        <p:txBody>
          <a:bodyPr wrap="square" lIns="0" tIns="0" rIns="0" bIns="0" rtlCol="0" anchor="ctr"/>
          <a:lstStyle/>
          <a:p>
            <a:pPr marL="0" indent="0">
              <a:buNone/>
            </a:pPr>
            <a:r>
              <a:rPr lang="en-US" sz="4000" b="1" dirty="0">
                <a:solidFill>
                  <a:schemeClr val="accent2"/>
                </a:solidFill>
                <a:latin typeface="+mj-lt" pitchFamily="34" charset="0"/>
                <a:ea typeface="+mj-lt" pitchFamily="34" charset="-122"/>
                <a:cs typeface="+mj-lt" pitchFamily="34" charset="-120"/>
              </a:rPr>
              <a:t>≥ 20 %</a:t>
            </a:r>
            <a:endParaRPr lang="en-US" sz="4000" dirty="0"/>
          </a:p>
        </p:txBody>
      </p:sp>
      <p:sp>
        <p:nvSpPr>
          <p:cNvPr id="6" name="Texto indicador 1"/>
          <p:cNvSpPr txBox="1"/>
          <p:nvPr/>
        </p:nvSpPr>
        <p:spPr>
          <a:xfrm>
            <a:off x="822960" y="2514600"/>
            <a:ext cx="3057144" cy="777240"/>
          </a:xfrm>
          <a:prstGeom prst="rect">
            <a:avLst/>
          </a:prstGeom>
          <a:noFill/>
          <a:ln/>
        </p:spPr>
        <p:txBody>
          <a:bodyPr wrap="square" lIns="0" tIns="0" rIns="0" bIns="0" rtlCol="0" anchor="t"/>
          <a:lstStyle/>
          <a:p>
            <a:pPr marL="0" indent="0">
              <a:buNone/>
            </a:pPr>
            <a:r>
              <a:rPr lang="en-US" sz="1500" dirty="0">
                <a:solidFill>
                  <a:schemeClr val="tx1"/>
                </a:solidFill>
              </a:rPr>
              <a:t>aumento relativo de la tasa de citación frente al grupo de control, con significación estadística</a:t>
            </a:r>
            <a:endParaRPr lang="en-US" sz="1500" dirty="0"/>
          </a:p>
        </p:txBody>
      </p:sp>
      <p:sp>
        <p:nvSpPr>
          <p:cNvPr id="7" name="Indicador 2"/>
          <p:cNvSpPr/>
          <p:nvPr/>
        </p:nvSpPr>
        <p:spPr>
          <a:xfrm>
            <a:off x="4337304" y="1691640"/>
            <a:ext cx="3514344" cy="1691640"/>
          </a:xfrm>
          <a:prstGeom prst="roundRect">
            <a:avLst>
              <a:gd name="adj" fmla="val 6486"/>
            </a:avLst>
          </a:prstGeom>
          <a:solidFill>
            <a:schemeClr val="accent3">
              <a:alpha val="12000"/>
            </a:schemeClr>
          </a:solidFill>
          <a:ln w="12700">
            <a:solidFill>
              <a:schemeClr val="accent3">
                <a:alpha val="12000"/>
              </a:schemeClr>
            </a:solidFill>
            <a:prstDash val="solid"/>
          </a:ln>
        </p:spPr>
        <p:txBody>
          <a:bodyPr/>
          <a:lstStyle/>
          <a:p>
            <a:endParaRPr lang="es-AR"/>
          </a:p>
        </p:txBody>
      </p:sp>
      <p:sp>
        <p:nvSpPr>
          <p:cNvPr id="8" name="Valor indicador 2"/>
          <p:cNvSpPr txBox="1"/>
          <p:nvPr/>
        </p:nvSpPr>
        <p:spPr>
          <a:xfrm>
            <a:off x="4611624" y="1810512"/>
            <a:ext cx="2965704" cy="685800"/>
          </a:xfrm>
          <a:prstGeom prst="rect">
            <a:avLst/>
          </a:prstGeom>
          <a:noFill/>
          <a:ln/>
        </p:spPr>
        <p:txBody>
          <a:bodyPr wrap="square" lIns="0" tIns="0" rIns="0" bIns="0" rtlCol="0" anchor="ctr"/>
          <a:lstStyle/>
          <a:p>
            <a:pPr marL="0" indent="0">
              <a:buNone/>
            </a:pPr>
            <a:r>
              <a:rPr lang="en-US" sz="4000" b="1" dirty="0">
                <a:solidFill>
                  <a:schemeClr val="accent3"/>
                </a:solidFill>
                <a:latin typeface="+mj-lt" pitchFamily="34" charset="0"/>
                <a:ea typeface="+mj-lt" pitchFamily="34" charset="-122"/>
                <a:cs typeface="+mj-lt" pitchFamily="34" charset="-120"/>
              </a:rPr>
              <a:t>Sin caída</a:t>
            </a:r>
            <a:endParaRPr lang="en-US" sz="4000" dirty="0"/>
          </a:p>
        </p:txBody>
      </p:sp>
      <p:sp>
        <p:nvSpPr>
          <p:cNvPr id="9" name="Texto indicador 2"/>
          <p:cNvSpPr txBox="1"/>
          <p:nvPr/>
        </p:nvSpPr>
        <p:spPr>
          <a:xfrm>
            <a:off x="4611624" y="2514600"/>
            <a:ext cx="3057144" cy="777240"/>
          </a:xfrm>
          <a:prstGeom prst="rect">
            <a:avLst/>
          </a:prstGeom>
          <a:noFill/>
          <a:ln/>
        </p:spPr>
        <p:txBody>
          <a:bodyPr wrap="square" lIns="0" tIns="0" rIns="0" bIns="0" rtlCol="0" anchor="t"/>
          <a:lstStyle/>
          <a:p>
            <a:pPr marL="0" indent="0">
              <a:buNone/>
            </a:pPr>
            <a:r>
              <a:rPr lang="en-US" sz="1500" dirty="0">
                <a:solidFill>
                  <a:schemeClr val="tx1"/>
                </a:solidFill>
              </a:rPr>
              <a:t>de la posición orgánica de las fichas del grupo experimental</a:t>
            </a:r>
            <a:endParaRPr lang="en-US" sz="1500" dirty="0"/>
          </a:p>
        </p:txBody>
      </p:sp>
      <p:sp>
        <p:nvSpPr>
          <p:cNvPr id="10" name="Indicador 3"/>
          <p:cNvSpPr/>
          <p:nvPr/>
        </p:nvSpPr>
        <p:spPr>
          <a:xfrm>
            <a:off x="8125968" y="1691640"/>
            <a:ext cx="3514344" cy="1691640"/>
          </a:xfrm>
          <a:prstGeom prst="roundRect">
            <a:avLst>
              <a:gd name="adj" fmla="val 6486"/>
            </a:avLst>
          </a:prstGeom>
          <a:solidFill>
            <a:schemeClr val="accent1">
              <a:alpha val="12000"/>
            </a:schemeClr>
          </a:solidFill>
          <a:ln w="12700">
            <a:solidFill>
              <a:schemeClr val="accent1">
                <a:alpha val="12000"/>
              </a:schemeClr>
            </a:solidFill>
            <a:prstDash val="solid"/>
          </a:ln>
        </p:spPr>
        <p:txBody>
          <a:bodyPr/>
          <a:lstStyle/>
          <a:p>
            <a:endParaRPr lang="es-AR"/>
          </a:p>
        </p:txBody>
      </p:sp>
      <p:sp>
        <p:nvSpPr>
          <p:cNvPr id="11" name="Valor indicador 3"/>
          <p:cNvSpPr txBox="1"/>
          <p:nvPr/>
        </p:nvSpPr>
        <p:spPr>
          <a:xfrm>
            <a:off x="8400288" y="1810512"/>
            <a:ext cx="2965704" cy="685800"/>
          </a:xfrm>
          <a:prstGeom prst="rect">
            <a:avLst/>
          </a:prstGeom>
          <a:noFill/>
          <a:ln/>
        </p:spPr>
        <p:txBody>
          <a:bodyPr wrap="square" lIns="0" tIns="0" rIns="0" bIns="0" rtlCol="0" anchor="ctr"/>
          <a:lstStyle/>
          <a:p>
            <a:pPr marL="0" indent="0">
              <a:buNone/>
            </a:pPr>
            <a:r>
              <a:rPr lang="en-US" sz="4000" b="1" dirty="0">
                <a:solidFill>
                  <a:schemeClr val="accent1"/>
                </a:solidFill>
                <a:latin typeface="+mj-lt" pitchFamily="34" charset="0"/>
                <a:ea typeface="+mj-lt" pitchFamily="34" charset="-122"/>
                <a:cs typeface="+mj-lt" pitchFamily="34" charset="-120"/>
              </a:rPr>
              <a:t>≥ 70 %</a:t>
            </a:r>
            <a:endParaRPr lang="en-US" sz="4000" dirty="0"/>
          </a:p>
        </p:txBody>
      </p:sp>
      <p:sp>
        <p:nvSpPr>
          <p:cNvPr id="12" name="Texto indicador 3"/>
          <p:cNvSpPr txBox="1"/>
          <p:nvPr/>
        </p:nvSpPr>
        <p:spPr>
          <a:xfrm>
            <a:off x="8400288" y="2514600"/>
            <a:ext cx="3057144" cy="777240"/>
          </a:xfrm>
          <a:prstGeom prst="rect">
            <a:avLst/>
          </a:prstGeom>
          <a:noFill/>
          <a:ln/>
        </p:spPr>
        <p:txBody>
          <a:bodyPr wrap="square" lIns="0" tIns="0" rIns="0" bIns="0" rtlCol="0" anchor="t"/>
          <a:lstStyle/>
          <a:p>
            <a:pPr marL="0" indent="0">
              <a:buNone/>
            </a:pPr>
            <a:r>
              <a:rPr lang="en-US" sz="1500" dirty="0">
                <a:solidFill>
                  <a:schemeClr val="tx1"/>
                </a:solidFill>
              </a:rPr>
              <a:t>de sinopsis candidatas aprobadas en la revisión editorial</a:t>
            </a:r>
            <a:endParaRPr lang="en-US" sz="1500" dirty="0"/>
          </a:p>
        </p:txBody>
      </p:sp>
      <p:sp>
        <p:nvSpPr>
          <p:cNvPr id="13" name="Rótulo controles"/>
          <p:cNvSpPr txBox="1"/>
          <p:nvPr/>
        </p:nvSpPr>
        <p:spPr>
          <a:xfrm>
            <a:off x="548640" y="3611880"/>
            <a:ext cx="11091672" cy="365760"/>
          </a:xfrm>
          <a:prstGeom prst="rect">
            <a:avLst/>
          </a:prstGeom>
          <a:noFill/>
          <a:ln/>
        </p:spPr>
        <p:txBody>
          <a:bodyPr wrap="square" lIns="0" tIns="0" rIns="0" bIns="0" rtlCol="0" anchor="ctr"/>
          <a:lstStyle/>
          <a:p>
            <a:pPr marL="0" indent="0">
              <a:buNone/>
            </a:pPr>
            <a:r>
              <a:rPr lang="en-US" sz="1800" b="1" dirty="0">
                <a:solidFill>
                  <a:schemeClr val="tx1"/>
                </a:solidFill>
              </a:rPr>
              <a:t>Controles de calidad</a:t>
            </a:r>
            <a:endParaRPr lang="en-US" sz="1800" dirty="0"/>
          </a:p>
        </p:txBody>
      </p:sp>
      <p:sp>
        <p:nvSpPr>
          <p:cNvPr id="14" name="Control Modelo"/>
          <p:cNvSpPr/>
          <p:nvPr/>
        </p:nvSpPr>
        <p:spPr>
          <a:xfrm>
            <a:off x="548640" y="4069080"/>
            <a:ext cx="3514344" cy="2057400"/>
          </a:xfrm>
          <a:prstGeom prst="roundRect">
            <a:avLst>
              <a:gd name="adj" fmla="val 5333"/>
            </a:avLst>
          </a:prstGeom>
          <a:solidFill>
            <a:schemeClr val="bg2"/>
          </a:solidFill>
          <a:ln w="12700">
            <a:solidFill>
              <a:schemeClr val="bg2"/>
            </a:solidFill>
            <a:prstDash val="solid"/>
          </a:ln>
        </p:spPr>
        <p:txBody>
          <a:bodyPr/>
          <a:lstStyle/>
          <a:p>
            <a:endParaRPr lang="es-AR"/>
          </a:p>
        </p:txBody>
      </p:sp>
      <p:sp>
        <p:nvSpPr>
          <p:cNvPr id="15" name="Ícono Modelo (círculo)"/>
          <p:cNvSpPr/>
          <p:nvPr/>
        </p:nvSpPr>
        <p:spPr>
          <a:xfrm>
            <a:off x="777240" y="4224528"/>
            <a:ext cx="502920" cy="502920"/>
          </a:xfrm>
          <a:prstGeom prst="ellipse">
            <a:avLst/>
          </a:prstGeom>
          <a:solidFill>
            <a:schemeClr val="tx1"/>
          </a:solidFill>
          <a:ln w="12700">
            <a:solidFill>
              <a:schemeClr val="tx1"/>
            </a:solidFill>
            <a:prstDash val="solid"/>
          </a:ln>
        </p:spPr>
        <p:txBody>
          <a:bodyPr/>
          <a:lstStyle/>
          <a:p>
            <a:endParaRPr lang="es-AR"/>
          </a:p>
        </p:txBody>
      </p:sp>
      <p:pic>
        <p:nvPicPr>
          <p:cNvPr id="16" name="Ícono Modelo (ícono)" descr="preencoded.png"/>
          <p:cNvPicPr>
            <a:picLocks noChangeAspect="1"/>
          </p:cNvPicPr>
          <p:nvPr/>
        </p:nvPicPr>
        <p:blipFill>
          <a:blip r:embed="rId3"/>
          <a:stretch>
            <a:fillRect/>
          </a:stretch>
        </p:blipFill>
        <p:spPr>
          <a:xfrm>
            <a:off x="897941" y="4345229"/>
            <a:ext cx="261518" cy="261518"/>
          </a:xfrm>
          <a:prstGeom prst="rect">
            <a:avLst/>
          </a:prstGeom>
        </p:spPr>
      </p:pic>
      <p:sp>
        <p:nvSpPr>
          <p:cNvPr id="17" name="Título control Modelo"/>
          <p:cNvSpPr txBox="1"/>
          <p:nvPr/>
        </p:nvSpPr>
        <p:spPr>
          <a:xfrm>
            <a:off x="1417320" y="4224528"/>
            <a:ext cx="2417064" cy="502920"/>
          </a:xfrm>
          <a:prstGeom prst="rect">
            <a:avLst/>
          </a:prstGeom>
          <a:noFill/>
          <a:ln/>
        </p:spPr>
        <p:txBody>
          <a:bodyPr wrap="square" lIns="0" tIns="0" rIns="0" bIns="0" rtlCol="0" anchor="ctr"/>
          <a:lstStyle/>
          <a:p>
            <a:pPr marL="0" indent="0">
              <a:buNone/>
            </a:pPr>
            <a:r>
              <a:rPr lang="en-US" sz="2000" b="1" dirty="0">
                <a:solidFill>
                  <a:schemeClr val="tx1"/>
                </a:solidFill>
              </a:rPr>
              <a:t>Modelo</a:t>
            </a:r>
            <a:endParaRPr lang="en-US" sz="2000" dirty="0"/>
          </a:p>
        </p:txBody>
      </p:sp>
      <p:sp>
        <p:nvSpPr>
          <p:cNvPr id="18" name="Texto control Modelo"/>
          <p:cNvSpPr txBox="1"/>
          <p:nvPr/>
        </p:nvSpPr>
        <p:spPr>
          <a:xfrm>
            <a:off x="777240" y="4846320"/>
            <a:ext cx="3102864" cy="1188720"/>
          </a:xfrm>
          <a:prstGeom prst="rect">
            <a:avLst/>
          </a:prstGeom>
          <a:noFill/>
          <a:ln/>
        </p:spPr>
        <p:txBody>
          <a:bodyPr wrap="square" lIns="0" tIns="0" rIns="0" bIns="0" rtlCol="0" anchor="t"/>
          <a:lstStyle/>
          <a:p>
            <a:pPr marL="0" indent="0">
              <a:buNone/>
            </a:pPr>
            <a:r>
              <a:rPr lang="en-US" sz="1500" dirty="0">
                <a:solidFill>
                  <a:schemeClr val="tx1"/>
                </a:solidFill>
              </a:rPr>
              <a:t>Error cuadrático medio ponderado y correlación de Spearman sobre títulos excluidos del entrenamiento. Debe superar al modelo de referencia.</a:t>
            </a:r>
            <a:endParaRPr lang="en-US" sz="1500" dirty="0"/>
          </a:p>
        </p:txBody>
      </p:sp>
      <p:sp>
        <p:nvSpPr>
          <p:cNvPr id="19" name="Control Sinopsis"/>
          <p:cNvSpPr/>
          <p:nvPr/>
        </p:nvSpPr>
        <p:spPr>
          <a:xfrm>
            <a:off x="4337304" y="4069080"/>
            <a:ext cx="3514344" cy="2057400"/>
          </a:xfrm>
          <a:prstGeom prst="roundRect">
            <a:avLst>
              <a:gd name="adj" fmla="val 5333"/>
            </a:avLst>
          </a:prstGeom>
          <a:solidFill>
            <a:schemeClr val="bg2"/>
          </a:solidFill>
          <a:ln w="12700">
            <a:solidFill>
              <a:schemeClr val="bg2"/>
            </a:solidFill>
            <a:prstDash val="solid"/>
          </a:ln>
        </p:spPr>
        <p:txBody>
          <a:bodyPr/>
          <a:lstStyle/>
          <a:p>
            <a:endParaRPr lang="es-AR"/>
          </a:p>
        </p:txBody>
      </p:sp>
      <p:sp>
        <p:nvSpPr>
          <p:cNvPr id="20" name="Ícono Sinopsis (círculo)"/>
          <p:cNvSpPr/>
          <p:nvPr/>
        </p:nvSpPr>
        <p:spPr>
          <a:xfrm>
            <a:off x="4565904" y="4224528"/>
            <a:ext cx="502920" cy="502920"/>
          </a:xfrm>
          <a:prstGeom prst="ellipse">
            <a:avLst/>
          </a:prstGeom>
          <a:solidFill>
            <a:schemeClr val="tx1"/>
          </a:solidFill>
          <a:ln w="12700">
            <a:solidFill>
              <a:schemeClr val="tx1"/>
            </a:solidFill>
            <a:prstDash val="solid"/>
          </a:ln>
        </p:spPr>
        <p:txBody>
          <a:bodyPr/>
          <a:lstStyle/>
          <a:p>
            <a:endParaRPr lang="es-AR"/>
          </a:p>
        </p:txBody>
      </p:sp>
      <p:pic>
        <p:nvPicPr>
          <p:cNvPr id="21" name="Ícono Sinopsis (ícono)" descr="preencoded.png"/>
          <p:cNvPicPr>
            <a:picLocks noChangeAspect="1"/>
          </p:cNvPicPr>
          <p:nvPr/>
        </p:nvPicPr>
        <p:blipFill>
          <a:blip r:embed="rId4"/>
          <a:stretch>
            <a:fillRect/>
          </a:stretch>
        </p:blipFill>
        <p:spPr>
          <a:xfrm>
            <a:off x="4686605" y="4345229"/>
            <a:ext cx="261518" cy="261518"/>
          </a:xfrm>
          <a:prstGeom prst="rect">
            <a:avLst/>
          </a:prstGeom>
        </p:spPr>
      </p:pic>
      <p:sp>
        <p:nvSpPr>
          <p:cNvPr id="22" name="Título control Sinopsis"/>
          <p:cNvSpPr txBox="1"/>
          <p:nvPr/>
        </p:nvSpPr>
        <p:spPr>
          <a:xfrm>
            <a:off x="5205984" y="4224528"/>
            <a:ext cx="2417064" cy="502920"/>
          </a:xfrm>
          <a:prstGeom prst="rect">
            <a:avLst/>
          </a:prstGeom>
          <a:noFill/>
          <a:ln/>
        </p:spPr>
        <p:txBody>
          <a:bodyPr wrap="square" lIns="0" tIns="0" rIns="0" bIns="0" rtlCol="0" anchor="ctr"/>
          <a:lstStyle/>
          <a:p>
            <a:pPr marL="0" indent="0">
              <a:buNone/>
            </a:pPr>
            <a:r>
              <a:rPr lang="en-US" sz="2000" b="1" dirty="0">
                <a:solidFill>
                  <a:schemeClr val="tx1"/>
                </a:solidFill>
              </a:rPr>
              <a:t>Sinopsis</a:t>
            </a:r>
            <a:endParaRPr lang="en-US" sz="2000" dirty="0"/>
          </a:p>
        </p:txBody>
      </p:sp>
      <p:sp>
        <p:nvSpPr>
          <p:cNvPr id="23" name="Texto control Sinopsis"/>
          <p:cNvSpPr txBox="1"/>
          <p:nvPr/>
        </p:nvSpPr>
        <p:spPr>
          <a:xfrm>
            <a:off x="4565904" y="4846320"/>
            <a:ext cx="3102864" cy="1188720"/>
          </a:xfrm>
          <a:prstGeom prst="rect">
            <a:avLst/>
          </a:prstGeom>
          <a:noFill/>
          <a:ln/>
        </p:spPr>
        <p:txBody>
          <a:bodyPr wrap="square" lIns="0" tIns="0" rIns="0" bIns="0" rtlCol="0" anchor="t"/>
          <a:lstStyle/>
          <a:p>
            <a:pPr marL="0" indent="0">
              <a:buNone/>
            </a:pPr>
            <a:r>
              <a:rPr lang="en-US" sz="1500" dirty="0">
                <a:solidFill>
                  <a:schemeClr val="tx1"/>
                </a:solidFill>
              </a:rPr>
              <a:t>Verificación automática de fidelidad semántica, extensión y características priorizadas. Ninguna se publica sin aprobación editorial.</a:t>
            </a:r>
            <a:endParaRPr lang="en-US" sz="1500" dirty="0"/>
          </a:p>
        </p:txBody>
      </p:sp>
      <p:sp>
        <p:nvSpPr>
          <p:cNvPr id="24" name="Control Proceso"/>
          <p:cNvSpPr/>
          <p:nvPr/>
        </p:nvSpPr>
        <p:spPr>
          <a:xfrm>
            <a:off x="8125968" y="4069080"/>
            <a:ext cx="3514344" cy="2057400"/>
          </a:xfrm>
          <a:prstGeom prst="roundRect">
            <a:avLst>
              <a:gd name="adj" fmla="val 5333"/>
            </a:avLst>
          </a:prstGeom>
          <a:solidFill>
            <a:schemeClr val="bg2"/>
          </a:solidFill>
          <a:ln w="12700">
            <a:solidFill>
              <a:schemeClr val="bg2"/>
            </a:solidFill>
            <a:prstDash val="solid"/>
          </a:ln>
        </p:spPr>
        <p:txBody>
          <a:bodyPr/>
          <a:lstStyle/>
          <a:p>
            <a:endParaRPr lang="es-AR"/>
          </a:p>
        </p:txBody>
      </p:sp>
      <p:sp>
        <p:nvSpPr>
          <p:cNvPr id="25" name="Ícono Proceso (círculo)"/>
          <p:cNvSpPr/>
          <p:nvPr/>
        </p:nvSpPr>
        <p:spPr>
          <a:xfrm>
            <a:off x="8354568" y="4224528"/>
            <a:ext cx="502920" cy="502920"/>
          </a:xfrm>
          <a:prstGeom prst="ellipse">
            <a:avLst/>
          </a:prstGeom>
          <a:solidFill>
            <a:schemeClr val="tx1"/>
          </a:solidFill>
          <a:ln w="12700">
            <a:solidFill>
              <a:schemeClr val="tx1"/>
            </a:solidFill>
            <a:prstDash val="solid"/>
          </a:ln>
        </p:spPr>
        <p:txBody>
          <a:bodyPr/>
          <a:lstStyle/>
          <a:p>
            <a:endParaRPr lang="es-AR"/>
          </a:p>
        </p:txBody>
      </p:sp>
      <p:pic>
        <p:nvPicPr>
          <p:cNvPr id="26" name="Ícono Proceso (ícono)" descr="preencoded.png"/>
          <p:cNvPicPr>
            <a:picLocks noChangeAspect="1"/>
          </p:cNvPicPr>
          <p:nvPr/>
        </p:nvPicPr>
        <p:blipFill>
          <a:blip r:embed="rId5"/>
          <a:stretch>
            <a:fillRect/>
          </a:stretch>
        </p:blipFill>
        <p:spPr>
          <a:xfrm>
            <a:off x="8475269" y="4345229"/>
            <a:ext cx="261518" cy="261518"/>
          </a:xfrm>
          <a:prstGeom prst="rect">
            <a:avLst/>
          </a:prstGeom>
        </p:spPr>
      </p:pic>
      <p:sp>
        <p:nvSpPr>
          <p:cNvPr id="27" name="Título control Proceso"/>
          <p:cNvSpPr txBox="1"/>
          <p:nvPr/>
        </p:nvSpPr>
        <p:spPr>
          <a:xfrm>
            <a:off x="8994648" y="4224528"/>
            <a:ext cx="2417064" cy="502920"/>
          </a:xfrm>
          <a:prstGeom prst="rect">
            <a:avLst/>
          </a:prstGeom>
          <a:noFill/>
          <a:ln/>
        </p:spPr>
        <p:txBody>
          <a:bodyPr wrap="square" lIns="0" tIns="0" rIns="0" bIns="0" rtlCol="0" anchor="ctr"/>
          <a:lstStyle/>
          <a:p>
            <a:pPr marL="0" indent="0">
              <a:buNone/>
            </a:pPr>
            <a:r>
              <a:rPr lang="en-US" sz="2000" b="1" dirty="0">
                <a:solidFill>
                  <a:schemeClr val="tx1"/>
                </a:solidFill>
              </a:rPr>
              <a:t>Proceso</a:t>
            </a:r>
            <a:endParaRPr lang="en-US" sz="2000" dirty="0"/>
          </a:p>
        </p:txBody>
      </p:sp>
      <p:sp>
        <p:nvSpPr>
          <p:cNvPr id="28" name="Texto control Proceso"/>
          <p:cNvSpPr txBox="1"/>
          <p:nvPr/>
        </p:nvSpPr>
        <p:spPr>
          <a:xfrm>
            <a:off x="8354568" y="4846320"/>
            <a:ext cx="3102864" cy="1188720"/>
          </a:xfrm>
          <a:prstGeom prst="rect">
            <a:avLst/>
          </a:prstGeom>
          <a:noFill/>
          <a:ln/>
        </p:spPr>
        <p:txBody>
          <a:bodyPr wrap="square" lIns="0" tIns="0" rIns="0" bIns="0" rtlCol="0" anchor="t"/>
          <a:lstStyle/>
          <a:p>
            <a:pPr marL="0" indent="0">
              <a:buNone/>
            </a:pPr>
            <a:r>
              <a:rPr lang="en-US" sz="1500" i="1" dirty="0">
                <a:solidFill>
                  <a:schemeClr val="tx1"/>
                </a:solidFill>
              </a:rPr>
              <a:t>Sprint review</a:t>
            </a:r>
            <a:r>
              <a:rPr lang="en-US" sz="1500" dirty="0">
                <a:solidFill>
                  <a:schemeClr val="tx1"/>
                </a:solidFill>
              </a:rPr>
              <a:t> con criterios de aceptación y retrospectiva al cierre de </a:t>
            </a:r>
            <a:r>
              <a:rPr lang="en-US" sz="1500" dirty="0" err="1">
                <a:solidFill>
                  <a:schemeClr val="tx1"/>
                </a:solidFill>
              </a:rPr>
              <a:t>cada</a:t>
            </a:r>
            <a:r>
              <a:rPr lang="en-US" sz="1500" dirty="0">
                <a:solidFill>
                  <a:schemeClr val="tx1"/>
                </a:solidFill>
              </a:rPr>
              <a:t> </a:t>
            </a:r>
            <a:r>
              <a:rPr lang="en-US" sz="1500" i="1" dirty="0">
                <a:solidFill>
                  <a:schemeClr val="tx1"/>
                </a:solidFill>
              </a:rPr>
              <a:t>sprint</a:t>
            </a:r>
            <a:r>
              <a:rPr lang="en-US" sz="1500" dirty="0">
                <a:solidFill>
                  <a:schemeClr val="tx1"/>
                </a:solidFill>
              </a:rPr>
              <a:t>.</a:t>
            </a:r>
            <a:endParaRPr lang="en-US" sz="1500" dirty="0"/>
          </a:p>
        </p:txBody>
      </p:sp>
      <p:sp>
        <p:nvSpPr>
          <p:cNvPr id="29"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Ícono cierre (círculo)"/>
          <p:cNvSpPr/>
          <p:nvPr/>
        </p:nvSpPr>
        <p:spPr>
          <a:xfrm>
            <a:off x="548640" y="1097280"/>
            <a:ext cx="777240" cy="777240"/>
          </a:xfrm>
          <a:prstGeom prst="ellipse">
            <a:avLst/>
          </a:prstGeom>
          <a:solidFill>
            <a:schemeClr val="accent2"/>
          </a:solidFill>
          <a:ln w="12700">
            <a:solidFill>
              <a:schemeClr val="accent2"/>
            </a:solidFill>
            <a:prstDash val="solid"/>
          </a:ln>
        </p:spPr>
        <p:txBody>
          <a:bodyPr/>
          <a:lstStyle/>
          <a:p>
            <a:endParaRPr lang="es-AR"/>
          </a:p>
        </p:txBody>
      </p:sp>
      <p:pic>
        <p:nvPicPr>
          <p:cNvPr id="3" name="Ícono cierre (ícono)" descr="preencoded.png"/>
          <p:cNvPicPr>
            <a:picLocks noChangeAspect="1"/>
          </p:cNvPicPr>
          <p:nvPr/>
        </p:nvPicPr>
        <p:blipFill>
          <a:blip r:embed="rId3"/>
          <a:stretch>
            <a:fillRect/>
          </a:stretch>
        </p:blipFill>
        <p:spPr>
          <a:xfrm>
            <a:off x="735178" y="1283818"/>
            <a:ext cx="404165" cy="404165"/>
          </a:xfrm>
          <a:prstGeom prst="rect">
            <a:avLst/>
          </a:prstGeom>
        </p:spPr>
      </p:pic>
      <p:sp>
        <p:nvSpPr>
          <p:cNvPr id="4" name="Agradecimiento"/>
          <p:cNvSpPr txBox="1"/>
          <p:nvPr/>
        </p:nvSpPr>
        <p:spPr>
          <a:xfrm>
            <a:off x="548640" y="2148840"/>
            <a:ext cx="8229600" cy="960120"/>
          </a:xfrm>
          <a:prstGeom prst="rect">
            <a:avLst/>
          </a:prstGeom>
          <a:noFill/>
          <a:ln/>
        </p:spPr>
        <p:txBody>
          <a:bodyPr wrap="square" lIns="0" tIns="0" rIns="0" bIns="0" rtlCol="0" anchor="ctr"/>
          <a:lstStyle/>
          <a:p>
            <a:pPr marL="0" indent="0">
              <a:buNone/>
            </a:pPr>
            <a:r>
              <a:rPr lang="en-US" sz="5400" b="1" dirty="0">
                <a:solidFill>
                  <a:schemeClr val="bg1"/>
                </a:solidFill>
                <a:latin typeface="+mj-lt" pitchFamily="34" charset="0"/>
                <a:ea typeface="+mj-lt" pitchFamily="34" charset="-122"/>
                <a:cs typeface="+mj-lt" pitchFamily="34" charset="-120"/>
              </a:rPr>
              <a:t>Muchas gracias</a:t>
            </a:r>
            <a:endParaRPr lang="en-US" sz="5400" dirty="0"/>
          </a:p>
        </p:txBody>
      </p:sp>
      <p:sp>
        <p:nvSpPr>
          <p:cNvPr id="5" name="Preguntas"/>
          <p:cNvSpPr txBox="1"/>
          <p:nvPr/>
        </p:nvSpPr>
        <p:spPr>
          <a:xfrm>
            <a:off x="548640" y="3154680"/>
            <a:ext cx="2211813" cy="594360"/>
          </a:xfrm>
          <a:prstGeom prst="rect">
            <a:avLst/>
          </a:prstGeom>
          <a:noFill/>
          <a:ln/>
        </p:spPr>
        <p:txBody>
          <a:bodyPr wrap="square" lIns="0" tIns="0" rIns="0" bIns="0" rtlCol="0" anchor="ctr"/>
          <a:lstStyle/>
          <a:p>
            <a:pPr marL="0" indent="0">
              <a:buNone/>
            </a:pPr>
            <a:r>
              <a:rPr lang="en-US" sz="3000" dirty="0">
                <a:solidFill>
                  <a:schemeClr val="accent2"/>
                </a:solidFill>
              </a:rPr>
              <a:t>¿Preguntas?</a:t>
            </a:r>
            <a:endParaRPr lang="en-US" sz="3000" dirty="0"/>
          </a:p>
        </p:txBody>
      </p:sp>
      <p:sp>
        <p:nvSpPr>
          <p:cNvPr id="6" name="Lema"/>
          <p:cNvSpPr txBox="1"/>
          <p:nvPr/>
        </p:nvSpPr>
        <p:spPr>
          <a:xfrm>
            <a:off x="548640" y="3977640"/>
            <a:ext cx="5274190" cy="457200"/>
          </a:xfrm>
          <a:prstGeom prst="rect">
            <a:avLst/>
          </a:prstGeom>
          <a:noFill/>
          <a:ln/>
        </p:spPr>
        <p:txBody>
          <a:bodyPr wrap="square" lIns="0" tIns="0" rIns="0" bIns="0" rtlCol="0" anchor="ctr"/>
          <a:lstStyle/>
          <a:p>
            <a:pPr marL="0" indent="0">
              <a:buNone/>
            </a:pPr>
            <a:r>
              <a:rPr lang="en-US" sz="2000" i="1" dirty="0">
                <a:solidFill>
                  <a:schemeClr val="bg2"/>
                </a:solidFill>
              </a:rPr>
              <a:t>De ranking a citas. De tráfico a influencia medible.</a:t>
            </a:r>
            <a:endParaRPr lang="en-US" sz="2000" dirty="0"/>
          </a:p>
        </p:txBody>
      </p:sp>
      <p:sp>
        <p:nvSpPr>
          <p:cNvPr id="7" name="Autor"/>
          <p:cNvSpPr txBox="1"/>
          <p:nvPr/>
        </p:nvSpPr>
        <p:spPr>
          <a:xfrm>
            <a:off x="548640" y="5257800"/>
            <a:ext cx="5486400" cy="411480"/>
          </a:xfrm>
          <a:prstGeom prst="rect">
            <a:avLst/>
          </a:prstGeom>
          <a:noFill/>
          <a:ln/>
        </p:spPr>
        <p:txBody>
          <a:bodyPr wrap="square" lIns="0" tIns="0" rIns="0" bIns="0" rtlCol="0" anchor="ctr"/>
          <a:lstStyle/>
          <a:p>
            <a:pPr marL="0" indent="0">
              <a:buNone/>
            </a:pPr>
            <a:r>
              <a:rPr lang="en-US" sz="1800" b="1" dirty="0">
                <a:solidFill>
                  <a:schemeClr val="bg1"/>
                </a:solidFill>
              </a:rPr>
              <a:t>Ing. Luis José Paredes Ramirez</a:t>
            </a:r>
            <a:endParaRPr lang="en-US" sz="1800" dirty="0"/>
          </a:p>
        </p:txBody>
      </p:sp>
      <p:sp>
        <p:nvSpPr>
          <p:cNvPr id="8" name="Fondo logo"/>
          <p:cNvSpPr/>
          <p:nvPr/>
        </p:nvSpPr>
        <p:spPr>
          <a:xfrm>
            <a:off x="9052560" y="4983480"/>
            <a:ext cx="2587752" cy="960120"/>
          </a:xfrm>
          <a:prstGeom prst="roundRect">
            <a:avLst>
              <a:gd name="adj" fmla="val 9524"/>
            </a:avLst>
          </a:prstGeom>
          <a:solidFill>
            <a:schemeClr val="bg1"/>
          </a:solidFill>
          <a:ln w="12700">
            <a:solidFill>
              <a:schemeClr val="bg1"/>
            </a:solidFill>
            <a:prstDash val="solid"/>
          </a:ln>
        </p:spPr>
        <p:txBody>
          <a:bodyPr/>
          <a:lstStyle/>
          <a:p>
            <a:endParaRPr lang="es-AR"/>
          </a:p>
        </p:txBody>
      </p:sp>
      <p:pic>
        <p:nvPicPr>
          <p:cNvPr id="9" name="Logo FIUBA cierre" descr="Logo de la Facultad de Ingeniería de la Universidad de Buenos Aires"/>
          <p:cNvPicPr>
            <a:picLocks noChangeAspect="1"/>
          </p:cNvPicPr>
          <p:nvPr/>
        </p:nvPicPr>
        <p:blipFill>
          <a:blip r:embed="rId4"/>
          <a:stretch>
            <a:fillRect/>
          </a:stretch>
        </p:blipFill>
        <p:spPr>
          <a:xfrm>
            <a:off x="9171432" y="5120640"/>
            <a:ext cx="2296372" cy="685800"/>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bg2"/>
                </a:solidFill>
              </a:defRPr>
            </a:lvl1pPr>
          </a:lstStyle>
          <a:p>
            <a:pPr algn="r"/>
            <a:fld id="{F7021451-1387-4CA6-816F-3879F97B5CBC}" type="slidenum">
              <a:rPr lang="en-US" b="0"/>
              <a:t>16</a:t>
            </a:fld>
            <a:endParaRPr lang="en-US"/>
          </a:p>
        </p:txBody>
      </p:sp>
      <p:sp>
        <p:nvSpPr>
          <p:cNvPr id="14" name="Fondo logo">
            <a:extLst>
              <a:ext uri="{FF2B5EF4-FFF2-40B4-BE49-F238E27FC236}">
                <a16:creationId xmlns:a16="http://schemas.microsoft.com/office/drawing/2014/main" id="{9BC6A411-F725-20E9-83D1-F6050BCD93A0}"/>
              </a:ext>
            </a:extLst>
          </p:cNvPr>
          <p:cNvSpPr/>
          <p:nvPr/>
        </p:nvSpPr>
        <p:spPr>
          <a:xfrm>
            <a:off x="6292300" y="4984343"/>
            <a:ext cx="2587752" cy="960120"/>
          </a:xfrm>
          <a:prstGeom prst="roundRect">
            <a:avLst>
              <a:gd name="adj" fmla="val 9524"/>
            </a:avLst>
          </a:prstGeom>
          <a:solidFill>
            <a:schemeClr val="bg1"/>
          </a:solidFill>
          <a:ln w="12700">
            <a:solidFill>
              <a:schemeClr val="bg1"/>
            </a:solidFill>
            <a:prstDash val="solid"/>
          </a:ln>
        </p:spPr>
        <p:txBody>
          <a:bodyPr/>
          <a:lstStyle/>
          <a:p>
            <a:endParaRPr lang="es-AR"/>
          </a:p>
        </p:txBody>
      </p:sp>
      <p:pic>
        <p:nvPicPr>
          <p:cNvPr id="16" name="Picture 15" descr="Argentina - Penguin Random House Grupo Editorial">
            <a:extLst>
              <a:ext uri="{FF2B5EF4-FFF2-40B4-BE49-F238E27FC236}">
                <a16:creationId xmlns:a16="http://schemas.microsoft.com/office/drawing/2014/main" id="{F349F510-C2EB-83A4-A9EE-EC9C81E2B154}"/>
              </a:ext>
            </a:extLst>
          </p:cNvPr>
          <p:cNvPicPr>
            <a:picLocks noChangeAspect="1"/>
          </p:cNvPicPr>
          <p:nvPr/>
        </p:nvPicPr>
        <p:blipFill>
          <a:blip r:embed="rId5"/>
          <a:stretch>
            <a:fillRect/>
          </a:stretch>
        </p:blipFill>
        <p:spPr>
          <a:xfrm>
            <a:off x="6430075" y="5135219"/>
            <a:ext cx="2304287" cy="658368"/>
          </a:xfrm>
          <a:prstGeom prst="rect">
            <a:avLst/>
          </a:prstGeom>
        </p:spPr>
      </p:pic>
    </p:spTree>
  </p:cSld>
  <p:clrMapOvr>
    <a:masterClrMapping/>
  </p:clrMapOvr>
</p:sld>
</file>

<file path=ppt/theme/theme1.xml><?xml version="1.0" encoding="utf-8"?>
<a:theme xmlns:a="http://schemas.openxmlformats.org/drawingml/2006/main" name="Tinta y cita">
  <a:themeElements>
    <a:clrScheme name="Tinta y cita">
      <a:dk1>
        <a:srgbClr val="1B2A41"/>
      </a:dk1>
      <a:lt1>
        <a:srgbClr val="FFFFFF"/>
      </a:lt1>
      <a:dk2>
        <a:srgbClr val="12203A"/>
      </a:dk2>
      <a:lt2>
        <a:srgbClr val="EEF2F7"/>
      </a:lt2>
      <a:accent1>
        <a:srgbClr val="E8622A"/>
      </a:accent1>
      <a:accent2>
        <a:srgbClr val="00A0E2"/>
      </a:accent2>
      <a:accent3>
        <a:srgbClr val="2E8B6E"/>
      </a:accent3>
      <a:accent4>
        <a:srgbClr val="F2A93B"/>
      </a:accent4>
      <a:accent5>
        <a:srgbClr val="5C6B80"/>
      </a:accent5>
      <a:accent6>
        <a:srgbClr val="7B5EA7"/>
      </a:accent6>
      <a:hlink>
        <a:srgbClr val="00A0E2"/>
      </a:hlink>
      <a:folHlink>
        <a:srgbClr val="7B5EA7"/>
      </a:folHlink>
    </a:clrScheme>
    <a:fontScheme name="Tinta y ci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3129</Words>
  <Application>Microsoft Office PowerPoint</Application>
  <PresentationFormat>Widescreen</PresentationFormat>
  <Paragraphs>406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Tinta y cita</vt:lpstr>
      <vt:lpstr>PowerPoint Presentation</vt:lpstr>
      <vt:lpstr>¿Qué es SEO?</vt:lpstr>
      <vt:lpstr>¿Qué es SEO?</vt:lpstr>
      <vt:lpstr>¿Qué es GEO?</vt:lpstr>
      <vt:lpstr>¿Qué es GEO?</vt:lpstr>
      <vt:lpstr>Propósito del proyecto</vt:lpstr>
      <vt:lpstr>PowerPoint Presentation</vt:lpstr>
      <vt:lpstr>Solución propuesta</vt:lpstr>
      <vt:lpstr>Interesados</vt:lpstr>
      <vt:lpstr>Alcance</vt:lpstr>
      <vt:lpstr>Requerimientos</vt:lpstr>
      <vt:lpstr>Diagrama AON</vt:lpstr>
      <vt:lpstr>Diagrama de Gantt</vt:lpstr>
      <vt:lpstr>Gestión de riesgos</vt:lpstr>
      <vt:lpstr>Gestión de calidad</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Trabajo Final: optimización de sinopsis para GEO</dc:title>
  <dc:subject>PptxGenJS Presentation</dc:subject>
  <dc:creator>Ing. Luis José Paredes Ramirez</dc:creator>
  <cp:lastModifiedBy>Paredes, Luis</cp:lastModifiedBy>
  <cp:revision>9</cp:revision>
  <dcterms:created xsi:type="dcterms:W3CDTF">2026-10-11T17:55:20Z</dcterms:created>
  <dcterms:modified xsi:type="dcterms:W3CDTF">2026-10-11T22:30:27Z</dcterms:modified>
</cp:coreProperties>
</file>